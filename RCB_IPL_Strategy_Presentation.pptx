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1" r:id="rId4"/>
    <p:sldId id="297" r:id="rId5"/>
    <p:sldId id="278" r:id="rId6"/>
    <p:sldId id="279" r:id="rId7"/>
    <p:sldId id="296" r:id="rId8"/>
    <p:sldId id="280" r:id="rId9"/>
    <p:sldId id="262" r:id="rId10"/>
    <p:sldId id="293" r:id="rId11"/>
    <p:sldId id="281" r:id="rId12"/>
    <p:sldId id="282" r:id="rId13"/>
    <p:sldId id="283" r:id="rId14"/>
    <p:sldId id="285" r:id="rId15"/>
    <p:sldId id="286" r:id="rId16"/>
    <p:sldId id="287" r:id="rId17"/>
    <p:sldId id="288" r:id="rId18"/>
    <p:sldId id="289" r:id="rId19"/>
    <p:sldId id="290" r:id="rId20"/>
    <p:sldId id="291" r:id="rId21"/>
    <p:sldId id="294" r:id="rId22"/>
    <p:sldId id="29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1" userDrawn="1">
          <p15:clr>
            <a:srgbClr val="A4A3A4"/>
          </p15:clr>
        </p15:guide>
        <p15:guide id="2" pos="3840" userDrawn="1">
          <p15:clr>
            <a:srgbClr val="A4A3A4"/>
          </p15:clr>
        </p15:guide>
        <p15:guide id="3" orient="horz" pos="3929" userDrawn="1">
          <p15:clr>
            <a:srgbClr val="A4A3A4"/>
          </p15:clr>
        </p15:guide>
        <p15:guide id="4" pos="529" userDrawn="1">
          <p15:clr>
            <a:srgbClr val="A4A3A4"/>
          </p15:clr>
        </p15:guide>
        <p15:guide id="5" pos="71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AC5"/>
    <a:srgbClr val="061E59"/>
    <a:srgbClr val="19398A"/>
    <a:srgbClr val="FBB901"/>
    <a:srgbClr val="212848"/>
    <a:srgbClr val="E62A76"/>
    <a:srgbClr val="774898"/>
    <a:srgbClr val="00A8B5"/>
    <a:srgbClr val="9A0A18"/>
    <a:srgbClr val="081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1DDD25-9B61-4B07-9B4B-613BCF73A59E}" v="184" dt="2025-10-29T10:02:11.522"/>
    <p1510:client id="{70A37AC9-4D3B-41EE-80A5-7E149828CB27}" v="75" dt="2025-10-30T05:47:35.154"/>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60"/>
  </p:normalViewPr>
  <p:slideViewPr>
    <p:cSldViewPr snapToGrid="0">
      <p:cViewPr varScale="1">
        <p:scale>
          <a:sx n="68" d="100"/>
          <a:sy n="68" d="100"/>
        </p:scale>
        <p:origin x="138" y="102"/>
      </p:cViewPr>
      <p:guideLst>
        <p:guide orient="horz" pos="3521"/>
        <p:guide pos="3840"/>
        <p:guide orient="horz" pos="3929"/>
        <p:guide pos="529"/>
        <p:guide pos="715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enovo\Desktop\NEWTON\Newton%20SQL%20Project\Final\New%20folder\s-10.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lenovo\Desktop\NEWTON\Newton%20SQL%20Project\Final\New%20folder\s-11.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lenovo\Desktop\NEWTON\Newton%20SQL%20Project\Final\New%20folder\s-12.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lenovo\Desktop\NEWTON\Newton%20SQL%20Project\Final\New%20folder\s-13-1.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rvi\Downloads\Obj_SQ1.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lenovo\Desktop\NEWTON\Newton%20SQL%20Project\Final\New%20folder\s-15.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lenovo\Desktop\NEWTON\Newton%20SQL%20Project\Final\New%20folder\s-16.csv"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lenovo\Desktop\NEWTON\Newton%20SQL%20Project\Final\New%20folder\S-19.csv"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lenovo\Desktop\NEWTON\Newton%20SQL%20Project\Final\New%20folder\S-20.csv"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lenovo\Desktop\NEWTON\Newton%20SQL%20Project\Final\New%20folder\S-21-1.csv"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[s-10.csv]Sheet1!PivotTable2</c:name>
    <c:fmtId val="1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chemeClr val="bg2">
                <a:lumMod val="40000"/>
                <a:lumOff val="60000"/>
              </a:schemeClr>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Sheet1!$A$4:$A$24</c:f>
              <c:multiLvlStrCache>
                <c:ptCount val="10"/>
                <c:lvl>
                  <c:pt idx="0">
                    <c:v>15</c:v>
                  </c:pt>
                  <c:pt idx="1">
                    <c:v>23</c:v>
                  </c:pt>
                  <c:pt idx="2">
                    <c:v>26</c:v>
                  </c:pt>
                  <c:pt idx="3">
                    <c:v>25</c:v>
                  </c:pt>
                  <c:pt idx="4">
                    <c:v>28</c:v>
                  </c:pt>
                  <c:pt idx="5">
                    <c:v>23</c:v>
                  </c:pt>
                  <c:pt idx="6">
                    <c:v>29</c:v>
                  </c:pt>
                  <c:pt idx="7">
                    <c:v>29</c:v>
                  </c:pt>
                  <c:pt idx="8">
                    <c:v>12</c:v>
                  </c:pt>
                  <c:pt idx="9">
                    <c:v>13</c:v>
                  </c:pt>
                </c:lvl>
                <c:lvl>
                  <c:pt idx="0">
                    <c:v>GJ Maxwell</c:v>
                  </c:pt>
                  <c:pt idx="1">
                    <c:v>MEK Hussey</c:v>
                  </c:pt>
                  <c:pt idx="2">
                    <c:v>CH Gayle</c:v>
                  </c:pt>
                  <c:pt idx="3">
                    <c:v>DR Smith</c:v>
                  </c:pt>
                  <c:pt idx="4">
                    <c:v>RV Uthappa</c:v>
                  </c:pt>
                  <c:pt idx="5">
                    <c:v>DA Miller</c:v>
                  </c:pt>
                  <c:pt idx="6">
                    <c:v>SK Raina</c:v>
                  </c:pt>
                  <c:pt idx="7">
                    <c:v>V Kohli</c:v>
                  </c:pt>
                  <c:pt idx="8">
                    <c:v>JP Duminy</c:v>
                  </c:pt>
                  <c:pt idx="9">
                    <c:v>BB McCullum</c:v>
                  </c:pt>
                </c:lvl>
              </c:multiLvlStrCache>
            </c:multiLvlStrRef>
          </c:cat>
          <c:val>
            <c:numRef>
              <c:f>Sheet1!$B$4:$B$24</c:f>
              <c:numCache>
                <c:formatCode>0.00</c:formatCode>
                <c:ptCount val="10"/>
                <c:pt idx="0">
                  <c:v>37.93</c:v>
                </c:pt>
                <c:pt idx="1">
                  <c:v>35.869999999999997</c:v>
                </c:pt>
                <c:pt idx="2">
                  <c:v>35</c:v>
                </c:pt>
                <c:pt idx="3">
                  <c:v>34.880000000000003</c:v>
                </c:pt>
                <c:pt idx="4">
                  <c:v>32.96</c:v>
                </c:pt>
                <c:pt idx="5">
                  <c:v>32.22</c:v>
                </c:pt>
                <c:pt idx="6">
                  <c:v>31.31</c:v>
                </c:pt>
                <c:pt idx="7">
                  <c:v>30.59</c:v>
                </c:pt>
                <c:pt idx="8">
                  <c:v>29.75</c:v>
                </c:pt>
                <c:pt idx="9">
                  <c:v>29.69</c:v>
                </c:pt>
              </c:numCache>
            </c:numRef>
          </c:val>
          <c:extLst>
            <c:ext xmlns:c16="http://schemas.microsoft.com/office/drawing/2014/chart" uri="{C3380CC4-5D6E-409C-BE32-E72D297353CC}">
              <c16:uniqueId val="{00000000-F3EE-421C-90FA-B233A3546496}"/>
            </c:ext>
          </c:extLst>
        </c:ser>
        <c:dLbls>
          <c:showLegendKey val="0"/>
          <c:showVal val="0"/>
          <c:showCatName val="0"/>
          <c:showSerName val="0"/>
          <c:showPercent val="0"/>
          <c:showBubbleSize val="0"/>
        </c:dLbls>
        <c:gapWidth val="219"/>
        <c:overlap val="-27"/>
        <c:axId val="1138494592"/>
        <c:axId val="1138495072"/>
      </c:barChart>
      <c:catAx>
        <c:axId val="1138494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38495072"/>
        <c:crosses val="autoZero"/>
        <c:auto val="1"/>
        <c:lblAlgn val="ctr"/>
        <c:lblOffset val="100"/>
        <c:noMultiLvlLbl val="0"/>
      </c:catAx>
      <c:valAx>
        <c:axId val="1138495072"/>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38494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[s-11.csv]Sheet1!PivotTable2</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456532360884723E-2"/>
          <c:y val="4.3284178525083095E-2"/>
          <c:w val="0.90799814497362386"/>
          <c:h val="0.83302702108570015"/>
        </c:manualLayout>
      </c:layout>
      <c:barChart>
        <c:barDir val="col"/>
        <c:grouping val="clustered"/>
        <c:varyColors val="0"/>
        <c:ser>
          <c:idx val="0"/>
          <c:order val="0"/>
          <c:tx>
            <c:strRef>
              <c:f>Sheet1!$B$3</c:f>
              <c:strCache>
                <c:ptCount val="1"/>
                <c:pt idx="0">
                  <c:v>Total</c:v>
                </c:pt>
              </c:strCache>
            </c:strRef>
          </c:tx>
          <c:spPr>
            <a:solidFill>
              <a:schemeClr val="bg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Sheet1!$A$4:$A$24</c:f>
              <c:multiLvlStrCache>
                <c:ptCount val="10"/>
                <c:lvl>
                  <c:pt idx="0">
                    <c:v>21</c:v>
                  </c:pt>
                  <c:pt idx="1">
                    <c:v>162</c:v>
                  </c:pt>
                  <c:pt idx="2">
                    <c:v>32</c:v>
                  </c:pt>
                  <c:pt idx="3">
                    <c:v>8</c:v>
                  </c:pt>
                  <c:pt idx="4">
                    <c:v>57</c:v>
                  </c:pt>
                  <c:pt idx="5">
                    <c:v>187</c:v>
                  </c:pt>
                  <c:pt idx="6">
                    <c:v>147</c:v>
                  </c:pt>
                  <c:pt idx="7">
                    <c:v>254</c:v>
                  </c:pt>
                  <c:pt idx="8">
                    <c:v>88</c:v>
                  </c:pt>
                  <c:pt idx="9">
                    <c:v>46</c:v>
                  </c:pt>
                </c:lvl>
                <c:lvl>
                  <c:pt idx="0">
                    <c:v>SK Raina</c:v>
                  </c:pt>
                  <c:pt idx="1">
                    <c:v>CH Gayle</c:v>
                  </c:pt>
                  <c:pt idx="2">
                    <c:v>SR Watson</c:v>
                  </c:pt>
                  <c:pt idx="3">
                    <c:v>V Kohli</c:v>
                  </c:pt>
                  <c:pt idx="4">
                    <c:v>RG Sharma</c:v>
                  </c:pt>
                  <c:pt idx="5">
                    <c:v>DA Warner</c:v>
                  </c:pt>
                  <c:pt idx="6">
                    <c:v>DR Smith</c:v>
                  </c:pt>
                  <c:pt idx="7">
                    <c:v>AJ Finch</c:v>
                  </c:pt>
                  <c:pt idx="8">
                    <c:v>KD Karthik</c:v>
                  </c:pt>
                  <c:pt idx="9">
                    <c:v>RV Uthappa</c:v>
                  </c:pt>
                </c:lvl>
              </c:multiLvlStrCache>
            </c:multiLvlStrRef>
          </c:cat>
          <c:val>
            <c:numRef>
              <c:f>Sheet1!$B$4:$B$24</c:f>
              <c:numCache>
                <c:formatCode>General</c:formatCode>
                <c:ptCount val="10"/>
                <c:pt idx="0">
                  <c:v>139.05000000000001</c:v>
                </c:pt>
                <c:pt idx="1">
                  <c:v>137.25</c:v>
                </c:pt>
                <c:pt idx="2">
                  <c:v>134.88999999999999</c:v>
                </c:pt>
                <c:pt idx="3">
                  <c:v>128.91999999999999</c:v>
                </c:pt>
                <c:pt idx="4">
                  <c:v>127.89</c:v>
                </c:pt>
                <c:pt idx="5">
                  <c:v>125.97</c:v>
                </c:pt>
                <c:pt idx="6">
                  <c:v>124.75</c:v>
                </c:pt>
                <c:pt idx="7">
                  <c:v>124.47</c:v>
                </c:pt>
                <c:pt idx="8">
                  <c:v>122.93</c:v>
                </c:pt>
                <c:pt idx="9">
                  <c:v>122.41</c:v>
                </c:pt>
              </c:numCache>
            </c:numRef>
          </c:val>
          <c:extLst>
            <c:ext xmlns:c16="http://schemas.microsoft.com/office/drawing/2014/chart" uri="{C3380CC4-5D6E-409C-BE32-E72D297353CC}">
              <c16:uniqueId val="{00000000-A6AB-457D-906E-B12F05FE7BA4}"/>
            </c:ext>
          </c:extLst>
        </c:ser>
        <c:dLbls>
          <c:dLblPos val="outEnd"/>
          <c:showLegendKey val="0"/>
          <c:showVal val="1"/>
          <c:showCatName val="0"/>
          <c:showSerName val="0"/>
          <c:showPercent val="0"/>
          <c:showBubbleSize val="0"/>
        </c:dLbls>
        <c:gapWidth val="219"/>
        <c:overlap val="-27"/>
        <c:axId val="1503980688"/>
        <c:axId val="1503983088"/>
      </c:barChart>
      <c:catAx>
        <c:axId val="1503980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03983088"/>
        <c:crosses val="autoZero"/>
        <c:auto val="1"/>
        <c:lblAlgn val="ctr"/>
        <c:lblOffset val="100"/>
        <c:noMultiLvlLbl val="0"/>
      </c:catAx>
      <c:valAx>
        <c:axId val="150398308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039806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[s-12.csv]Sheet1!PivotTable2</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chemeClr val="bg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Sheet1!$A$4:$A$14</c:f>
              <c:strCache>
                <c:ptCount val="10"/>
                <c:pt idx="0">
                  <c:v>JP Faulkner</c:v>
                </c:pt>
                <c:pt idx="1">
                  <c:v>SP Narine</c:v>
                </c:pt>
                <c:pt idx="2">
                  <c:v>MM Sharma</c:v>
                </c:pt>
                <c:pt idx="3">
                  <c:v>SL Malinga</c:v>
                </c:pt>
                <c:pt idx="4">
                  <c:v>R Vinay Kumar</c:v>
                </c:pt>
                <c:pt idx="5">
                  <c:v>Harbhajan Singh</c:v>
                </c:pt>
                <c:pt idx="6">
                  <c:v>DJ Bravo</c:v>
                </c:pt>
                <c:pt idx="7">
                  <c:v>B Kumar</c:v>
                </c:pt>
                <c:pt idx="8">
                  <c:v>MG Johnson</c:v>
                </c:pt>
                <c:pt idx="9">
                  <c:v>A Mishra</c:v>
                </c:pt>
              </c:strCache>
            </c:strRef>
          </c:cat>
          <c:val>
            <c:numRef>
              <c:f>Sheet1!$B$4:$B$14</c:f>
              <c:numCache>
                <c:formatCode>0.00</c:formatCode>
                <c:ptCount val="10"/>
                <c:pt idx="0">
                  <c:v>48</c:v>
                </c:pt>
                <c:pt idx="1">
                  <c:v>43</c:v>
                </c:pt>
                <c:pt idx="2">
                  <c:v>41</c:v>
                </c:pt>
                <c:pt idx="3">
                  <c:v>40</c:v>
                </c:pt>
                <c:pt idx="4">
                  <c:v>35</c:v>
                </c:pt>
                <c:pt idx="5">
                  <c:v>35</c:v>
                </c:pt>
                <c:pt idx="6">
                  <c:v>34</c:v>
                </c:pt>
                <c:pt idx="7">
                  <c:v>34</c:v>
                </c:pt>
                <c:pt idx="8">
                  <c:v>34</c:v>
                </c:pt>
                <c:pt idx="9">
                  <c:v>32</c:v>
                </c:pt>
              </c:numCache>
            </c:numRef>
          </c:val>
          <c:extLst>
            <c:ext xmlns:c16="http://schemas.microsoft.com/office/drawing/2014/chart" uri="{C3380CC4-5D6E-409C-BE32-E72D297353CC}">
              <c16:uniqueId val="{00000000-3C3B-4630-A187-6A650B96AE50}"/>
            </c:ext>
          </c:extLst>
        </c:ser>
        <c:dLbls>
          <c:dLblPos val="outEnd"/>
          <c:showLegendKey val="0"/>
          <c:showVal val="1"/>
          <c:showCatName val="0"/>
          <c:showSerName val="0"/>
          <c:showPercent val="0"/>
          <c:showBubbleSize val="0"/>
        </c:dLbls>
        <c:gapWidth val="219"/>
        <c:overlap val="-27"/>
        <c:axId val="1655208031"/>
        <c:axId val="1655212351"/>
      </c:barChart>
      <c:catAx>
        <c:axId val="16552080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55212351"/>
        <c:crosses val="autoZero"/>
        <c:auto val="1"/>
        <c:lblAlgn val="ctr"/>
        <c:lblOffset val="100"/>
        <c:noMultiLvlLbl val="0"/>
      </c:catAx>
      <c:valAx>
        <c:axId val="1655212351"/>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5520803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[s-13-1.csv]Sheet1!PivotTable8</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chemeClr val="bg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Sheet1!$A$4:$A$12</c:f>
              <c:strCache>
                <c:ptCount val="8"/>
                <c:pt idx="0">
                  <c:v>JD Unadkat</c:v>
                </c:pt>
                <c:pt idx="1">
                  <c:v>YS Chahal</c:v>
                </c:pt>
                <c:pt idx="2">
                  <c:v>M Kartik</c:v>
                </c:pt>
                <c:pt idx="3">
                  <c:v>RP Singh</c:v>
                </c:pt>
                <c:pt idx="4">
                  <c:v>MA Starc</c:v>
                </c:pt>
                <c:pt idx="5">
                  <c:v>R Vinay Kumar</c:v>
                </c:pt>
                <c:pt idx="6">
                  <c:v>VR Aaron</c:v>
                </c:pt>
                <c:pt idx="7">
                  <c:v>R Rampaul</c:v>
                </c:pt>
              </c:strCache>
            </c:strRef>
          </c:cat>
          <c:val>
            <c:numRef>
              <c:f>Sheet1!$B$4:$B$12</c:f>
              <c:numCache>
                <c:formatCode>0.00</c:formatCode>
                <c:ptCount val="8"/>
                <c:pt idx="0">
                  <c:v>28.08</c:v>
                </c:pt>
                <c:pt idx="1">
                  <c:v>25.5</c:v>
                </c:pt>
                <c:pt idx="2">
                  <c:v>25</c:v>
                </c:pt>
                <c:pt idx="3">
                  <c:v>23.07</c:v>
                </c:pt>
                <c:pt idx="4">
                  <c:v>19.88</c:v>
                </c:pt>
                <c:pt idx="5">
                  <c:v>18.63</c:v>
                </c:pt>
                <c:pt idx="6">
                  <c:v>17.38</c:v>
                </c:pt>
                <c:pt idx="7">
                  <c:v>17.38</c:v>
                </c:pt>
              </c:numCache>
            </c:numRef>
          </c:val>
          <c:extLst>
            <c:ext xmlns:c16="http://schemas.microsoft.com/office/drawing/2014/chart" uri="{C3380CC4-5D6E-409C-BE32-E72D297353CC}">
              <c16:uniqueId val="{00000000-C981-4D24-9312-B3CCA9F48D54}"/>
            </c:ext>
          </c:extLst>
        </c:ser>
        <c:dLbls>
          <c:dLblPos val="outEnd"/>
          <c:showLegendKey val="0"/>
          <c:showVal val="1"/>
          <c:showCatName val="0"/>
          <c:showSerName val="0"/>
          <c:showPercent val="0"/>
          <c:showBubbleSize val="0"/>
        </c:dLbls>
        <c:gapWidth val="219"/>
        <c:overlap val="-27"/>
        <c:axId val="1218814080"/>
        <c:axId val="1218820800"/>
      </c:barChart>
      <c:catAx>
        <c:axId val="1218814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218820800"/>
        <c:crosses val="autoZero"/>
        <c:auto val="1"/>
        <c:lblAlgn val="ctr"/>
        <c:lblOffset val="100"/>
        <c:noMultiLvlLbl val="0"/>
      </c:catAx>
      <c:valAx>
        <c:axId val="1218820800"/>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2188140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Impact of Toss Decision on Match Result</a:t>
            </a:r>
          </a:p>
        </c:rich>
      </c:tx>
      <c:layout>
        <c:manualLayout>
          <c:xMode val="edge"/>
          <c:yMode val="edge"/>
          <c:x val="0.15347011815834111"/>
          <c:y val="5.5542887744027391E-3"/>
        </c:manualLayout>
      </c:layout>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manualLayout>
          <c:layoutTarget val="inner"/>
          <c:xMode val="edge"/>
          <c:yMode val="edge"/>
          <c:x val="0.11369063300945124"/>
          <c:y val="0.14533847156212593"/>
          <c:w val="0.80272598320512401"/>
          <c:h val="0.71113423201830372"/>
        </c:manualLayout>
      </c:layout>
      <c:barChart>
        <c:barDir val="col"/>
        <c:grouping val="clustered"/>
        <c:varyColors val="0"/>
        <c:ser>
          <c:idx val="0"/>
          <c:order val="0"/>
          <c:tx>
            <c:strRef>
              <c:f>Obj_SQ1!$C$16</c:f>
              <c:strCache>
                <c:ptCount val="1"/>
                <c:pt idx="0">
                  <c:v>Sum of Total_Matches</c:v>
                </c:pt>
              </c:strCache>
            </c:strRef>
          </c:tx>
          <c:spPr>
            <a:solidFill>
              <a:schemeClr val="accent6">
                <a:lumMod val="20000"/>
                <a:lumOff val="80000"/>
              </a:schemeClr>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Obj_SQ1!$B$17:$B$18</c:f>
              <c:strCache>
                <c:ptCount val="2"/>
                <c:pt idx="0">
                  <c:v>bat</c:v>
                </c:pt>
                <c:pt idx="1">
                  <c:v>field</c:v>
                </c:pt>
              </c:strCache>
            </c:strRef>
          </c:cat>
          <c:val>
            <c:numRef>
              <c:f>Obj_SQ1!$C$17:$C$18</c:f>
              <c:numCache>
                <c:formatCode>General</c:formatCode>
                <c:ptCount val="2"/>
                <c:pt idx="0">
                  <c:v>142</c:v>
                </c:pt>
                <c:pt idx="1">
                  <c:v>108</c:v>
                </c:pt>
              </c:numCache>
            </c:numRef>
          </c:val>
          <c:extLst>
            <c:ext xmlns:c16="http://schemas.microsoft.com/office/drawing/2014/chart" uri="{C3380CC4-5D6E-409C-BE32-E72D297353CC}">
              <c16:uniqueId val="{00000000-FCB2-499E-A983-8B79F4F7964A}"/>
            </c:ext>
          </c:extLst>
        </c:ser>
        <c:ser>
          <c:idx val="1"/>
          <c:order val="1"/>
          <c:tx>
            <c:strRef>
              <c:f>Obj_SQ1!$D$16</c:f>
              <c:strCache>
                <c:ptCount val="1"/>
                <c:pt idx="0">
                  <c:v>Sum of Matches_Won_After_Toss</c:v>
                </c:pt>
              </c:strCache>
            </c:strRef>
          </c:tx>
          <c:spPr>
            <a:solidFill>
              <a:schemeClr val="bg2">
                <a:lumMod val="60000"/>
                <a:lumOff val="40000"/>
              </a:schemeClr>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Obj_SQ1!$B$17:$B$18</c:f>
              <c:strCache>
                <c:ptCount val="2"/>
                <c:pt idx="0">
                  <c:v>bat</c:v>
                </c:pt>
                <c:pt idx="1">
                  <c:v>field</c:v>
                </c:pt>
              </c:strCache>
            </c:strRef>
          </c:cat>
          <c:val>
            <c:numRef>
              <c:f>Obj_SQ1!$D$17:$D$18</c:f>
              <c:numCache>
                <c:formatCode>General</c:formatCode>
                <c:ptCount val="2"/>
                <c:pt idx="0">
                  <c:v>75</c:v>
                </c:pt>
                <c:pt idx="1">
                  <c:v>62</c:v>
                </c:pt>
              </c:numCache>
            </c:numRef>
          </c:val>
          <c:extLst>
            <c:ext xmlns:c16="http://schemas.microsoft.com/office/drawing/2014/chart" uri="{C3380CC4-5D6E-409C-BE32-E72D297353CC}">
              <c16:uniqueId val="{00000001-FCB2-499E-A983-8B79F4F7964A}"/>
            </c:ext>
          </c:extLst>
        </c:ser>
        <c:ser>
          <c:idx val="2"/>
          <c:order val="2"/>
          <c:tx>
            <c:strRef>
              <c:f>Obj_SQ1!$E$16</c:f>
              <c:strCache>
                <c:ptCount val="1"/>
                <c:pt idx="0">
                  <c:v>Sum of Win_Percentage</c:v>
                </c:pt>
              </c:strCache>
            </c:strRef>
          </c:tx>
          <c:spPr>
            <a:solidFill>
              <a:schemeClr val="accent3">
                <a:lumMod val="25000"/>
                <a:lumOff val="75000"/>
              </a:schemeClr>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Obj_SQ1!$B$17:$B$18</c:f>
              <c:strCache>
                <c:ptCount val="2"/>
                <c:pt idx="0">
                  <c:v>bat</c:v>
                </c:pt>
                <c:pt idx="1">
                  <c:v>field</c:v>
                </c:pt>
              </c:strCache>
            </c:strRef>
          </c:cat>
          <c:val>
            <c:numRef>
              <c:f>Obj_SQ1!$E$17:$E$18</c:f>
              <c:numCache>
                <c:formatCode>General</c:formatCode>
                <c:ptCount val="2"/>
                <c:pt idx="0">
                  <c:v>519.62840000000006</c:v>
                </c:pt>
                <c:pt idx="1">
                  <c:v>401.51650000000001</c:v>
                </c:pt>
              </c:numCache>
            </c:numRef>
          </c:val>
          <c:extLst>
            <c:ext xmlns:c16="http://schemas.microsoft.com/office/drawing/2014/chart" uri="{C3380CC4-5D6E-409C-BE32-E72D297353CC}">
              <c16:uniqueId val="{00000002-FCB2-499E-A983-8B79F4F7964A}"/>
            </c:ext>
          </c:extLst>
        </c:ser>
        <c:dLbls>
          <c:dLblPos val="outEnd"/>
          <c:showLegendKey val="0"/>
          <c:showVal val="1"/>
          <c:showCatName val="0"/>
          <c:showSerName val="0"/>
          <c:showPercent val="0"/>
          <c:showBubbleSize val="0"/>
        </c:dLbls>
        <c:gapWidth val="100"/>
        <c:overlap val="-24"/>
        <c:axId val="1287895583"/>
        <c:axId val="1287896063"/>
      </c:barChart>
      <c:catAx>
        <c:axId val="128789558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287896063"/>
        <c:crosses val="autoZero"/>
        <c:auto val="1"/>
        <c:lblAlgn val="ctr"/>
        <c:lblOffset val="100"/>
        <c:noMultiLvlLbl val="0"/>
      </c:catAx>
      <c:valAx>
        <c:axId val="1287896063"/>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2878955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solidFill>
      <a:schemeClr val="tx2"/>
    </a:soli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[s-15.csv]Sheet1!PivotTable6</c:name>
    <c:fmtId val="7"/>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Sum of Wins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Sheet1!$A$4:$A$22</c:f>
              <c:strCache>
                <c:ptCount val="18"/>
                <c:pt idx="0">
                  <c:v>M Chinnaswamy Stadium</c:v>
                </c:pt>
                <c:pt idx="1">
                  <c:v>Feroz Shah Kotla</c:v>
                </c:pt>
                <c:pt idx="2">
                  <c:v>Eden Gardens</c:v>
                </c:pt>
                <c:pt idx="3">
                  <c:v>Maharashtra Cricket Association Stadium</c:v>
                </c:pt>
                <c:pt idx="4">
                  <c:v>Sharjah Cricket Stadium</c:v>
                </c:pt>
                <c:pt idx="5">
                  <c:v>Sardar Patel Stadium, Motera</c:v>
                </c:pt>
                <c:pt idx="6">
                  <c:v>Rajiv Gandhi International Stadium, Uppal</c:v>
                </c:pt>
                <c:pt idx="7">
                  <c:v>Subrata Roy Sahara Stadium</c:v>
                </c:pt>
                <c:pt idx="8">
                  <c:v>Shaheed Veer Narayan Singh International Stadium</c:v>
                </c:pt>
                <c:pt idx="9">
                  <c:v>Punjab Cricket Association IS Bindra Stadium, Mohali</c:v>
                </c:pt>
                <c:pt idx="10">
                  <c:v>JSCA International Stadium Complex</c:v>
                </c:pt>
                <c:pt idx="11">
                  <c:v>Wankhede Stadium</c:v>
                </c:pt>
                <c:pt idx="12">
                  <c:v>Dubai International Cricket Stadium</c:v>
                </c:pt>
                <c:pt idx="13">
                  <c:v>Sawai Mansingh Stadium</c:v>
                </c:pt>
                <c:pt idx="14">
                  <c:v>Sheikh Zayed Stadium</c:v>
                </c:pt>
                <c:pt idx="15">
                  <c:v>MA Chidambaram Stadium, Chepauk</c:v>
                </c:pt>
                <c:pt idx="16">
                  <c:v>Saurashtra Cricket Association Stadium</c:v>
                </c:pt>
                <c:pt idx="17">
                  <c:v>Punjab Cricket Association Stadium, Mohali</c:v>
                </c:pt>
              </c:strCache>
            </c:strRef>
          </c:cat>
          <c:val>
            <c:numRef>
              <c:f>Sheet1!$B$4:$B$22</c:f>
              <c:numCache>
                <c:formatCode>General</c:formatCode>
                <c:ptCount val="18"/>
                <c:pt idx="0">
                  <c:v>16</c:v>
                </c:pt>
                <c:pt idx="1">
                  <c:v>2</c:v>
                </c:pt>
                <c:pt idx="2">
                  <c:v>2</c:v>
                </c:pt>
                <c:pt idx="3">
                  <c:v>2</c:v>
                </c:pt>
                <c:pt idx="4">
                  <c:v>1</c:v>
                </c:pt>
                <c:pt idx="5">
                  <c:v>1</c:v>
                </c:pt>
                <c:pt idx="6">
                  <c:v>1</c:v>
                </c:pt>
                <c:pt idx="7">
                  <c:v>1</c:v>
                </c:pt>
                <c:pt idx="8">
                  <c:v>1</c:v>
                </c:pt>
                <c:pt idx="9">
                  <c:v>1</c:v>
                </c:pt>
                <c:pt idx="10">
                  <c:v>1</c:v>
                </c:pt>
                <c:pt idx="11">
                  <c:v>1</c:v>
                </c:pt>
                <c:pt idx="12">
                  <c:v>1</c:v>
                </c:pt>
                <c:pt idx="13">
                  <c:v>0</c:v>
                </c:pt>
                <c:pt idx="14">
                  <c:v>0</c:v>
                </c:pt>
                <c:pt idx="15">
                  <c:v>0</c:v>
                </c:pt>
                <c:pt idx="16">
                  <c:v>0</c:v>
                </c:pt>
                <c:pt idx="17">
                  <c:v>0</c:v>
                </c:pt>
              </c:numCache>
            </c:numRef>
          </c:val>
          <c:extLst>
            <c:ext xmlns:c16="http://schemas.microsoft.com/office/drawing/2014/chart" uri="{C3380CC4-5D6E-409C-BE32-E72D297353CC}">
              <c16:uniqueId val="{00000000-4342-44F5-A696-45758AE64D19}"/>
            </c:ext>
          </c:extLst>
        </c:ser>
        <c:ser>
          <c:idx val="1"/>
          <c:order val="1"/>
          <c:tx>
            <c:strRef>
              <c:f>Sheet1!$C$3</c:f>
              <c:strCache>
                <c:ptCount val="1"/>
                <c:pt idx="0">
                  <c:v>Sum of Losses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Sheet1!$A$4:$A$22</c:f>
              <c:strCache>
                <c:ptCount val="18"/>
                <c:pt idx="0">
                  <c:v>M Chinnaswamy Stadium</c:v>
                </c:pt>
                <c:pt idx="1">
                  <c:v>Feroz Shah Kotla</c:v>
                </c:pt>
                <c:pt idx="2">
                  <c:v>Eden Gardens</c:v>
                </c:pt>
                <c:pt idx="3">
                  <c:v>Maharashtra Cricket Association Stadium</c:v>
                </c:pt>
                <c:pt idx="4">
                  <c:v>Sharjah Cricket Stadium</c:v>
                </c:pt>
                <c:pt idx="5">
                  <c:v>Sardar Patel Stadium, Motera</c:v>
                </c:pt>
                <c:pt idx="6">
                  <c:v>Rajiv Gandhi International Stadium, Uppal</c:v>
                </c:pt>
                <c:pt idx="7">
                  <c:v>Subrata Roy Sahara Stadium</c:v>
                </c:pt>
                <c:pt idx="8">
                  <c:v>Shaheed Veer Narayan Singh International Stadium</c:v>
                </c:pt>
                <c:pt idx="9">
                  <c:v>Punjab Cricket Association IS Bindra Stadium, Mohali</c:v>
                </c:pt>
                <c:pt idx="10">
                  <c:v>JSCA International Stadium Complex</c:v>
                </c:pt>
                <c:pt idx="11">
                  <c:v>Wankhede Stadium</c:v>
                </c:pt>
                <c:pt idx="12">
                  <c:v>Dubai International Cricket Stadium</c:v>
                </c:pt>
                <c:pt idx="13">
                  <c:v>Sawai Mansingh Stadium</c:v>
                </c:pt>
                <c:pt idx="14">
                  <c:v>Sheikh Zayed Stadium</c:v>
                </c:pt>
                <c:pt idx="15">
                  <c:v>MA Chidambaram Stadium, Chepauk</c:v>
                </c:pt>
                <c:pt idx="16">
                  <c:v>Saurashtra Cricket Association Stadium</c:v>
                </c:pt>
                <c:pt idx="17">
                  <c:v>Punjab Cricket Association Stadium, Mohali</c:v>
                </c:pt>
              </c:strCache>
            </c:strRef>
          </c:cat>
          <c:val>
            <c:numRef>
              <c:f>Sheet1!$C$4:$C$22</c:f>
              <c:numCache>
                <c:formatCode>General</c:formatCode>
                <c:ptCount val="18"/>
                <c:pt idx="0">
                  <c:v>11</c:v>
                </c:pt>
                <c:pt idx="1">
                  <c:v>0</c:v>
                </c:pt>
                <c:pt idx="2">
                  <c:v>1</c:v>
                </c:pt>
                <c:pt idx="3">
                  <c:v>0</c:v>
                </c:pt>
                <c:pt idx="4">
                  <c:v>1</c:v>
                </c:pt>
                <c:pt idx="5">
                  <c:v>0</c:v>
                </c:pt>
                <c:pt idx="6">
                  <c:v>3</c:v>
                </c:pt>
                <c:pt idx="7">
                  <c:v>0</c:v>
                </c:pt>
                <c:pt idx="8">
                  <c:v>0</c:v>
                </c:pt>
                <c:pt idx="9">
                  <c:v>0</c:v>
                </c:pt>
                <c:pt idx="10">
                  <c:v>2</c:v>
                </c:pt>
                <c:pt idx="11">
                  <c:v>3</c:v>
                </c:pt>
                <c:pt idx="12">
                  <c:v>1</c:v>
                </c:pt>
                <c:pt idx="13">
                  <c:v>1</c:v>
                </c:pt>
                <c:pt idx="14">
                  <c:v>1</c:v>
                </c:pt>
                <c:pt idx="15">
                  <c:v>2</c:v>
                </c:pt>
                <c:pt idx="16">
                  <c:v>1</c:v>
                </c:pt>
                <c:pt idx="17">
                  <c:v>2</c:v>
                </c:pt>
              </c:numCache>
            </c:numRef>
          </c:val>
          <c:extLst>
            <c:ext xmlns:c16="http://schemas.microsoft.com/office/drawing/2014/chart" uri="{C3380CC4-5D6E-409C-BE32-E72D297353CC}">
              <c16:uniqueId val="{00000001-4342-44F5-A696-45758AE64D19}"/>
            </c:ext>
          </c:extLst>
        </c:ser>
        <c:dLbls>
          <c:dLblPos val="outEnd"/>
          <c:showLegendKey val="0"/>
          <c:showVal val="1"/>
          <c:showCatName val="0"/>
          <c:showSerName val="0"/>
          <c:showPercent val="0"/>
          <c:showBubbleSize val="0"/>
        </c:dLbls>
        <c:gapWidth val="219"/>
        <c:overlap val="-27"/>
        <c:axId val="1655214751"/>
        <c:axId val="1655215231"/>
      </c:barChart>
      <c:catAx>
        <c:axId val="165521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55215231"/>
        <c:crosses val="autoZero"/>
        <c:auto val="1"/>
        <c:lblAlgn val="ctr"/>
        <c:lblOffset val="100"/>
        <c:noMultiLvlLbl val="0"/>
      </c:catAx>
      <c:valAx>
        <c:axId val="165521523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5521475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[s-16.csv]Sheet1!PivotTable8</c:name>
    <c:fmtId val="6"/>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604253309828122E-2"/>
          <c:y val="4.3627233994105168E-2"/>
          <c:w val="0.91702608326477386"/>
          <c:h val="0.82239544431565115"/>
        </c:manualLayout>
      </c:layout>
      <c:barChart>
        <c:barDir val="bar"/>
        <c:grouping val="clustered"/>
        <c:varyColors val="0"/>
        <c:ser>
          <c:idx val="0"/>
          <c:order val="0"/>
          <c:tx>
            <c:strRef>
              <c:f>Sheet1!$B$3</c:f>
              <c:strCache>
                <c:ptCount val="1"/>
                <c:pt idx="0">
                  <c:v>Average of Win_Percentage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Sheet1!$A$4:$A$8</c:f>
              <c:strCache>
                <c:ptCount val="4"/>
                <c:pt idx="0">
                  <c:v>2013</c:v>
                </c:pt>
                <c:pt idx="1">
                  <c:v>2014</c:v>
                </c:pt>
                <c:pt idx="2">
                  <c:v>2015</c:v>
                </c:pt>
                <c:pt idx="3">
                  <c:v>2016</c:v>
                </c:pt>
              </c:strCache>
            </c:strRef>
          </c:cat>
          <c:val>
            <c:numRef>
              <c:f>Sheet1!$B$4:$B$8</c:f>
              <c:numCache>
                <c:formatCode>0.00</c:formatCode>
                <c:ptCount val="4"/>
                <c:pt idx="0">
                  <c:v>56.25</c:v>
                </c:pt>
                <c:pt idx="1">
                  <c:v>35.71</c:v>
                </c:pt>
                <c:pt idx="2">
                  <c:v>50</c:v>
                </c:pt>
                <c:pt idx="3">
                  <c:v>56.25</c:v>
                </c:pt>
              </c:numCache>
            </c:numRef>
          </c:val>
          <c:extLst>
            <c:ext xmlns:c16="http://schemas.microsoft.com/office/drawing/2014/chart" uri="{C3380CC4-5D6E-409C-BE32-E72D297353CC}">
              <c16:uniqueId val="{00000000-961A-4D74-AE86-21D88D6AA4E3}"/>
            </c:ext>
          </c:extLst>
        </c:ser>
        <c:ser>
          <c:idx val="1"/>
          <c:order val="1"/>
          <c:tx>
            <c:strRef>
              <c:f>Sheet1!$C$3</c:f>
              <c:strCache>
                <c:ptCount val="1"/>
                <c:pt idx="0">
                  <c:v>Average of Wins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Sheet1!$A$4:$A$8</c:f>
              <c:strCache>
                <c:ptCount val="4"/>
                <c:pt idx="0">
                  <c:v>2013</c:v>
                </c:pt>
                <c:pt idx="1">
                  <c:v>2014</c:v>
                </c:pt>
                <c:pt idx="2">
                  <c:v>2015</c:v>
                </c:pt>
                <c:pt idx="3">
                  <c:v>2016</c:v>
                </c:pt>
              </c:strCache>
            </c:strRef>
          </c:cat>
          <c:val>
            <c:numRef>
              <c:f>Sheet1!$C$4:$C$8</c:f>
              <c:numCache>
                <c:formatCode>0.00</c:formatCode>
                <c:ptCount val="4"/>
                <c:pt idx="0">
                  <c:v>9</c:v>
                </c:pt>
                <c:pt idx="1">
                  <c:v>5</c:v>
                </c:pt>
                <c:pt idx="2">
                  <c:v>8</c:v>
                </c:pt>
                <c:pt idx="3">
                  <c:v>9</c:v>
                </c:pt>
              </c:numCache>
            </c:numRef>
          </c:val>
          <c:extLst>
            <c:ext xmlns:c16="http://schemas.microsoft.com/office/drawing/2014/chart" uri="{C3380CC4-5D6E-409C-BE32-E72D297353CC}">
              <c16:uniqueId val="{00000001-961A-4D74-AE86-21D88D6AA4E3}"/>
            </c:ext>
          </c:extLst>
        </c:ser>
        <c:ser>
          <c:idx val="2"/>
          <c:order val="2"/>
          <c:tx>
            <c:strRef>
              <c:f>Sheet1!$D$3</c:f>
              <c:strCache>
                <c:ptCount val="1"/>
                <c:pt idx="0">
                  <c:v>Sum of Losses</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Sheet1!$A$4:$A$8</c:f>
              <c:strCache>
                <c:ptCount val="4"/>
                <c:pt idx="0">
                  <c:v>2013</c:v>
                </c:pt>
                <c:pt idx="1">
                  <c:v>2014</c:v>
                </c:pt>
                <c:pt idx="2">
                  <c:v>2015</c:v>
                </c:pt>
                <c:pt idx="3">
                  <c:v>2016</c:v>
                </c:pt>
              </c:strCache>
            </c:strRef>
          </c:cat>
          <c:val>
            <c:numRef>
              <c:f>Sheet1!$D$4:$D$8</c:f>
              <c:numCache>
                <c:formatCode>General</c:formatCode>
                <c:ptCount val="4"/>
                <c:pt idx="0">
                  <c:v>7</c:v>
                </c:pt>
                <c:pt idx="1">
                  <c:v>9</c:v>
                </c:pt>
                <c:pt idx="2">
                  <c:v>6</c:v>
                </c:pt>
                <c:pt idx="3">
                  <c:v>7</c:v>
                </c:pt>
              </c:numCache>
            </c:numRef>
          </c:val>
          <c:extLst>
            <c:ext xmlns:c16="http://schemas.microsoft.com/office/drawing/2014/chart" uri="{C3380CC4-5D6E-409C-BE32-E72D297353CC}">
              <c16:uniqueId val="{00000002-961A-4D74-AE86-21D88D6AA4E3}"/>
            </c:ext>
          </c:extLst>
        </c:ser>
        <c:dLbls>
          <c:showLegendKey val="0"/>
          <c:showVal val="0"/>
          <c:showCatName val="0"/>
          <c:showSerName val="0"/>
          <c:showPercent val="0"/>
          <c:showBubbleSize val="0"/>
        </c:dLbls>
        <c:gapWidth val="219"/>
        <c:axId val="1585338975"/>
        <c:axId val="1585338015"/>
      </c:barChart>
      <c:catAx>
        <c:axId val="158533897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85338015"/>
        <c:crosses val="autoZero"/>
        <c:auto val="1"/>
        <c:lblAlgn val="ctr"/>
        <c:lblOffset val="100"/>
        <c:noMultiLvlLbl val="0"/>
      </c:catAx>
      <c:valAx>
        <c:axId val="1585338015"/>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853389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1803149606299206E-2"/>
          <c:y val="4.194643661082955E-2"/>
          <c:w val="0.69195625546806649"/>
          <c:h val="0.88991232661207953"/>
        </c:manualLayout>
      </c:layout>
      <c:barChart>
        <c:barDir val="col"/>
        <c:grouping val="clustered"/>
        <c:varyColors val="0"/>
        <c:ser>
          <c:idx val="0"/>
          <c:order val="0"/>
          <c:tx>
            <c:strRef>
              <c:f>'S-19'!$A$2</c:f>
              <c:strCache>
                <c:ptCount val="1"/>
                <c:pt idx="0">
                  <c:v>CH Gayle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0-A03D-4313-8C78-951126CEC5A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'S-19'!$B$1</c:f>
              <c:strCache>
                <c:ptCount val="1"/>
                <c:pt idx="0">
                  <c:v>Total_Runs</c:v>
                </c:pt>
              </c:strCache>
            </c:strRef>
          </c:cat>
          <c:val>
            <c:numRef>
              <c:f>'S-19'!$B$2</c:f>
              <c:numCache>
                <c:formatCode>General</c:formatCode>
                <c:ptCount val="1"/>
                <c:pt idx="0">
                  <c:v>910</c:v>
                </c:pt>
              </c:numCache>
            </c:numRef>
          </c:val>
          <c:extLst>
            <c:ext xmlns:c16="http://schemas.microsoft.com/office/drawing/2014/chart" uri="{C3380CC4-5D6E-409C-BE32-E72D297353CC}">
              <c16:uniqueId val="{00000000-CC05-4381-84AE-BE455B130297}"/>
            </c:ext>
          </c:extLst>
        </c:ser>
        <c:ser>
          <c:idx val="1"/>
          <c:order val="1"/>
          <c:tx>
            <c:strRef>
              <c:f>'S-19'!$A$3</c:f>
              <c:strCache>
                <c:ptCount val="1"/>
                <c:pt idx="0">
                  <c:v>DR Smith</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'S-19'!$B$1</c:f>
              <c:strCache>
                <c:ptCount val="1"/>
                <c:pt idx="0">
                  <c:v>Total_Runs</c:v>
                </c:pt>
              </c:strCache>
            </c:strRef>
          </c:cat>
          <c:val>
            <c:numRef>
              <c:f>'S-19'!$B$3</c:f>
              <c:numCache>
                <c:formatCode>General</c:formatCode>
                <c:ptCount val="1"/>
                <c:pt idx="0">
                  <c:v>872</c:v>
                </c:pt>
              </c:numCache>
            </c:numRef>
          </c:val>
          <c:extLst>
            <c:ext xmlns:c16="http://schemas.microsoft.com/office/drawing/2014/chart" uri="{C3380CC4-5D6E-409C-BE32-E72D297353CC}">
              <c16:uniqueId val="{00000001-CC05-4381-84AE-BE455B130297}"/>
            </c:ext>
          </c:extLst>
        </c:ser>
        <c:ser>
          <c:idx val="2"/>
          <c:order val="2"/>
          <c:tx>
            <c:strRef>
              <c:f>'S-19'!$A$4</c:f>
              <c:strCache>
                <c:ptCount val="1"/>
                <c:pt idx="0">
                  <c:v>SR Watson</c:v>
                </c:pt>
              </c:strCache>
            </c:strRef>
          </c:tx>
          <c:spPr>
            <a:gradFill rotWithShape="1">
              <a:gsLst>
                <a:gs pos="0">
                  <a:schemeClr val="accent6">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dPt>
            <c:idx val="0"/>
            <c:invertIfNegative val="0"/>
            <c:bubble3D val="0"/>
            <c:spPr>
              <a:solidFill>
                <a:schemeClr val="bg1"/>
              </a:solidFill>
              <a:ln>
                <a:noFill/>
              </a:ln>
              <a:effectLst/>
            </c:spPr>
            <c:extLst>
              <c:ext xmlns:c16="http://schemas.microsoft.com/office/drawing/2014/chart" uri="{C3380CC4-5D6E-409C-BE32-E72D297353CC}">
                <c16:uniqueId val="{00000001-A03D-4313-8C78-951126CEC5A1}"/>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'S-19'!$B$1</c:f>
              <c:strCache>
                <c:ptCount val="1"/>
                <c:pt idx="0">
                  <c:v>Total_Runs</c:v>
                </c:pt>
              </c:strCache>
            </c:strRef>
          </c:cat>
          <c:val>
            <c:numRef>
              <c:f>'S-19'!$B$4</c:f>
              <c:numCache>
                <c:formatCode>General</c:formatCode>
                <c:ptCount val="1"/>
                <c:pt idx="0">
                  <c:v>781</c:v>
                </c:pt>
              </c:numCache>
            </c:numRef>
          </c:val>
          <c:extLst>
            <c:ext xmlns:c16="http://schemas.microsoft.com/office/drawing/2014/chart" uri="{C3380CC4-5D6E-409C-BE32-E72D297353CC}">
              <c16:uniqueId val="{00000002-CC05-4381-84AE-BE455B130297}"/>
            </c:ext>
          </c:extLst>
        </c:ser>
        <c:ser>
          <c:idx val="3"/>
          <c:order val="3"/>
          <c:tx>
            <c:strRef>
              <c:f>'S-19'!$A$5</c:f>
              <c:strCache>
                <c:ptCount val="1"/>
                <c:pt idx="0">
                  <c:v>RA Jadeja</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'S-19'!$B$1</c:f>
              <c:strCache>
                <c:ptCount val="1"/>
                <c:pt idx="0">
                  <c:v>Total_Runs</c:v>
                </c:pt>
              </c:strCache>
            </c:strRef>
          </c:cat>
          <c:val>
            <c:numRef>
              <c:f>'S-19'!$B$5</c:f>
              <c:numCache>
                <c:formatCode>General</c:formatCode>
                <c:ptCount val="1"/>
                <c:pt idx="0">
                  <c:v>320</c:v>
                </c:pt>
              </c:numCache>
            </c:numRef>
          </c:val>
          <c:extLst>
            <c:ext xmlns:c16="http://schemas.microsoft.com/office/drawing/2014/chart" uri="{C3380CC4-5D6E-409C-BE32-E72D297353CC}">
              <c16:uniqueId val="{00000003-CC05-4381-84AE-BE455B130297}"/>
            </c:ext>
          </c:extLst>
        </c:ser>
        <c:ser>
          <c:idx val="4"/>
          <c:order val="4"/>
          <c:tx>
            <c:strRef>
              <c:f>'S-19'!$A$6</c:f>
              <c:strCache>
                <c:ptCount val="1"/>
                <c:pt idx="0">
                  <c:v>JP Faulkner</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'S-19'!$B$1</c:f>
              <c:strCache>
                <c:ptCount val="1"/>
                <c:pt idx="0">
                  <c:v>Total_Runs</c:v>
                </c:pt>
              </c:strCache>
            </c:strRef>
          </c:cat>
          <c:val>
            <c:numRef>
              <c:f>'S-19'!$B$6</c:f>
              <c:numCache>
                <c:formatCode>General</c:formatCode>
                <c:ptCount val="1"/>
                <c:pt idx="0">
                  <c:v>180</c:v>
                </c:pt>
              </c:numCache>
            </c:numRef>
          </c:val>
          <c:extLst>
            <c:ext xmlns:c16="http://schemas.microsoft.com/office/drawing/2014/chart" uri="{C3380CC4-5D6E-409C-BE32-E72D297353CC}">
              <c16:uniqueId val="{00000004-CC05-4381-84AE-BE455B130297}"/>
            </c:ext>
          </c:extLst>
        </c:ser>
        <c:dLbls>
          <c:dLblPos val="outEnd"/>
          <c:showLegendKey val="0"/>
          <c:showVal val="1"/>
          <c:showCatName val="0"/>
          <c:showSerName val="0"/>
          <c:showPercent val="0"/>
          <c:showBubbleSize val="0"/>
        </c:dLbls>
        <c:gapWidth val="400"/>
        <c:axId val="1189936128"/>
        <c:axId val="1189940928"/>
      </c:barChart>
      <c:catAx>
        <c:axId val="1189936128"/>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9940928"/>
        <c:crosses val="autoZero"/>
        <c:auto val="1"/>
        <c:lblAlgn val="ctr"/>
        <c:lblOffset val="100"/>
        <c:noMultiLvlLbl val="0"/>
      </c:catAx>
      <c:valAx>
        <c:axId val="11899409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899361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[S-20.csv]Sheet1!PivotTable4</c:name>
    <c:fmtId val="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3386482939632545E-2"/>
          <c:y val="1.6272507522141856E-2"/>
          <c:w val="0.86772462817147855"/>
          <c:h val="0.89891892976332721"/>
        </c:manualLayout>
      </c:layout>
      <c:barChart>
        <c:barDir val="col"/>
        <c:grouping val="clustered"/>
        <c:varyColors val="0"/>
        <c:ser>
          <c:idx val="0"/>
          <c:order val="0"/>
          <c:tx>
            <c:strRef>
              <c:f>Sheet1!$B$3</c:f>
              <c:strCache>
                <c:ptCount val="1"/>
                <c:pt idx="0">
                  <c:v>Total</c:v>
                </c:pt>
              </c:strCache>
            </c:strRef>
          </c:tx>
          <c:spPr>
            <a:solidFill>
              <a:schemeClr val="bg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Sheet1!$A$4:$A$9</c:f>
              <c:strCache>
                <c:ptCount val="5"/>
                <c:pt idx="0">
                  <c:v>JP Faulkner</c:v>
                </c:pt>
                <c:pt idx="1">
                  <c:v>RA Jadeja</c:v>
                </c:pt>
                <c:pt idx="2">
                  <c:v>SR Watson</c:v>
                </c:pt>
                <c:pt idx="3">
                  <c:v>DR Smith</c:v>
                </c:pt>
                <c:pt idx="4">
                  <c:v>CH Gayle</c:v>
                </c:pt>
              </c:strCache>
            </c:strRef>
          </c:cat>
          <c:val>
            <c:numRef>
              <c:f>Sheet1!$B$4:$B$9</c:f>
              <c:numCache>
                <c:formatCode>0.00</c:formatCode>
                <c:ptCount val="5"/>
                <c:pt idx="0">
                  <c:v>48</c:v>
                </c:pt>
                <c:pt idx="1">
                  <c:v>31</c:v>
                </c:pt>
                <c:pt idx="2">
                  <c:v>23</c:v>
                </c:pt>
                <c:pt idx="3">
                  <c:v>6</c:v>
                </c:pt>
                <c:pt idx="4">
                  <c:v>3</c:v>
                </c:pt>
              </c:numCache>
            </c:numRef>
          </c:val>
          <c:extLst>
            <c:ext xmlns:c16="http://schemas.microsoft.com/office/drawing/2014/chart" uri="{C3380CC4-5D6E-409C-BE32-E72D297353CC}">
              <c16:uniqueId val="{00000000-4ECD-47BC-9074-D7AFB09B3D19}"/>
            </c:ext>
          </c:extLst>
        </c:ser>
        <c:dLbls>
          <c:dLblPos val="outEnd"/>
          <c:showLegendKey val="0"/>
          <c:showVal val="1"/>
          <c:showCatName val="0"/>
          <c:showSerName val="0"/>
          <c:showPercent val="0"/>
          <c:showBubbleSize val="0"/>
        </c:dLbls>
        <c:gapWidth val="182"/>
        <c:axId val="1218805920"/>
        <c:axId val="1218818880"/>
      </c:barChart>
      <c:catAx>
        <c:axId val="1218805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218818880"/>
        <c:crosses val="autoZero"/>
        <c:auto val="1"/>
        <c:lblAlgn val="ctr"/>
        <c:lblOffset val="100"/>
        <c:noMultiLvlLbl val="0"/>
      </c:catAx>
      <c:valAx>
        <c:axId val="1218818880"/>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2188059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[S-21-1.csv]Sheet1!PivotTable6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5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chemeClr val="bg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Sheet1!$A$4:$A$38</c:f>
              <c:strCache>
                <c:ptCount val="34"/>
                <c:pt idx="0">
                  <c:v>CH Gayle</c:v>
                </c:pt>
                <c:pt idx="1">
                  <c:v>V Kohli</c:v>
                </c:pt>
                <c:pt idx="2">
                  <c:v>AB de Villiers</c:v>
                </c:pt>
                <c:pt idx="3">
                  <c:v>Yuvraj Singh</c:v>
                </c:pt>
                <c:pt idx="4">
                  <c:v>CA Pujara</c:v>
                </c:pt>
                <c:pt idx="5">
                  <c:v>A Mukund</c:v>
                </c:pt>
                <c:pt idx="6">
                  <c:v>RR Rossouw</c:v>
                </c:pt>
                <c:pt idx="7">
                  <c:v>MC Henriques</c:v>
                </c:pt>
                <c:pt idx="8">
                  <c:v>SS Tiwary</c:v>
                </c:pt>
                <c:pt idx="9">
                  <c:v>PA Patel</c:v>
                </c:pt>
                <c:pt idx="10">
                  <c:v>VH Zol</c:v>
                </c:pt>
                <c:pt idx="11">
                  <c:v>TM Dilshan</c:v>
                </c:pt>
                <c:pt idx="12">
                  <c:v>R Vinay Kumar</c:v>
                </c:pt>
                <c:pt idx="13">
                  <c:v>MA Agarwal</c:v>
                </c:pt>
                <c:pt idx="14">
                  <c:v>YV Takawale</c:v>
                </c:pt>
                <c:pt idx="15">
                  <c:v>MA Starc</c:v>
                </c:pt>
                <c:pt idx="16">
                  <c:v>VR Aaron</c:v>
                </c:pt>
                <c:pt idx="17">
                  <c:v>KL Rahul</c:v>
                </c:pt>
                <c:pt idx="18">
                  <c:v>S Rana</c:v>
                </c:pt>
                <c:pt idx="19">
                  <c:v>JA Morkel</c:v>
                </c:pt>
                <c:pt idx="20">
                  <c:v>KB Arun Karthik</c:v>
                </c:pt>
                <c:pt idx="21">
                  <c:v>NJ Maddinson</c:v>
                </c:pt>
                <c:pt idx="22">
                  <c:v>R Rampaul</c:v>
                </c:pt>
                <c:pt idx="23">
                  <c:v>J Syed Mohammad</c:v>
                </c:pt>
                <c:pt idx="24">
                  <c:v>KK Nair</c:v>
                </c:pt>
                <c:pt idx="25">
                  <c:v>HV Patel</c:v>
                </c:pt>
                <c:pt idx="26">
                  <c:v>AN Ahmed</c:v>
                </c:pt>
                <c:pt idx="27">
                  <c:v>DT Christian</c:v>
                </c:pt>
                <c:pt idx="28">
                  <c:v>A Mithun</c:v>
                </c:pt>
                <c:pt idx="29">
                  <c:v>AB Dinda</c:v>
                </c:pt>
                <c:pt idx="30">
                  <c:v>JD Unadkat</c:v>
                </c:pt>
                <c:pt idx="31">
                  <c:v>YS Chahal</c:v>
                </c:pt>
                <c:pt idx="32">
                  <c:v>M Kartik</c:v>
                </c:pt>
                <c:pt idx="33">
                  <c:v>AB McDonald</c:v>
                </c:pt>
              </c:strCache>
            </c:strRef>
          </c:cat>
          <c:val>
            <c:numRef>
              <c:f>Sheet1!$B$4:$B$38</c:f>
              <c:numCache>
                <c:formatCode>0.00</c:formatCode>
                <c:ptCount val="34"/>
                <c:pt idx="0">
                  <c:v>35</c:v>
                </c:pt>
                <c:pt idx="1">
                  <c:v>30.59</c:v>
                </c:pt>
                <c:pt idx="2">
                  <c:v>28.65</c:v>
                </c:pt>
                <c:pt idx="3">
                  <c:v>27.42</c:v>
                </c:pt>
                <c:pt idx="4">
                  <c:v>23</c:v>
                </c:pt>
                <c:pt idx="5">
                  <c:v>19</c:v>
                </c:pt>
                <c:pt idx="6">
                  <c:v>19</c:v>
                </c:pt>
                <c:pt idx="7">
                  <c:v>18.329999999999998</c:v>
                </c:pt>
                <c:pt idx="8">
                  <c:v>18.170000000000002</c:v>
                </c:pt>
                <c:pt idx="9">
                  <c:v>17.079999999999998</c:v>
                </c:pt>
                <c:pt idx="10">
                  <c:v>16</c:v>
                </c:pt>
                <c:pt idx="11">
                  <c:v>15.2</c:v>
                </c:pt>
                <c:pt idx="12">
                  <c:v>14</c:v>
                </c:pt>
                <c:pt idx="13">
                  <c:v>13.4</c:v>
                </c:pt>
                <c:pt idx="14">
                  <c:v>13.33</c:v>
                </c:pt>
                <c:pt idx="15">
                  <c:v>11.83</c:v>
                </c:pt>
                <c:pt idx="16">
                  <c:v>11.67</c:v>
                </c:pt>
                <c:pt idx="17">
                  <c:v>10</c:v>
                </c:pt>
                <c:pt idx="18">
                  <c:v>9.8000000000000007</c:v>
                </c:pt>
                <c:pt idx="19">
                  <c:v>9</c:v>
                </c:pt>
                <c:pt idx="20">
                  <c:v>8.1999999999999993</c:v>
                </c:pt>
                <c:pt idx="21">
                  <c:v>8</c:v>
                </c:pt>
                <c:pt idx="22">
                  <c:v>7.29</c:v>
                </c:pt>
                <c:pt idx="23">
                  <c:v>5</c:v>
                </c:pt>
                <c:pt idx="24">
                  <c:v>4.5</c:v>
                </c:pt>
                <c:pt idx="25">
                  <c:v>4.33</c:v>
                </c:pt>
                <c:pt idx="26">
                  <c:v>4</c:v>
                </c:pt>
                <c:pt idx="27">
                  <c:v>3</c:v>
                </c:pt>
                <c:pt idx="28">
                  <c:v>2</c:v>
                </c:pt>
                <c:pt idx="29">
                  <c:v>1.33</c:v>
                </c:pt>
                <c:pt idx="30">
                  <c:v>1</c:v>
                </c:pt>
                <c:pt idx="31">
                  <c:v>1</c:v>
                </c:pt>
                <c:pt idx="32">
                  <c:v>1</c:v>
                </c:pt>
                <c:pt idx="33">
                  <c:v>0</c:v>
                </c:pt>
              </c:numCache>
            </c:numRef>
          </c:val>
          <c:extLst>
            <c:ext xmlns:c16="http://schemas.microsoft.com/office/drawing/2014/chart" uri="{C3380CC4-5D6E-409C-BE32-E72D297353CC}">
              <c16:uniqueId val="{00000000-110B-4956-926D-3047AC526149}"/>
            </c:ext>
          </c:extLst>
        </c:ser>
        <c:dLbls>
          <c:dLblPos val="outEnd"/>
          <c:showLegendKey val="0"/>
          <c:showVal val="1"/>
          <c:showCatName val="0"/>
          <c:showSerName val="0"/>
          <c:showPercent val="0"/>
          <c:showBubbleSize val="0"/>
        </c:dLbls>
        <c:gapWidth val="219"/>
        <c:overlap val="-27"/>
        <c:axId val="1218811680"/>
        <c:axId val="1218812160"/>
      </c:barChart>
      <c:catAx>
        <c:axId val="1218811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218812160"/>
        <c:crosses val="autoZero"/>
        <c:auto val="1"/>
        <c:lblAlgn val="ctr"/>
        <c:lblOffset val="100"/>
        <c:noMultiLvlLbl val="0"/>
      </c:catAx>
      <c:valAx>
        <c:axId val="1218812160"/>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2188116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0">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2251-0F8A-2951-3C50-46B74B7E36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AA5436-83F0-6BF7-89D3-ED3E1E6FFF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A2D956-9A14-20D9-CEF8-CB5AB3078108}"/>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5" name="Footer Placeholder 4">
            <a:extLst>
              <a:ext uri="{FF2B5EF4-FFF2-40B4-BE49-F238E27FC236}">
                <a16:creationId xmlns:a16="http://schemas.microsoft.com/office/drawing/2014/main" id="{DC261AB0-1DBB-8488-4A32-B1FCC43966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94428A-1416-313A-BF22-B8D34D970136}"/>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23026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D075-C0D1-4669-075F-3A5A7FB9BB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A10ECE-6056-6688-5642-08A2113354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408C2-9FEF-36A5-57F6-D8F27AC88025}"/>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5" name="Footer Placeholder 4">
            <a:extLst>
              <a:ext uri="{FF2B5EF4-FFF2-40B4-BE49-F238E27FC236}">
                <a16:creationId xmlns:a16="http://schemas.microsoft.com/office/drawing/2014/main" id="{182EFB2B-B764-D7FA-F4B2-7E66C586F3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BB2BDB-E44D-0EBB-6B3D-2F616B10E977}"/>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844475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831F-316E-9CF6-4EF6-F785697726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4918D6-C6B6-4122-6E5F-5914B9B3A0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1F7D36-8EA9-CCE2-68FC-1C5393AE398C}"/>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5" name="Footer Placeholder 4">
            <a:extLst>
              <a:ext uri="{FF2B5EF4-FFF2-40B4-BE49-F238E27FC236}">
                <a16:creationId xmlns:a16="http://schemas.microsoft.com/office/drawing/2014/main" id="{A03BF724-218C-998F-C19D-B4ACF73B9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7F895F-4047-F406-73CE-0690A2609C5D}"/>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822022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89F83-1CC8-E07D-2FB5-55F79DC717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B87578-94F4-EE0D-06A7-6423C3BBA5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976347-071F-5946-8D9B-A3405E57D3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A5CF0E-D2DA-B336-5D3C-B665D874DA0E}"/>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6" name="Footer Placeholder 5">
            <a:extLst>
              <a:ext uri="{FF2B5EF4-FFF2-40B4-BE49-F238E27FC236}">
                <a16:creationId xmlns:a16="http://schemas.microsoft.com/office/drawing/2014/main" id="{1E16607C-667E-2DA6-9C30-FE38A54296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2B60A5-7562-3E84-2B90-FB1C26865748}"/>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973941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2A66-389D-4779-2183-D3FEE219F1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7A09BB-7897-7CDF-BB7B-D67BB26E33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3E1406-4CCF-754A-1EFF-5731DF45D6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706B16-D73C-728F-254A-DF8DB5F27B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07FBA-5C68-99BA-A72F-98D5811867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B73DDD-A78E-DD4A-7FD4-B6004F079552}"/>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8" name="Footer Placeholder 7">
            <a:extLst>
              <a:ext uri="{FF2B5EF4-FFF2-40B4-BE49-F238E27FC236}">
                <a16:creationId xmlns:a16="http://schemas.microsoft.com/office/drawing/2014/main" id="{222FC6C1-0A28-8D7B-7C47-9A3BF51D03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7778D6-27B3-E750-5322-AD8B391EB385}"/>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965189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8A1C-95F5-257F-5C85-EA5B6E001E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48AA6F-BB7D-516B-6708-4C9580243BC5}"/>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4" name="Footer Placeholder 3">
            <a:extLst>
              <a:ext uri="{FF2B5EF4-FFF2-40B4-BE49-F238E27FC236}">
                <a16:creationId xmlns:a16="http://schemas.microsoft.com/office/drawing/2014/main" id="{226289FF-EC1D-0794-0C7D-0C4EA851AA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3DCD97A-A9ED-3230-F219-4628A863D46B}"/>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55841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29259A-EDF5-DAF4-BA55-972D0C8F7C42}"/>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3" name="Footer Placeholder 2">
            <a:extLst>
              <a:ext uri="{FF2B5EF4-FFF2-40B4-BE49-F238E27FC236}">
                <a16:creationId xmlns:a16="http://schemas.microsoft.com/office/drawing/2014/main" id="{A32819F6-97A7-94C1-2C48-182296C5B5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5A3A66-B271-DEBF-8587-D6A02318C5A2}"/>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001432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39CE-8207-4F00-3608-2EEA103DBD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506AE74-7B7C-8583-02E1-6706A3FFD8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8009CC-7F77-2035-EAC2-87B36AABE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7D81CC-37FD-07EF-45C2-E45C05EA25BC}"/>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6" name="Footer Placeholder 5">
            <a:extLst>
              <a:ext uri="{FF2B5EF4-FFF2-40B4-BE49-F238E27FC236}">
                <a16:creationId xmlns:a16="http://schemas.microsoft.com/office/drawing/2014/main" id="{A7E78272-A54F-BD6C-3EDF-74DC5992F2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C5416A-C5B7-0070-D47B-E48B420817D0}"/>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062598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183BF-E1F9-3645-E538-983081570F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FA18E5-CB4A-177E-939E-BF470A52E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578B97-9AA9-E09A-4365-D5472CB82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660A58-0CDB-43DD-B2BA-20A1B2504352}"/>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6" name="Footer Placeholder 5">
            <a:extLst>
              <a:ext uri="{FF2B5EF4-FFF2-40B4-BE49-F238E27FC236}">
                <a16:creationId xmlns:a16="http://schemas.microsoft.com/office/drawing/2014/main" id="{0C3F39CA-FC16-7C58-D7AD-1043D83EF1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91199B-1ECF-B56F-1F70-160CCC6B449F}"/>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40670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8A154-10A7-6190-A1E2-E10B9309E0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14042F-E31B-4C44-926C-4B293C39EB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D16EF6-157F-5768-D341-1EF39F48BA9D}"/>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5" name="Footer Placeholder 4">
            <a:extLst>
              <a:ext uri="{FF2B5EF4-FFF2-40B4-BE49-F238E27FC236}">
                <a16:creationId xmlns:a16="http://schemas.microsoft.com/office/drawing/2014/main" id="{8352CA5C-3665-7988-69B0-EFB1223E3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810D7C-F0DB-7FEA-0813-2A2271F4DC2A}"/>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451860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1F32D6-C595-0F6A-F570-EE3A1B71C9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693683-102E-9068-E94A-3101635487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15A8E-741B-ED82-E162-58FAF587330F}"/>
              </a:ext>
            </a:extLst>
          </p:cNvPr>
          <p:cNvSpPr>
            <a:spLocks noGrp="1"/>
          </p:cNvSpPr>
          <p:nvPr>
            <p:ph type="dt" sz="half" idx="10"/>
          </p:nvPr>
        </p:nvSpPr>
        <p:spPr/>
        <p:txBody>
          <a:bodyPr/>
          <a:lstStyle/>
          <a:p>
            <a:fld id="{C49F22D1-3B31-4360-B61C-4EDA096BEFFB}" type="datetimeFigureOut">
              <a:rPr lang="en-IN" smtClean="0"/>
              <a:t>14-09-2026</a:t>
            </a:fld>
            <a:endParaRPr lang="en-IN"/>
          </a:p>
        </p:txBody>
      </p:sp>
      <p:sp>
        <p:nvSpPr>
          <p:cNvPr id="5" name="Footer Placeholder 4">
            <a:extLst>
              <a:ext uri="{FF2B5EF4-FFF2-40B4-BE49-F238E27FC236}">
                <a16:creationId xmlns:a16="http://schemas.microsoft.com/office/drawing/2014/main" id="{BD805C60-F30A-6B36-267F-044CFFA803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83CC8A-8D90-3EC2-89E1-D582812DC56D}"/>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4187868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715E7D-4284-8C61-B663-5A82C50CCE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9DB5D2-E30C-9C0B-10C1-E7E161D58E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B2F317-6A04-D8BC-DD8A-55952237A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9F22D1-3B31-4360-B61C-4EDA096BEFFB}" type="datetimeFigureOut">
              <a:rPr lang="en-IN" smtClean="0"/>
              <a:t>14-09-2026</a:t>
            </a:fld>
            <a:endParaRPr lang="en-IN"/>
          </a:p>
        </p:txBody>
      </p:sp>
      <p:sp>
        <p:nvSpPr>
          <p:cNvPr id="5" name="Footer Placeholder 4">
            <a:extLst>
              <a:ext uri="{FF2B5EF4-FFF2-40B4-BE49-F238E27FC236}">
                <a16:creationId xmlns:a16="http://schemas.microsoft.com/office/drawing/2014/main" id="{0137B9B2-CE6B-3671-6C71-B212FF56FB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491C654-5529-272F-6462-5B31C4D502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4A0C0-D345-4483-828B-D2AE835C7887}" type="slidenum">
              <a:rPr lang="en-IN" smtClean="0"/>
              <a:t>‹#›</a:t>
            </a:fld>
            <a:endParaRPr lang="en-IN"/>
          </a:p>
        </p:txBody>
      </p:sp>
    </p:spTree>
    <p:extLst>
      <p:ext uri="{BB962C8B-B14F-4D97-AF65-F5344CB8AC3E}">
        <p14:creationId xmlns:p14="http://schemas.microsoft.com/office/powerpoint/2010/main" val="3923837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emf"/><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081830B2-73FD-149E-82FC-C41935C2894C}"/>
            </a:ext>
          </a:extLst>
        </p:cNvPr>
        <p:cNvGrpSpPr/>
        <p:nvPr/>
      </p:nvGrpSpPr>
      <p:grpSpPr>
        <a:xfrm>
          <a:off x="0" y="0"/>
          <a:ext cx="0" cy="0"/>
          <a:chOff x="0" y="0"/>
          <a:chExt cx="0" cy="0"/>
        </a:xfrm>
      </p:grpSpPr>
      <p:grpSp>
        <p:nvGrpSpPr>
          <p:cNvPr id="2010" name="Group 2009">
            <a:extLst>
              <a:ext uri="{FF2B5EF4-FFF2-40B4-BE49-F238E27FC236}">
                <a16:creationId xmlns:a16="http://schemas.microsoft.com/office/drawing/2014/main" id="{A5BBAD4C-A094-B2C4-768A-55360528E075}"/>
              </a:ext>
            </a:extLst>
          </p:cNvPr>
          <p:cNvGrpSpPr/>
          <p:nvPr/>
        </p:nvGrpSpPr>
        <p:grpSpPr>
          <a:xfrm>
            <a:off x="-4796" y="1932417"/>
            <a:ext cx="12191923" cy="3527893"/>
            <a:chOff x="-13" y="1665555"/>
            <a:chExt cx="12191923" cy="3527893"/>
          </a:xfrm>
          <a:gradFill>
            <a:gsLst>
              <a:gs pos="56000">
                <a:schemeClr val="bg1">
                  <a:alpha val="0"/>
                </a:schemeClr>
              </a:gs>
              <a:gs pos="0">
                <a:srgbClr val="00A8B5">
                  <a:alpha val="25000"/>
                </a:srgbClr>
              </a:gs>
              <a:gs pos="35778">
                <a:srgbClr val="C1ACD0">
                  <a:alpha val="0"/>
                </a:srgbClr>
              </a:gs>
              <a:gs pos="17000">
                <a:srgbClr val="774898">
                  <a:alpha val="25000"/>
                </a:srgbClr>
              </a:gs>
              <a:gs pos="85000">
                <a:srgbClr val="E62A76"/>
              </a:gs>
              <a:gs pos="100000">
                <a:srgbClr val="FBB901"/>
              </a:gs>
            </a:gsLst>
            <a:lin ang="0" scaled="1"/>
          </a:gradFill>
        </p:grpSpPr>
        <p:sp>
          <p:nvSpPr>
            <p:cNvPr id="2011" name="Freeform: Shape 2010">
              <a:extLst>
                <a:ext uri="{FF2B5EF4-FFF2-40B4-BE49-F238E27FC236}">
                  <a16:creationId xmlns:a16="http://schemas.microsoft.com/office/drawing/2014/main" id="{B638C324-7146-FBD3-B55E-5DA90D3CD49F}"/>
                </a:ext>
              </a:extLst>
            </p:cNvPr>
            <p:cNvSpPr/>
            <p:nvPr/>
          </p:nvSpPr>
          <p:spPr>
            <a:xfrm>
              <a:off x="-13" y="1665555"/>
              <a:ext cx="12191923" cy="2941639"/>
            </a:xfrm>
            <a:custGeom>
              <a:avLst/>
              <a:gdLst>
                <a:gd name="connsiteX0" fmla="*/ 12190654 w 12191923"/>
                <a:gd name="connsiteY0" fmla="*/ 2933791 h 2941639"/>
                <a:gd name="connsiteX1" fmla="*/ 11614128 w 12191923"/>
                <a:gd name="connsiteY1" fmla="*/ 2041317 h 2941639"/>
                <a:gd name="connsiteX2" fmla="*/ 10838835 w 12191923"/>
                <a:gd name="connsiteY2" fmla="*/ 937509 h 2941639"/>
                <a:gd name="connsiteX3" fmla="*/ 9821219 w 12191923"/>
                <a:gd name="connsiteY3" fmla="*/ 116385 h 2941639"/>
                <a:gd name="connsiteX4" fmla="*/ 9188865 w 12191923"/>
                <a:gd name="connsiteY4" fmla="*/ 9715 h 2941639"/>
                <a:gd name="connsiteX5" fmla="*/ 8441255 w 12191923"/>
                <a:gd name="connsiteY5" fmla="*/ 342699 h 2941639"/>
                <a:gd name="connsiteX6" fmla="*/ 7530689 w 12191923"/>
                <a:gd name="connsiteY6" fmla="*/ 1633762 h 2941639"/>
                <a:gd name="connsiteX7" fmla="*/ 6860576 w 12191923"/>
                <a:gd name="connsiteY7" fmla="*/ 2240761 h 2941639"/>
                <a:gd name="connsiteX8" fmla="*/ 6023415 w 12191923"/>
                <a:gd name="connsiteY8" fmla="*/ 2680632 h 2941639"/>
                <a:gd name="connsiteX9" fmla="*/ 4079494 w 12191923"/>
                <a:gd name="connsiteY9" fmla="*/ 2584852 h 2941639"/>
                <a:gd name="connsiteX10" fmla="*/ 3213702 w 12191923"/>
                <a:gd name="connsiteY10" fmla="*/ 2143328 h 2941639"/>
                <a:gd name="connsiteX11" fmla="*/ 2672524 w 12191923"/>
                <a:gd name="connsiteY11" fmla="*/ 1588797 h 2941639"/>
                <a:gd name="connsiteX12" fmla="*/ 2171003 w 12191923"/>
                <a:gd name="connsiteY12" fmla="*/ 1045290 h 2941639"/>
                <a:gd name="connsiteX13" fmla="*/ 1431330 w 12191923"/>
                <a:gd name="connsiteY13" fmla="*/ 698247 h 2941639"/>
                <a:gd name="connsiteX14" fmla="*/ 723023 w 12191923"/>
                <a:gd name="connsiteY14" fmla="*/ 743375 h 2941639"/>
                <a:gd name="connsiteX15" fmla="*/ 208175 w 12191923"/>
                <a:gd name="connsiteY15" fmla="*/ 1036459 h 2941639"/>
                <a:gd name="connsiteX16" fmla="*/ 1715 w 12191923"/>
                <a:gd name="connsiteY16" fmla="*/ 1189421 h 2941639"/>
                <a:gd name="connsiteX17" fmla="*/ 5805 w 12191923"/>
                <a:gd name="connsiteY17" fmla="*/ 1196437 h 2941639"/>
                <a:gd name="connsiteX18" fmla="*/ 463012 w 12191923"/>
                <a:gd name="connsiteY18" fmla="*/ 875073 h 2941639"/>
                <a:gd name="connsiteX19" fmla="*/ 1113108 w 12191923"/>
                <a:gd name="connsiteY19" fmla="*/ 677607 h 2941639"/>
                <a:gd name="connsiteX20" fmla="*/ 1960020 w 12191923"/>
                <a:gd name="connsiteY20" fmla="*/ 906982 h 2941639"/>
                <a:gd name="connsiteX21" fmla="*/ 2522461 w 12191923"/>
                <a:gd name="connsiteY21" fmla="*/ 1417957 h 2941639"/>
                <a:gd name="connsiteX22" fmla="*/ 3013147 w 12191923"/>
                <a:gd name="connsiteY22" fmla="*/ 1983649 h 2941639"/>
                <a:gd name="connsiteX23" fmla="*/ 3716361 w 12191923"/>
                <a:gd name="connsiteY23" fmla="*/ 2438255 h 2941639"/>
                <a:gd name="connsiteX24" fmla="*/ 5553098 w 12191923"/>
                <a:gd name="connsiteY24" fmla="*/ 2799681 h 2941639"/>
                <a:gd name="connsiteX25" fmla="*/ 7160134 w 12191923"/>
                <a:gd name="connsiteY25" fmla="*/ 2022980 h 2941639"/>
                <a:gd name="connsiteX26" fmla="*/ 7462835 w 12191923"/>
                <a:gd name="connsiteY26" fmla="*/ 1734500 h 2941639"/>
                <a:gd name="connsiteX27" fmla="*/ 7675254 w 12191923"/>
                <a:gd name="connsiteY27" fmla="*/ 1432124 h 2941639"/>
                <a:gd name="connsiteX28" fmla="*/ 8101445 w 12191923"/>
                <a:gd name="connsiteY28" fmla="*/ 724251 h 2941639"/>
                <a:gd name="connsiteX29" fmla="*/ 8708201 w 12191923"/>
                <a:gd name="connsiteY29" fmla="*/ 183128 h 2941639"/>
                <a:gd name="connsiteX30" fmla="*/ 9535231 w 12191923"/>
                <a:gd name="connsiteY30" fmla="*/ 29543 h 2941639"/>
                <a:gd name="connsiteX31" fmla="*/ 10630507 w 12191923"/>
                <a:gd name="connsiteY31" fmla="*/ 719050 h 2941639"/>
                <a:gd name="connsiteX32" fmla="*/ 11462087 w 12191923"/>
                <a:gd name="connsiteY32" fmla="*/ 1814245 h 2941639"/>
                <a:gd name="connsiteX33" fmla="*/ 12073069 w 12191923"/>
                <a:gd name="connsiteY33" fmla="*/ 2787844 h 2941639"/>
                <a:gd name="connsiteX34" fmla="*/ 12185128 w 12191923"/>
                <a:gd name="connsiteY34" fmla="*/ 2939533 h 2941639"/>
                <a:gd name="connsiteX35" fmla="*/ 12190871 w 12191923"/>
                <a:gd name="connsiteY35" fmla="*/ 2933791 h 294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91923" h="2941639">
                  <a:moveTo>
                    <a:pt x="12190654" y="2933791"/>
                  </a:moveTo>
                  <a:cubicBezTo>
                    <a:pt x="11969406" y="2658746"/>
                    <a:pt x="11799459" y="2340578"/>
                    <a:pt x="11614128" y="2041317"/>
                  </a:cubicBezTo>
                  <a:cubicBezTo>
                    <a:pt x="11377439" y="1659061"/>
                    <a:pt x="11130159" y="1280895"/>
                    <a:pt x="10838835" y="937509"/>
                  </a:cubicBezTo>
                  <a:cubicBezTo>
                    <a:pt x="10557046" y="605446"/>
                    <a:pt x="10225416" y="291938"/>
                    <a:pt x="9821219" y="116385"/>
                  </a:cubicBezTo>
                  <a:cubicBezTo>
                    <a:pt x="9620203" y="29028"/>
                    <a:pt x="9408408" y="-24469"/>
                    <a:pt x="9188865" y="9715"/>
                  </a:cubicBezTo>
                  <a:cubicBezTo>
                    <a:pt x="8919699" y="51456"/>
                    <a:pt x="8656004" y="177033"/>
                    <a:pt x="8441255" y="342699"/>
                  </a:cubicBezTo>
                  <a:cubicBezTo>
                    <a:pt x="8015606" y="670970"/>
                    <a:pt x="7839917" y="1211715"/>
                    <a:pt x="7530689" y="1633762"/>
                  </a:cubicBezTo>
                  <a:cubicBezTo>
                    <a:pt x="7351235" y="1878685"/>
                    <a:pt x="7107287" y="2067348"/>
                    <a:pt x="6860576" y="2240761"/>
                  </a:cubicBezTo>
                  <a:cubicBezTo>
                    <a:pt x="6602108" y="2422436"/>
                    <a:pt x="6323082" y="2578215"/>
                    <a:pt x="6023415" y="2680632"/>
                  </a:cubicBezTo>
                  <a:cubicBezTo>
                    <a:pt x="5384155" y="2899010"/>
                    <a:pt x="4702204" y="2819536"/>
                    <a:pt x="4079494" y="2584852"/>
                  </a:cubicBezTo>
                  <a:cubicBezTo>
                    <a:pt x="3781263" y="2472466"/>
                    <a:pt x="3470923" y="2334132"/>
                    <a:pt x="3213702" y="2143328"/>
                  </a:cubicBezTo>
                  <a:cubicBezTo>
                    <a:pt x="3004588" y="1988308"/>
                    <a:pt x="2835698" y="1789677"/>
                    <a:pt x="2672524" y="1588797"/>
                  </a:cubicBezTo>
                  <a:cubicBezTo>
                    <a:pt x="2517043" y="1397398"/>
                    <a:pt x="2362510" y="1202532"/>
                    <a:pt x="2171003" y="1045290"/>
                  </a:cubicBezTo>
                  <a:cubicBezTo>
                    <a:pt x="1957880" y="870387"/>
                    <a:pt x="1701390" y="752910"/>
                    <a:pt x="1431330" y="698247"/>
                  </a:cubicBezTo>
                  <a:cubicBezTo>
                    <a:pt x="1194776" y="650303"/>
                    <a:pt x="950882" y="662032"/>
                    <a:pt x="723023" y="743375"/>
                  </a:cubicBezTo>
                  <a:cubicBezTo>
                    <a:pt x="535363" y="810362"/>
                    <a:pt x="367611" y="918792"/>
                    <a:pt x="208175" y="1036459"/>
                  </a:cubicBezTo>
                  <a:cubicBezTo>
                    <a:pt x="139265" y="1087275"/>
                    <a:pt x="71546" y="1139771"/>
                    <a:pt x="1715" y="1189421"/>
                  </a:cubicBezTo>
                  <a:cubicBezTo>
                    <a:pt x="-2537" y="1192428"/>
                    <a:pt x="1526" y="1199471"/>
                    <a:pt x="5805" y="1196437"/>
                  </a:cubicBezTo>
                  <a:cubicBezTo>
                    <a:pt x="157874" y="1088521"/>
                    <a:pt x="301599" y="969418"/>
                    <a:pt x="463012" y="875073"/>
                  </a:cubicBezTo>
                  <a:cubicBezTo>
                    <a:pt x="661752" y="758923"/>
                    <a:pt x="881620" y="684270"/>
                    <a:pt x="1113108" y="677607"/>
                  </a:cubicBezTo>
                  <a:cubicBezTo>
                    <a:pt x="1405651" y="669210"/>
                    <a:pt x="1709029" y="758869"/>
                    <a:pt x="1960020" y="906982"/>
                  </a:cubicBezTo>
                  <a:cubicBezTo>
                    <a:pt x="2181079" y="1037299"/>
                    <a:pt x="2359260" y="1222468"/>
                    <a:pt x="2522461" y="1417957"/>
                  </a:cubicBezTo>
                  <a:cubicBezTo>
                    <a:pt x="2682466" y="1609573"/>
                    <a:pt x="2832448" y="1810452"/>
                    <a:pt x="3013147" y="1983649"/>
                  </a:cubicBezTo>
                  <a:cubicBezTo>
                    <a:pt x="3218226" y="2180221"/>
                    <a:pt x="3461388" y="2316444"/>
                    <a:pt x="3716361" y="2438255"/>
                  </a:cubicBezTo>
                  <a:cubicBezTo>
                    <a:pt x="4283651" y="2709291"/>
                    <a:pt x="4921205" y="2882026"/>
                    <a:pt x="5553098" y="2799681"/>
                  </a:cubicBezTo>
                  <a:cubicBezTo>
                    <a:pt x="6157308" y="2720965"/>
                    <a:pt x="6695559" y="2402689"/>
                    <a:pt x="7160134" y="2022980"/>
                  </a:cubicBezTo>
                  <a:cubicBezTo>
                    <a:pt x="7268836" y="1934160"/>
                    <a:pt x="7373257" y="1843093"/>
                    <a:pt x="7462835" y="1734500"/>
                  </a:cubicBezTo>
                  <a:cubicBezTo>
                    <a:pt x="7541388" y="1639369"/>
                    <a:pt x="7610406" y="1536762"/>
                    <a:pt x="7675254" y="1432124"/>
                  </a:cubicBezTo>
                  <a:cubicBezTo>
                    <a:pt x="7820225" y="1197954"/>
                    <a:pt x="7943797" y="950511"/>
                    <a:pt x="8101445" y="724251"/>
                  </a:cubicBezTo>
                  <a:cubicBezTo>
                    <a:pt x="8261423" y="494659"/>
                    <a:pt x="8459242" y="312686"/>
                    <a:pt x="8708201" y="183128"/>
                  </a:cubicBezTo>
                  <a:cubicBezTo>
                    <a:pt x="8959788" y="52215"/>
                    <a:pt x="9252277" y="-36279"/>
                    <a:pt x="9535231" y="29543"/>
                  </a:cubicBezTo>
                  <a:cubicBezTo>
                    <a:pt x="9964755" y="129360"/>
                    <a:pt x="10328889" y="407817"/>
                    <a:pt x="10630507" y="719050"/>
                  </a:cubicBezTo>
                  <a:cubicBezTo>
                    <a:pt x="10950137" y="1048947"/>
                    <a:pt x="11215159" y="1428250"/>
                    <a:pt x="11462087" y="1814245"/>
                  </a:cubicBezTo>
                  <a:cubicBezTo>
                    <a:pt x="11668357" y="2136800"/>
                    <a:pt x="11855639" y="2472466"/>
                    <a:pt x="12073069" y="2787844"/>
                  </a:cubicBezTo>
                  <a:cubicBezTo>
                    <a:pt x="12108769" y="2839608"/>
                    <a:pt x="12145690" y="2890532"/>
                    <a:pt x="12185128" y="2939533"/>
                  </a:cubicBezTo>
                  <a:cubicBezTo>
                    <a:pt x="12188406" y="2943596"/>
                    <a:pt x="12194122" y="2937827"/>
                    <a:pt x="12190871" y="2933791"/>
                  </a:cubicBezTo>
                  <a:close/>
                </a:path>
              </a:pathLst>
            </a:custGeom>
            <a:grpFill/>
            <a:ln w="2709" cap="flat">
              <a:noFill/>
              <a:prstDash val="solid"/>
              <a:miter/>
            </a:ln>
          </p:spPr>
          <p:txBody>
            <a:bodyPr rtlCol="0" anchor="ctr"/>
            <a:lstStyle/>
            <a:p>
              <a:endParaRPr lang="en-IN"/>
            </a:p>
          </p:txBody>
        </p:sp>
        <p:sp>
          <p:nvSpPr>
            <p:cNvPr id="2012" name="Freeform: Shape 2011">
              <a:extLst>
                <a:ext uri="{FF2B5EF4-FFF2-40B4-BE49-F238E27FC236}">
                  <a16:creationId xmlns:a16="http://schemas.microsoft.com/office/drawing/2014/main" id="{1E60B9B9-AE2F-25C4-17BB-3DB94004CADF}"/>
                </a:ext>
              </a:extLst>
            </p:cNvPr>
            <p:cNvSpPr/>
            <p:nvPr/>
          </p:nvSpPr>
          <p:spPr>
            <a:xfrm>
              <a:off x="353" y="1854302"/>
              <a:ext cx="12191383" cy="2588822"/>
            </a:xfrm>
            <a:custGeom>
              <a:avLst/>
              <a:gdLst>
                <a:gd name="connsiteX0" fmla="*/ 12189827 w 12191383"/>
                <a:gd name="connsiteY0" fmla="*/ 2572010 h 2588822"/>
                <a:gd name="connsiteX1" fmla="*/ 11873285 w 12191383"/>
                <a:gd name="connsiteY1" fmla="*/ 2193384 h 2588822"/>
                <a:gd name="connsiteX2" fmla="*/ 11499074 w 12191383"/>
                <a:gd name="connsiteY2" fmla="*/ 1677289 h 2588822"/>
                <a:gd name="connsiteX3" fmla="*/ 10570548 w 12191383"/>
                <a:gd name="connsiteY3" fmla="*/ 598862 h 2588822"/>
                <a:gd name="connsiteX4" fmla="*/ 9968938 w 12191383"/>
                <a:gd name="connsiteY4" fmla="*/ 181121 h 2588822"/>
                <a:gd name="connsiteX5" fmla="*/ 9222900 w 12191383"/>
                <a:gd name="connsiteY5" fmla="*/ 2995 h 2588822"/>
                <a:gd name="connsiteX6" fmla="*/ 8518630 w 12191383"/>
                <a:gd name="connsiteY6" fmla="*/ 247323 h 2588822"/>
                <a:gd name="connsiteX7" fmla="*/ 7980920 w 12191383"/>
                <a:gd name="connsiteY7" fmla="*/ 721188 h 2588822"/>
                <a:gd name="connsiteX8" fmla="*/ 7564371 w 12191383"/>
                <a:gd name="connsiteY8" fmla="*/ 1311339 h 2588822"/>
                <a:gd name="connsiteX9" fmla="*/ 7325135 w 12191383"/>
                <a:gd name="connsiteY9" fmla="*/ 1596379 h 2588822"/>
                <a:gd name="connsiteX10" fmla="*/ 7007781 w 12191383"/>
                <a:gd name="connsiteY10" fmla="*/ 1843280 h 2588822"/>
                <a:gd name="connsiteX11" fmla="*/ 5330345 w 12191383"/>
                <a:gd name="connsiteY11" fmla="*/ 2547117 h 2588822"/>
                <a:gd name="connsiteX12" fmla="*/ 3569831 w 12191383"/>
                <a:gd name="connsiteY12" fmla="*/ 2296234 h 2588822"/>
                <a:gd name="connsiteX13" fmla="*/ 2900125 w 12191383"/>
                <a:gd name="connsiteY13" fmla="*/ 1873184 h 2588822"/>
                <a:gd name="connsiteX14" fmla="*/ 2456136 w 12191383"/>
                <a:gd name="connsiteY14" fmla="*/ 1361397 h 2588822"/>
                <a:gd name="connsiteX15" fmla="*/ 1988961 w 12191383"/>
                <a:gd name="connsiteY15" fmla="*/ 897472 h 2588822"/>
                <a:gd name="connsiteX16" fmla="*/ 1272285 w 12191383"/>
                <a:gd name="connsiteY16" fmla="*/ 610509 h 2588822"/>
                <a:gd name="connsiteX17" fmla="*/ 659868 w 12191383"/>
                <a:gd name="connsiteY17" fmla="*/ 674246 h 2588822"/>
                <a:gd name="connsiteX18" fmla="*/ 192856 w 12191383"/>
                <a:gd name="connsiteY18" fmla="*/ 930519 h 2588822"/>
                <a:gd name="connsiteX19" fmla="*/ 2242 w 12191383"/>
                <a:gd name="connsiteY19" fmla="*/ 1059536 h 2588822"/>
                <a:gd name="connsiteX20" fmla="*/ 7362 w 12191383"/>
                <a:gd name="connsiteY20" fmla="*/ 1068312 h 2588822"/>
                <a:gd name="connsiteX21" fmla="*/ 425942 w 12191383"/>
                <a:gd name="connsiteY21" fmla="*/ 794730 h 2588822"/>
                <a:gd name="connsiteX22" fmla="*/ 1006667 w 12191383"/>
                <a:gd name="connsiteY22" fmla="*/ 609941 h 2588822"/>
                <a:gd name="connsiteX23" fmla="*/ 1783504 w 12191383"/>
                <a:gd name="connsiteY23" fmla="*/ 784328 h 2588822"/>
                <a:gd name="connsiteX24" fmla="*/ 2327282 w 12191383"/>
                <a:gd name="connsiteY24" fmla="*/ 1225012 h 2588822"/>
                <a:gd name="connsiteX25" fmla="*/ 3281704 w 12191383"/>
                <a:gd name="connsiteY25" fmla="*/ 2167299 h 2588822"/>
                <a:gd name="connsiteX26" fmla="*/ 4882916 w 12191383"/>
                <a:gd name="connsiteY26" fmla="*/ 2588073 h 2588822"/>
                <a:gd name="connsiteX27" fmla="*/ 6549680 w 12191383"/>
                <a:gd name="connsiteY27" fmla="*/ 2131787 h 2588822"/>
                <a:gd name="connsiteX28" fmla="*/ 7251024 w 12191383"/>
                <a:gd name="connsiteY28" fmla="*/ 1678454 h 2588822"/>
                <a:gd name="connsiteX29" fmla="*/ 7686047 w 12191383"/>
                <a:gd name="connsiteY29" fmla="*/ 1155669 h 2588822"/>
                <a:gd name="connsiteX30" fmla="*/ 8141466 w 12191383"/>
                <a:gd name="connsiteY30" fmla="*/ 551188 h 2588822"/>
                <a:gd name="connsiteX31" fmla="*/ 8792211 w 12191383"/>
                <a:gd name="connsiteY31" fmla="*/ 124861 h 2588822"/>
                <a:gd name="connsiteX32" fmla="*/ 9186846 w 12191383"/>
                <a:gd name="connsiteY32" fmla="*/ 17081 h 2588822"/>
                <a:gd name="connsiteX33" fmla="*/ 9572651 w 12191383"/>
                <a:gd name="connsiteY33" fmla="*/ 45820 h 2588822"/>
                <a:gd name="connsiteX34" fmla="*/ 10322374 w 12191383"/>
                <a:gd name="connsiteY34" fmla="*/ 410036 h 2588822"/>
                <a:gd name="connsiteX35" fmla="*/ 11323764 w 12191383"/>
                <a:gd name="connsiteY35" fmla="*/ 1458315 h 2588822"/>
                <a:gd name="connsiteX36" fmla="*/ 12038869 w 12191383"/>
                <a:gd name="connsiteY36" fmla="*/ 2422217 h 2588822"/>
                <a:gd name="connsiteX37" fmla="*/ 12182568 w 12191383"/>
                <a:gd name="connsiteY37" fmla="*/ 2579324 h 2588822"/>
                <a:gd name="connsiteX38" fmla="*/ 12189773 w 12191383"/>
                <a:gd name="connsiteY38" fmla="*/ 2572145 h 25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383" h="2588822">
                  <a:moveTo>
                    <a:pt x="12189827" y="2572010"/>
                  </a:moveTo>
                  <a:cubicBezTo>
                    <a:pt x="12071726" y="2457431"/>
                    <a:pt x="11971314" y="2325028"/>
                    <a:pt x="11873285" y="2193384"/>
                  </a:cubicBezTo>
                  <a:cubicBezTo>
                    <a:pt x="11746354" y="2022950"/>
                    <a:pt x="11624325" y="1848941"/>
                    <a:pt x="11499074" y="1677289"/>
                  </a:cubicBezTo>
                  <a:cubicBezTo>
                    <a:pt x="11219614" y="1294301"/>
                    <a:pt x="10925446" y="915648"/>
                    <a:pt x="10570548" y="598862"/>
                  </a:cubicBezTo>
                  <a:cubicBezTo>
                    <a:pt x="10388006" y="435959"/>
                    <a:pt x="10188617" y="290066"/>
                    <a:pt x="9968938" y="181121"/>
                  </a:cubicBezTo>
                  <a:cubicBezTo>
                    <a:pt x="9742163" y="68736"/>
                    <a:pt x="9479064" y="-20246"/>
                    <a:pt x="9222900" y="2995"/>
                  </a:cubicBezTo>
                  <a:cubicBezTo>
                    <a:pt x="8974915" y="25478"/>
                    <a:pt x="8732619" y="123615"/>
                    <a:pt x="8518630" y="247323"/>
                  </a:cubicBezTo>
                  <a:cubicBezTo>
                    <a:pt x="8307105" y="369568"/>
                    <a:pt x="8131742" y="529518"/>
                    <a:pt x="7980920" y="721188"/>
                  </a:cubicBezTo>
                  <a:cubicBezTo>
                    <a:pt x="7831939" y="910582"/>
                    <a:pt x="7706389" y="1116852"/>
                    <a:pt x="7564371" y="1311339"/>
                  </a:cubicBezTo>
                  <a:cubicBezTo>
                    <a:pt x="7491235" y="1411562"/>
                    <a:pt x="7413359" y="1508887"/>
                    <a:pt x="7325135" y="1596379"/>
                  </a:cubicBezTo>
                  <a:cubicBezTo>
                    <a:pt x="7229381" y="1691347"/>
                    <a:pt x="7119272" y="1768059"/>
                    <a:pt x="7007781" y="1843280"/>
                  </a:cubicBezTo>
                  <a:cubicBezTo>
                    <a:pt x="6506097" y="2181872"/>
                    <a:pt x="5933985" y="2459381"/>
                    <a:pt x="5330345" y="2547117"/>
                  </a:cubicBezTo>
                  <a:cubicBezTo>
                    <a:pt x="4734722" y="2633796"/>
                    <a:pt x="4120327" y="2534494"/>
                    <a:pt x="3569831" y="2296234"/>
                  </a:cubicBezTo>
                  <a:cubicBezTo>
                    <a:pt x="3323580" y="2189646"/>
                    <a:pt x="3094720" y="2059789"/>
                    <a:pt x="2900125" y="1873184"/>
                  </a:cubicBezTo>
                  <a:cubicBezTo>
                    <a:pt x="2736707" y="1716457"/>
                    <a:pt x="2599455" y="1536001"/>
                    <a:pt x="2456136" y="1361397"/>
                  </a:cubicBezTo>
                  <a:cubicBezTo>
                    <a:pt x="2316583" y="1191370"/>
                    <a:pt x="2168523" y="1026408"/>
                    <a:pt x="1988961" y="897472"/>
                  </a:cubicBezTo>
                  <a:cubicBezTo>
                    <a:pt x="1779712" y="747246"/>
                    <a:pt x="1527285" y="646671"/>
                    <a:pt x="1272285" y="610509"/>
                  </a:cubicBezTo>
                  <a:cubicBezTo>
                    <a:pt x="1066015" y="580849"/>
                    <a:pt x="855607" y="602735"/>
                    <a:pt x="659868" y="674246"/>
                  </a:cubicBezTo>
                  <a:cubicBezTo>
                    <a:pt x="491927" y="735734"/>
                    <a:pt x="339832" y="830079"/>
                    <a:pt x="192856" y="930519"/>
                  </a:cubicBezTo>
                  <a:cubicBezTo>
                    <a:pt x="129499" y="973859"/>
                    <a:pt x="66819" y="1018092"/>
                    <a:pt x="2242" y="1059536"/>
                  </a:cubicBezTo>
                  <a:cubicBezTo>
                    <a:pt x="-3175" y="1063057"/>
                    <a:pt x="1836" y="1071860"/>
                    <a:pt x="7362" y="1068312"/>
                  </a:cubicBezTo>
                  <a:cubicBezTo>
                    <a:pt x="147701" y="978220"/>
                    <a:pt x="280429" y="876886"/>
                    <a:pt x="425942" y="794730"/>
                  </a:cubicBezTo>
                  <a:cubicBezTo>
                    <a:pt x="605043" y="693722"/>
                    <a:pt x="800370" y="623647"/>
                    <a:pt x="1006667" y="609941"/>
                  </a:cubicBezTo>
                  <a:cubicBezTo>
                    <a:pt x="1273884" y="592198"/>
                    <a:pt x="1545976" y="664467"/>
                    <a:pt x="1783504" y="784328"/>
                  </a:cubicBezTo>
                  <a:cubicBezTo>
                    <a:pt x="1994785" y="890917"/>
                    <a:pt x="2171340" y="1048972"/>
                    <a:pt x="2327282" y="1225012"/>
                  </a:cubicBezTo>
                  <a:cubicBezTo>
                    <a:pt x="2626976" y="1563279"/>
                    <a:pt x="2874067" y="1945968"/>
                    <a:pt x="3281704" y="2167299"/>
                  </a:cubicBezTo>
                  <a:cubicBezTo>
                    <a:pt x="3770928" y="2432944"/>
                    <a:pt x="4325242" y="2585500"/>
                    <a:pt x="4882916" y="2588073"/>
                  </a:cubicBezTo>
                  <a:cubicBezTo>
                    <a:pt x="5471550" y="2590781"/>
                    <a:pt x="6034127" y="2406831"/>
                    <a:pt x="6549680" y="2131787"/>
                  </a:cubicBezTo>
                  <a:cubicBezTo>
                    <a:pt x="6791868" y="2002580"/>
                    <a:pt x="7041477" y="1857067"/>
                    <a:pt x="7251024" y="1678454"/>
                  </a:cubicBezTo>
                  <a:cubicBezTo>
                    <a:pt x="7424383" y="1530584"/>
                    <a:pt x="7558222" y="1342571"/>
                    <a:pt x="7686047" y="1155669"/>
                  </a:cubicBezTo>
                  <a:cubicBezTo>
                    <a:pt x="7828336" y="947557"/>
                    <a:pt x="7965506" y="733107"/>
                    <a:pt x="8141466" y="551188"/>
                  </a:cubicBezTo>
                  <a:cubicBezTo>
                    <a:pt x="8323330" y="363012"/>
                    <a:pt x="8550240" y="222646"/>
                    <a:pt x="8792211" y="124861"/>
                  </a:cubicBezTo>
                  <a:cubicBezTo>
                    <a:pt x="8918601" y="73747"/>
                    <a:pt x="9051247" y="33766"/>
                    <a:pt x="9186846" y="17081"/>
                  </a:cubicBezTo>
                  <a:cubicBezTo>
                    <a:pt x="9317949" y="828"/>
                    <a:pt x="9444609" y="14859"/>
                    <a:pt x="9572651" y="45820"/>
                  </a:cubicBezTo>
                  <a:cubicBezTo>
                    <a:pt x="9845177" y="111696"/>
                    <a:pt x="10097278" y="244912"/>
                    <a:pt x="10322374" y="410036"/>
                  </a:cubicBezTo>
                  <a:cubicBezTo>
                    <a:pt x="10713568" y="696999"/>
                    <a:pt x="11032061" y="1073919"/>
                    <a:pt x="11323764" y="1458315"/>
                  </a:cubicBezTo>
                  <a:cubicBezTo>
                    <a:pt x="11565329" y="1776672"/>
                    <a:pt x="11782922" y="2115047"/>
                    <a:pt x="12038869" y="2422217"/>
                  </a:cubicBezTo>
                  <a:cubicBezTo>
                    <a:pt x="12084323" y="2476771"/>
                    <a:pt x="12131589" y="2529835"/>
                    <a:pt x="12182568" y="2579324"/>
                  </a:cubicBezTo>
                  <a:cubicBezTo>
                    <a:pt x="12187281" y="2583874"/>
                    <a:pt x="12194459" y="2576615"/>
                    <a:pt x="12189773" y="2572145"/>
                  </a:cubicBezTo>
                  <a:close/>
                </a:path>
              </a:pathLst>
            </a:custGeom>
            <a:grpFill/>
            <a:ln w="2709" cap="flat">
              <a:noFill/>
              <a:prstDash val="solid"/>
              <a:miter/>
            </a:ln>
          </p:spPr>
          <p:txBody>
            <a:bodyPr rtlCol="0" anchor="ctr"/>
            <a:lstStyle/>
            <a:p>
              <a:endParaRPr lang="en-IN"/>
            </a:p>
          </p:txBody>
        </p:sp>
        <p:sp>
          <p:nvSpPr>
            <p:cNvPr id="2013" name="Freeform: Shape 2012">
              <a:extLst>
                <a:ext uri="{FF2B5EF4-FFF2-40B4-BE49-F238E27FC236}">
                  <a16:creationId xmlns:a16="http://schemas.microsoft.com/office/drawing/2014/main" id="{D344C32F-24F8-9C1E-463E-4A94F58068E4}"/>
                </a:ext>
              </a:extLst>
            </p:cNvPr>
            <p:cNvSpPr/>
            <p:nvPr/>
          </p:nvSpPr>
          <p:spPr>
            <a:xfrm>
              <a:off x="511" y="2044589"/>
              <a:ext cx="12190715" cy="2372962"/>
            </a:xfrm>
            <a:custGeom>
              <a:avLst/>
              <a:gdLst>
                <a:gd name="connsiteX0" fmla="*/ 12187963 w 12190715"/>
                <a:gd name="connsiteY0" fmla="*/ 2207713 h 2372962"/>
                <a:gd name="connsiteX1" fmla="*/ 11836451 w 12190715"/>
                <a:gd name="connsiteY1" fmla="*/ 1869420 h 2372962"/>
                <a:gd name="connsiteX2" fmla="*/ 11435207 w 12190715"/>
                <a:gd name="connsiteY2" fmla="*/ 1404710 h 2372962"/>
                <a:gd name="connsiteX3" fmla="*/ 10457165 w 12190715"/>
                <a:gd name="connsiteY3" fmla="*/ 450559 h 2372962"/>
                <a:gd name="connsiteX4" fmla="*/ 9091477 w 12190715"/>
                <a:gd name="connsiteY4" fmla="*/ 15808 h 2372962"/>
                <a:gd name="connsiteX5" fmla="*/ 7838472 w 12190715"/>
                <a:gd name="connsiteY5" fmla="*/ 742615 h 2372962"/>
                <a:gd name="connsiteX6" fmla="*/ 7388254 w 12190715"/>
                <a:gd name="connsiteY6" fmla="*/ 1274284 h 2372962"/>
                <a:gd name="connsiteX7" fmla="*/ 7121010 w 12190715"/>
                <a:gd name="connsiteY7" fmla="*/ 1508807 h 2372962"/>
                <a:gd name="connsiteX8" fmla="*/ 6785995 w 12190715"/>
                <a:gd name="connsiteY8" fmla="*/ 1699691 h 2372962"/>
                <a:gd name="connsiteX9" fmla="*/ 5975190 w 12190715"/>
                <a:gd name="connsiteY9" fmla="*/ 2058137 h 2372962"/>
                <a:gd name="connsiteX10" fmla="*/ 5130716 w 12190715"/>
                <a:gd name="connsiteY10" fmla="*/ 2303927 h 2372962"/>
                <a:gd name="connsiteX11" fmla="*/ 3456232 w 12190715"/>
                <a:gd name="connsiteY11" fmla="*/ 2176617 h 2372962"/>
                <a:gd name="connsiteX12" fmla="*/ 2807952 w 12190715"/>
                <a:gd name="connsiteY12" fmla="*/ 1793359 h 2372962"/>
                <a:gd name="connsiteX13" fmla="*/ 2383981 w 12190715"/>
                <a:gd name="connsiteY13" fmla="*/ 1310988 h 2372962"/>
                <a:gd name="connsiteX14" fmla="*/ 1938747 w 12190715"/>
                <a:gd name="connsiteY14" fmla="*/ 848255 h 2372962"/>
                <a:gd name="connsiteX15" fmla="*/ 1275920 w 12190715"/>
                <a:gd name="connsiteY15" fmla="*/ 548751 h 2372962"/>
                <a:gd name="connsiteX16" fmla="*/ 671331 w 12190715"/>
                <a:gd name="connsiteY16" fmla="*/ 577193 h 2372962"/>
                <a:gd name="connsiteX17" fmla="*/ 194188 w 12190715"/>
                <a:gd name="connsiteY17" fmla="*/ 811200 h 2372962"/>
                <a:gd name="connsiteX18" fmla="*/ 2870 w 12190715"/>
                <a:gd name="connsiteY18" fmla="*/ 928109 h 2372962"/>
                <a:gd name="connsiteX19" fmla="*/ 9046 w 12190715"/>
                <a:gd name="connsiteY19" fmla="*/ 938646 h 2372962"/>
                <a:gd name="connsiteX20" fmla="*/ 427735 w 12190715"/>
                <a:gd name="connsiteY20" fmla="*/ 690688 h 2372962"/>
                <a:gd name="connsiteX21" fmla="*/ 1009354 w 12190715"/>
                <a:gd name="connsiteY21" fmla="*/ 535695 h 2372962"/>
                <a:gd name="connsiteX22" fmla="*/ 1761406 w 12190715"/>
                <a:gd name="connsiteY22" fmla="*/ 743888 h 2372962"/>
                <a:gd name="connsiteX23" fmla="*/ 2260706 w 12190715"/>
                <a:gd name="connsiteY23" fmla="*/ 1180833 h 2372962"/>
                <a:gd name="connsiteX24" fmla="*/ 2670348 w 12190715"/>
                <a:gd name="connsiteY24" fmla="*/ 1672468 h 2372962"/>
                <a:gd name="connsiteX25" fmla="*/ 3191101 w 12190715"/>
                <a:gd name="connsiteY25" fmla="*/ 2073604 h 2372962"/>
                <a:gd name="connsiteX26" fmla="*/ 4724812 w 12190715"/>
                <a:gd name="connsiteY26" fmla="*/ 2365416 h 2372962"/>
                <a:gd name="connsiteX27" fmla="*/ 6345609 w 12190715"/>
                <a:gd name="connsiteY27" fmla="*/ 1921915 h 2372962"/>
                <a:gd name="connsiteX28" fmla="*/ 7077264 w 12190715"/>
                <a:gd name="connsiteY28" fmla="*/ 1551740 h 2372962"/>
                <a:gd name="connsiteX29" fmla="*/ 7552511 w 12190715"/>
                <a:gd name="connsiteY29" fmla="*/ 1105395 h 2372962"/>
                <a:gd name="connsiteX30" fmla="*/ 8013591 w 12190715"/>
                <a:gd name="connsiteY30" fmla="*/ 577193 h 2372962"/>
                <a:gd name="connsiteX31" fmla="*/ 8647434 w 12190715"/>
                <a:gd name="connsiteY31" fmla="*/ 167280 h 2372962"/>
                <a:gd name="connsiteX32" fmla="*/ 9397617 w 12190715"/>
                <a:gd name="connsiteY32" fmla="*/ 17514 h 2372962"/>
                <a:gd name="connsiteX33" fmla="*/ 10191818 w 12190715"/>
                <a:gd name="connsiteY33" fmla="*/ 291801 h 2372962"/>
                <a:gd name="connsiteX34" fmla="*/ 11246516 w 12190715"/>
                <a:gd name="connsiteY34" fmla="*/ 1207840 h 2372962"/>
                <a:gd name="connsiteX35" fmla="*/ 12030748 w 12190715"/>
                <a:gd name="connsiteY35" fmla="*/ 2089613 h 2372962"/>
                <a:gd name="connsiteX36" fmla="*/ 12181869 w 12190715"/>
                <a:gd name="connsiteY36" fmla="*/ 2218169 h 2372962"/>
                <a:gd name="connsiteX37" fmla="*/ 12188017 w 12190715"/>
                <a:gd name="connsiteY37" fmla="*/ 2207632 h 237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0715" h="2372962">
                  <a:moveTo>
                    <a:pt x="12187963" y="2207713"/>
                  </a:moveTo>
                  <a:cubicBezTo>
                    <a:pt x="12057132" y="2110930"/>
                    <a:pt x="11944855" y="1990012"/>
                    <a:pt x="11836451" y="1869420"/>
                  </a:cubicBezTo>
                  <a:cubicBezTo>
                    <a:pt x="11699632" y="1717216"/>
                    <a:pt x="11568801" y="1559703"/>
                    <a:pt x="11435207" y="1404710"/>
                  </a:cubicBezTo>
                  <a:cubicBezTo>
                    <a:pt x="11137870" y="1059834"/>
                    <a:pt x="10826771" y="719780"/>
                    <a:pt x="10457165" y="450559"/>
                  </a:cubicBezTo>
                  <a:cubicBezTo>
                    <a:pt x="10076263" y="173104"/>
                    <a:pt x="9574119" y="-66808"/>
                    <a:pt x="9091477" y="15808"/>
                  </a:cubicBezTo>
                  <a:cubicBezTo>
                    <a:pt x="8605829" y="98885"/>
                    <a:pt x="8161434" y="377721"/>
                    <a:pt x="7838472" y="742615"/>
                  </a:cubicBezTo>
                  <a:cubicBezTo>
                    <a:pt x="7684535" y="916542"/>
                    <a:pt x="7547635" y="1105151"/>
                    <a:pt x="7388254" y="1274284"/>
                  </a:cubicBezTo>
                  <a:cubicBezTo>
                    <a:pt x="7306992" y="1360639"/>
                    <a:pt x="7219093" y="1441657"/>
                    <a:pt x="7121010" y="1508807"/>
                  </a:cubicBezTo>
                  <a:cubicBezTo>
                    <a:pt x="7015370" y="1581157"/>
                    <a:pt x="6899436" y="1640667"/>
                    <a:pt x="6785995" y="1699691"/>
                  </a:cubicBezTo>
                  <a:cubicBezTo>
                    <a:pt x="6523627" y="1836238"/>
                    <a:pt x="6251860" y="1953878"/>
                    <a:pt x="5975190" y="2058137"/>
                  </a:cubicBezTo>
                  <a:cubicBezTo>
                    <a:pt x="5700118" y="2161773"/>
                    <a:pt x="5420496" y="2251920"/>
                    <a:pt x="5130716" y="2303927"/>
                  </a:cubicBezTo>
                  <a:cubicBezTo>
                    <a:pt x="4574532" y="2403771"/>
                    <a:pt x="3987983" y="2376196"/>
                    <a:pt x="3456232" y="2176617"/>
                  </a:cubicBezTo>
                  <a:cubicBezTo>
                    <a:pt x="3217864" y="2087229"/>
                    <a:pt x="2995748" y="1966636"/>
                    <a:pt x="2807952" y="1793359"/>
                  </a:cubicBezTo>
                  <a:cubicBezTo>
                    <a:pt x="2650141" y="1647791"/>
                    <a:pt x="2518469" y="1477548"/>
                    <a:pt x="2383981" y="1310988"/>
                  </a:cubicBezTo>
                  <a:cubicBezTo>
                    <a:pt x="2249492" y="1144428"/>
                    <a:pt x="2109234" y="979873"/>
                    <a:pt x="1938747" y="848255"/>
                  </a:cubicBezTo>
                  <a:cubicBezTo>
                    <a:pt x="1745993" y="699275"/>
                    <a:pt x="1514749" y="596099"/>
                    <a:pt x="1275920" y="548751"/>
                  </a:cubicBezTo>
                  <a:cubicBezTo>
                    <a:pt x="1074688" y="508824"/>
                    <a:pt x="867633" y="516950"/>
                    <a:pt x="671331" y="577193"/>
                  </a:cubicBezTo>
                  <a:cubicBezTo>
                    <a:pt x="500681" y="629579"/>
                    <a:pt x="345064" y="717478"/>
                    <a:pt x="194188" y="811200"/>
                  </a:cubicBezTo>
                  <a:cubicBezTo>
                    <a:pt x="130722" y="850639"/>
                    <a:pt x="67744" y="890945"/>
                    <a:pt x="2870" y="928109"/>
                  </a:cubicBezTo>
                  <a:cubicBezTo>
                    <a:pt x="-3929" y="932009"/>
                    <a:pt x="2220" y="942546"/>
                    <a:pt x="9046" y="938646"/>
                  </a:cubicBezTo>
                  <a:cubicBezTo>
                    <a:pt x="149900" y="857953"/>
                    <a:pt x="282980" y="764610"/>
                    <a:pt x="427735" y="690688"/>
                  </a:cubicBezTo>
                  <a:cubicBezTo>
                    <a:pt x="608949" y="598185"/>
                    <a:pt x="804790" y="538566"/>
                    <a:pt x="1009354" y="535695"/>
                  </a:cubicBezTo>
                  <a:cubicBezTo>
                    <a:pt x="1270448" y="532011"/>
                    <a:pt x="1536202" y="614627"/>
                    <a:pt x="1761406" y="743888"/>
                  </a:cubicBezTo>
                  <a:cubicBezTo>
                    <a:pt x="1955487" y="855271"/>
                    <a:pt x="2116250" y="1011782"/>
                    <a:pt x="2260706" y="1180833"/>
                  </a:cubicBezTo>
                  <a:cubicBezTo>
                    <a:pt x="2399312" y="1343005"/>
                    <a:pt x="2525350" y="1515768"/>
                    <a:pt x="2670348" y="1672468"/>
                  </a:cubicBezTo>
                  <a:cubicBezTo>
                    <a:pt x="2821414" y="1835723"/>
                    <a:pt x="2992091" y="1973137"/>
                    <a:pt x="3191101" y="2073604"/>
                  </a:cubicBezTo>
                  <a:cubicBezTo>
                    <a:pt x="3662827" y="2311973"/>
                    <a:pt x="4199915" y="2398652"/>
                    <a:pt x="4724812" y="2365416"/>
                  </a:cubicBezTo>
                  <a:cubicBezTo>
                    <a:pt x="5290206" y="2329579"/>
                    <a:pt x="5828972" y="2145061"/>
                    <a:pt x="6345609" y="1921915"/>
                  </a:cubicBezTo>
                  <a:cubicBezTo>
                    <a:pt x="6595706" y="1813891"/>
                    <a:pt x="6844937" y="1694653"/>
                    <a:pt x="7077264" y="1551740"/>
                  </a:cubicBezTo>
                  <a:cubicBezTo>
                    <a:pt x="7264167" y="1436781"/>
                    <a:pt x="7413364" y="1272741"/>
                    <a:pt x="7552511" y="1105395"/>
                  </a:cubicBezTo>
                  <a:cubicBezTo>
                    <a:pt x="7701979" y="925725"/>
                    <a:pt x="7843917" y="738877"/>
                    <a:pt x="8013591" y="577193"/>
                  </a:cubicBezTo>
                  <a:cubicBezTo>
                    <a:pt x="8197623" y="401938"/>
                    <a:pt x="8415106" y="268831"/>
                    <a:pt x="8647434" y="167280"/>
                  </a:cubicBezTo>
                  <a:cubicBezTo>
                    <a:pt x="8880738" y="65269"/>
                    <a:pt x="9140695" y="-12932"/>
                    <a:pt x="9397617" y="17514"/>
                  </a:cubicBezTo>
                  <a:cubicBezTo>
                    <a:pt x="9678594" y="50778"/>
                    <a:pt x="9947490" y="151163"/>
                    <a:pt x="10191818" y="291801"/>
                  </a:cubicBezTo>
                  <a:cubicBezTo>
                    <a:pt x="10597829" y="525429"/>
                    <a:pt x="10936015" y="861393"/>
                    <a:pt x="11246516" y="1207840"/>
                  </a:cubicBezTo>
                  <a:cubicBezTo>
                    <a:pt x="11508289" y="1499949"/>
                    <a:pt x="11746223" y="1818685"/>
                    <a:pt x="12030748" y="2089613"/>
                  </a:cubicBezTo>
                  <a:cubicBezTo>
                    <a:pt x="12078422" y="2135553"/>
                    <a:pt x="12128886" y="2178486"/>
                    <a:pt x="12181869" y="2218169"/>
                  </a:cubicBezTo>
                  <a:cubicBezTo>
                    <a:pt x="12188180" y="2222828"/>
                    <a:pt x="12194247" y="2212264"/>
                    <a:pt x="12188017" y="2207632"/>
                  </a:cubicBezTo>
                  <a:close/>
                </a:path>
              </a:pathLst>
            </a:custGeom>
            <a:grpFill/>
            <a:ln w="2709" cap="flat">
              <a:noFill/>
              <a:prstDash val="solid"/>
              <a:miter/>
            </a:ln>
          </p:spPr>
          <p:txBody>
            <a:bodyPr rtlCol="0" anchor="ctr"/>
            <a:lstStyle/>
            <a:p>
              <a:endParaRPr lang="en-IN"/>
            </a:p>
          </p:txBody>
        </p:sp>
        <p:sp>
          <p:nvSpPr>
            <p:cNvPr id="2014" name="Freeform: Shape 2013">
              <a:extLst>
                <a:ext uri="{FF2B5EF4-FFF2-40B4-BE49-F238E27FC236}">
                  <a16:creationId xmlns:a16="http://schemas.microsoft.com/office/drawing/2014/main" id="{670E34E4-BBB9-F79C-DA57-3A3B2CEBAFDF}"/>
                </a:ext>
              </a:extLst>
            </p:cNvPr>
            <p:cNvSpPr/>
            <p:nvPr/>
          </p:nvSpPr>
          <p:spPr>
            <a:xfrm>
              <a:off x="858" y="2235579"/>
              <a:ext cx="12190587" cy="2176683"/>
            </a:xfrm>
            <a:custGeom>
              <a:avLst/>
              <a:gdLst>
                <a:gd name="connsiteX0" fmla="*/ 12186830 w 12190587"/>
                <a:gd name="connsiteY0" fmla="*/ 1843527 h 2176683"/>
                <a:gd name="connsiteX1" fmla="*/ 11798561 w 12190587"/>
                <a:gd name="connsiteY1" fmla="*/ 1550686 h 2176683"/>
                <a:gd name="connsiteX2" fmla="*/ 11370581 w 12190587"/>
                <a:gd name="connsiteY2" fmla="*/ 1142697 h 2176683"/>
                <a:gd name="connsiteX3" fmla="*/ 10330076 w 12190587"/>
                <a:gd name="connsiteY3" fmla="*/ 312065 h 2176683"/>
                <a:gd name="connsiteX4" fmla="*/ 8957724 w 12190587"/>
                <a:gd name="connsiteY4" fmla="*/ 35097 h 2176683"/>
                <a:gd name="connsiteX5" fmla="*/ 7712439 w 12190587"/>
                <a:gd name="connsiteY5" fmla="*/ 727367 h 2176683"/>
                <a:gd name="connsiteX6" fmla="*/ 7240904 w 12190587"/>
                <a:gd name="connsiteY6" fmla="*/ 1179184 h 2176683"/>
                <a:gd name="connsiteX7" fmla="*/ 6589508 w 12190587"/>
                <a:gd name="connsiteY7" fmla="*/ 1518073 h 2176683"/>
                <a:gd name="connsiteX8" fmla="*/ 5793276 w 12190587"/>
                <a:gd name="connsiteY8" fmla="*/ 1804630 h 2176683"/>
                <a:gd name="connsiteX9" fmla="*/ 4970553 w 12190587"/>
                <a:gd name="connsiteY9" fmla="*/ 2056731 h 2176683"/>
                <a:gd name="connsiteX10" fmla="*/ 3356149 w 12190587"/>
                <a:gd name="connsiteY10" fmla="*/ 2057815 h 2176683"/>
                <a:gd name="connsiteX11" fmla="*/ 2722577 w 12190587"/>
                <a:gd name="connsiteY11" fmla="*/ 1717002 h 2176683"/>
                <a:gd name="connsiteX12" fmla="*/ 2306678 w 12190587"/>
                <a:gd name="connsiteY12" fmla="*/ 1253240 h 2176683"/>
                <a:gd name="connsiteX13" fmla="*/ 1888829 w 12190587"/>
                <a:gd name="connsiteY13" fmla="*/ 800882 h 2176683"/>
                <a:gd name="connsiteX14" fmla="*/ 1282209 w 12190587"/>
                <a:gd name="connsiteY14" fmla="*/ 491247 h 2176683"/>
                <a:gd name="connsiteX15" fmla="*/ 670307 w 12190587"/>
                <a:gd name="connsiteY15" fmla="*/ 485586 h 2176683"/>
                <a:gd name="connsiteX16" fmla="*/ 201533 w 12190587"/>
                <a:gd name="connsiteY16" fmla="*/ 688470 h 2176683"/>
                <a:gd name="connsiteX17" fmla="*/ 3498 w 12190587"/>
                <a:gd name="connsiteY17" fmla="*/ 796115 h 2176683"/>
                <a:gd name="connsiteX18" fmla="*/ 10676 w 12190587"/>
                <a:gd name="connsiteY18" fmla="*/ 808412 h 2176683"/>
                <a:gd name="connsiteX19" fmla="*/ 436678 w 12190587"/>
                <a:gd name="connsiteY19" fmla="*/ 583750 h 2176683"/>
                <a:gd name="connsiteX20" fmla="*/ 1022767 w 12190587"/>
                <a:gd name="connsiteY20" fmla="*/ 464268 h 2176683"/>
                <a:gd name="connsiteX21" fmla="*/ 1736436 w 12190587"/>
                <a:gd name="connsiteY21" fmla="*/ 705779 h 2176683"/>
                <a:gd name="connsiteX22" fmla="*/ 2193697 w 12190587"/>
                <a:gd name="connsiteY22" fmla="*/ 1136332 h 2176683"/>
                <a:gd name="connsiteX23" fmla="*/ 2587330 w 12190587"/>
                <a:gd name="connsiteY23" fmla="*/ 1606974 h 2176683"/>
                <a:gd name="connsiteX24" fmla="*/ 3099957 w 12190587"/>
                <a:gd name="connsiteY24" fmla="*/ 1976444 h 2176683"/>
                <a:gd name="connsiteX25" fmla="*/ 4570799 w 12190587"/>
                <a:gd name="connsiteY25" fmla="*/ 2143790 h 2176683"/>
                <a:gd name="connsiteX26" fmla="*/ 6181140 w 12190587"/>
                <a:gd name="connsiteY26" fmla="*/ 1684064 h 2176683"/>
                <a:gd name="connsiteX27" fmla="*/ 6903206 w 12190587"/>
                <a:gd name="connsiteY27" fmla="*/ 1403683 h 2176683"/>
                <a:gd name="connsiteX28" fmla="*/ 7408466 w 12190587"/>
                <a:gd name="connsiteY28" fmla="*/ 1048596 h 2176683"/>
                <a:gd name="connsiteX29" fmla="*/ 7895197 w 12190587"/>
                <a:gd name="connsiteY29" fmla="*/ 581529 h 2176683"/>
                <a:gd name="connsiteX30" fmla="*/ 8525709 w 12190587"/>
                <a:gd name="connsiteY30" fmla="*/ 198704 h 2176683"/>
                <a:gd name="connsiteX31" fmla="*/ 9253843 w 12190587"/>
                <a:gd name="connsiteY31" fmla="*/ 10366 h 2176683"/>
                <a:gd name="connsiteX32" fmla="*/ 10043546 w 12190587"/>
                <a:gd name="connsiteY32" fmla="*/ 186027 h 2176683"/>
                <a:gd name="connsiteX33" fmla="*/ 11166587 w 12190587"/>
                <a:gd name="connsiteY33" fmla="*/ 969095 h 2176683"/>
                <a:gd name="connsiteX34" fmla="*/ 12001336 w 12190587"/>
                <a:gd name="connsiteY34" fmla="*/ 1739105 h 2176683"/>
                <a:gd name="connsiteX35" fmla="*/ 12179787 w 12190587"/>
                <a:gd name="connsiteY35" fmla="*/ 1855960 h 2176683"/>
                <a:gd name="connsiteX36" fmla="*/ 12186965 w 12190587"/>
                <a:gd name="connsiteY36" fmla="*/ 1843663 h 217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90587" h="2176683">
                  <a:moveTo>
                    <a:pt x="12186830" y="1843527"/>
                  </a:moveTo>
                  <a:cubicBezTo>
                    <a:pt x="12044025" y="1765922"/>
                    <a:pt x="11918666" y="1659144"/>
                    <a:pt x="11798561" y="1550686"/>
                  </a:cubicBezTo>
                  <a:cubicBezTo>
                    <a:pt x="11652290" y="1418608"/>
                    <a:pt x="11512599" y="1279380"/>
                    <a:pt x="11370581" y="1142697"/>
                  </a:cubicBezTo>
                  <a:cubicBezTo>
                    <a:pt x="11050951" y="834904"/>
                    <a:pt x="10717912" y="532474"/>
                    <a:pt x="10330076" y="312065"/>
                  </a:cubicBezTo>
                  <a:cubicBezTo>
                    <a:pt x="9922331" y="80278"/>
                    <a:pt x="9425685" y="-74146"/>
                    <a:pt x="8957724" y="35097"/>
                  </a:cubicBezTo>
                  <a:cubicBezTo>
                    <a:pt x="8488680" y="144638"/>
                    <a:pt x="8057911" y="395656"/>
                    <a:pt x="7712439" y="727367"/>
                  </a:cubicBezTo>
                  <a:cubicBezTo>
                    <a:pt x="7555523" y="878027"/>
                    <a:pt x="7409604" y="1041201"/>
                    <a:pt x="7240904" y="1179184"/>
                  </a:cubicBezTo>
                  <a:cubicBezTo>
                    <a:pt x="7047364" y="1337509"/>
                    <a:pt x="6820535" y="1428089"/>
                    <a:pt x="6589508" y="1518073"/>
                  </a:cubicBezTo>
                  <a:cubicBezTo>
                    <a:pt x="6326761" y="1620490"/>
                    <a:pt x="6059463" y="1711260"/>
                    <a:pt x="5793276" y="1804630"/>
                  </a:cubicBezTo>
                  <a:cubicBezTo>
                    <a:pt x="5522241" y="1899679"/>
                    <a:pt x="5250934" y="1992670"/>
                    <a:pt x="4970553" y="2056731"/>
                  </a:cubicBezTo>
                  <a:cubicBezTo>
                    <a:pt x="4444626" y="2176890"/>
                    <a:pt x="3878420" y="2216926"/>
                    <a:pt x="3356149" y="2057815"/>
                  </a:cubicBezTo>
                  <a:cubicBezTo>
                    <a:pt x="3123767" y="1987036"/>
                    <a:pt x="2905850" y="1877576"/>
                    <a:pt x="2722577" y="1717002"/>
                  </a:cubicBezTo>
                  <a:cubicBezTo>
                    <a:pt x="2565769" y="1579615"/>
                    <a:pt x="2436345" y="1415493"/>
                    <a:pt x="2306678" y="1253240"/>
                  </a:cubicBezTo>
                  <a:cubicBezTo>
                    <a:pt x="2178420" y="1092721"/>
                    <a:pt x="2047507" y="932581"/>
                    <a:pt x="1888829" y="800882"/>
                  </a:cubicBezTo>
                  <a:cubicBezTo>
                    <a:pt x="1712762" y="654611"/>
                    <a:pt x="1503756" y="549187"/>
                    <a:pt x="1282209" y="491247"/>
                  </a:cubicBezTo>
                  <a:cubicBezTo>
                    <a:pt x="1081438" y="438698"/>
                    <a:pt x="871728" y="434093"/>
                    <a:pt x="670307" y="485586"/>
                  </a:cubicBezTo>
                  <a:cubicBezTo>
                    <a:pt x="504045" y="528086"/>
                    <a:pt x="350676" y="605528"/>
                    <a:pt x="201533" y="688470"/>
                  </a:cubicBezTo>
                  <a:cubicBezTo>
                    <a:pt x="135847" y="724984"/>
                    <a:pt x="70648" y="762364"/>
                    <a:pt x="3498" y="796115"/>
                  </a:cubicBezTo>
                  <a:cubicBezTo>
                    <a:pt x="-4628" y="800232"/>
                    <a:pt x="2496" y="812367"/>
                    <a:pt x="10676" y="808412"/>
                  </a:cubicBezTo>
                  <a:cubicBezTo>
                    <a:pt x="154239" y="736225"/>
                    <a:pt x="289919" y="649654"/>
                    <a:pt x="436678" y="583750"/>
                  </a:cubicBezTo>
                  <a:cubicBezTo>
                    <a:pt x="621387" y="500809"/>
                    <a:pt x="819449" y="453569"/>
                    <a:pt x="1022767" y="464268"/>
                  </a:cubicBezTo>
                  <a:cubicBezTo>
                    <a:pt x="1273893" y="477460"/>
                    <a:pt x="1526591" y="569123"/>
                    <a:pt x="1736436" y="705779"/>
                  </a:cubicBezTo>
                  <a:cubicBezTo>
                    <a:pt x="1913560" y="821008"/>
                    <a:pt x="2059588" y="974539"/>
                    <a:pt x="2193697" y="1136332"/>
                  </a:cubicBezTo>
                  <a:cubicBezTo>
                    <a:pt x="2324204" y="1293763"/>
                    <a:pt x="2445609" y="1459131"/>
                    <a:pt x="2587330" y="1606974"/>
                  </a:cubicBezTo>
                  <a:cubicBezTo>
                    <a:pt x="2735498" y="1761371"/>
                    <a:pt x="2904739" y="1887490"/>
                    <a:pt x="3099957" y="1976444"/>
                  </a:cubicBezTo>
                  <a:cubicBezTo>
                    <a:pt x="3557977" y="2185206"/>
                    <a:pt x="4078134" y="2209097"/>
                    <a:pt x="4570799" y="2143790"/>
                  </a:cubicBezTo>
                  <a:cubicBezTo>
                    <a:pt x="5127958" y="2069950"/>
                    <a:pt x="5654292" y="1870858"/>
                    <a:pt x="6181140" y="1684064"/>
                  </a:cubicBezTo>
                  <a:cubicBezTo>
                    <a:pt x="6424492" y="1597764"/>
                    <a:pt x="6667005" y="1508240"/>
                    <a:pt x="6903206" y="1403683"/>
                  </a:cubicBezTo>
                  <a:cubicBezTo>
                    <a:pt x="7095743" y="1318440"/>
                    <a:pt x="7257075" y="1193513"/>
                    <a:pt x="7408466" y="1048596"/>
                  </a:cubicBezTo>
                  <a:cubicBezTo>
                    <a:pt x="7570989" y="893033"/>
                    <a:pt x="7722678" y="726257"/>
                    <a:pt x="7895197" y="581529"/>
                  </a:cubicBezTo>
                  <a:cubicBezTo>
                    <a:pt x="8085080" y="422256"/>
                    <a:pt x="8299422" y="298656"/>
                    <a:pt x="8525709" y="198704"/>
                  </a:cubicBezTo>
                  <a:cubicBezTo>
                    <a:pt x="8752863" y="98346"/>
                    <a:pt x="9002933" y="12750"/>
                    <a:pt x="9253843" y="10366"/>
                  </a:cubicBezTo>
                  <a:cubicBezTo>
                    <a:pt x="9522007" y="7820"/>
                    <a:pt x="9797973" y="82418"/>
                    <a:pt x="10043546" y="186027"/>
                  </a:cubicBezTo>
                  <a:cubicBezTo>
                    <a:pt x="10467761" y="364966"/>
                    <a:pt x="10831408" y="658809"/>
                    <a:pt x="11166587" y="969095"/>
                  </a:cubicBezTo>
                  <a:cubicBezTo>
                    <a:pt x="11443392" y="1225340"/>
                    <a:pt x="11699692" y="1511193"/>
                    <a:pt x="12001336" y="1739105"/>
                  </a:cubicBezTo>
                  <a:cubicBezTo>
                    <a:pt x="12058220" y="1782012"/>
                    <a:pt x="12117189" y="1821939"/>
                    <a:pt x="12179787" y="1855960"/>
                  </a:cubicBezTo>
                  <a:cubicBezTo>
                    <a:pt x="12187913" y="1860321"/>
                    <a:pt x="12195011" y="1848051"/>
                    <a:pt x="12186965" y="1843663"/>
                  </a:cubicBezTo>
                  <a:close/>
                </a:path>
              </a:pathLst>
            </a:custGeom>
            <a:grpFill/>
            <a:ln w="2709" cap="flat">
              <a:noFill/>
              <a:prstDash val="solid"/>
              <a:miter/>
            </a:ln>
          </p:spPr>
          <p:txBody>
            <a:bodyPr rtlCol="0" anchor="ctr"/>
            <a:lstStyle/>
            <a:p>
              <a:endParaRPr lang="en-IN"/>
            </a:p>
          </p:txBody>
        </p:sp>
        <p:sp>
          <p:nvSpPr>
            <p:cNvPr id="2015" name="Freeform: Shape 2014">
              <a:extLst>
                <a:ext uri="{FF2B5EF4-FFF2-40B4-BE49-F238E27FC236}">
                  <a16:creationId xmlns:a16="http://schemas.microsoft.com/office/drawing/2014/main" id="{2AB9BE49-24DB-5073-2A57-ACD0E4D1A919}"/>
                </a:ext>
              </a:extLst>
            </p:cNvPr>
            <p:cNvSpPr/>
            <p:nvPr/>
          </p:nvSpPr>
          <p:spPr>
            <a:xfrm>
              <a:off x="949" y="2423269"/>
              <a:ext cx="12189842" cy="2005370"/>
            </a:xfrm>
            <a:custGeom>
              <a:avLst/>
              <a:gdLst>
                <a:gd name="connsiteX0" fmla="*/ 12184219 w 12189842"/>
                <a:gd name="connsiteY0" fmla="*/ 1481802 h 2005370"/>
                <a:gd name="connsiteX1" fmla="*/ 11758271 w 12189842"/>
                <a:gd name="connsiteY1" fmla="*/ 1239045 h 2005370"/>
                <a:gd name="connsiteX2" fmla="*/ 11286167 w 12189842"/>
                <a:gd name="connsiteY2" fmla="*/ 878432 h 2005370"/>
                <a:gd name="connsiteX3" fmla="*/ 10193817 w 12189842"/>
                <a:gd name="connsiteY3" fmla="*/ 193312 h 2005370"/>
                <a:gd name="connsiteX4" fmla="*/ 9492500 w 12189842"/>
                <a:gd name="connsiteY4" fmla="*/ 10879 h 2005370"/>
                <a:gd name="connsiteX5" fmla="*/ 8791670 w 12189842"/>
                <a:gd name="connsiteY5" fmla="*/ 71663 h 2005370"/>
                <a:gd name="connsiteX6" fmla="*/ 7551721 w 12189842"/>
                <a:gd name="connsiteY6" fmla="*/ 731158 h 2005370"/>
                <a:gd name="connsiteX7" fmla="*/ 7046271 w 12189842"/>
                <a:gd name="connsiteY7" fmla="*/ 1098868 h 2005370"/>
                <a:gd name="connsiteX8" fmla="*/ 6389567 w 12189842"/>
                <a:gd name="connsiteY8" fmla="*/ 1322420 h 2005370"/>
                <a:gd name="connsiteX9" fmla="*/ 5604522 w 12189842"/>
                <a:gd name="connsiteY9" fmla="*/ 1554937 h 2005370"/>
                <a:gd name="connsiteX10" fmla="*/ 4824191 w 12189842"/>
                <a:gd name="connsiteY10" fmla="*/ 1811698 h 2005370"/>
                <a:gd name="connsiteX11" fmla="*/ 3271627 w 12189842"/>
                <a:gd name="connsiteY11" fmla="*/ 1941717 h 2005370"/>
                <a:gd name="connsiteX12" fmla="*/ 2648619 w 12189842"/>
                <a:gd name="connsiteY12" fmla="*/ 1651612 h 2005370"/>
                <a:gd name="connsiteX13" fmla="*/ 2244747 w 12189842"/>
                <a:gd name="connsiteY13" fmla="*/ 1218621 h 2005370"/>
                <a:gd name="connsiteX14" fmla="*/ 1845372 w 12189842"/>
                <a:gd name="connsiteY14" fmla="*/ 765071 h 2005370"/>
                <a:gd name="connsiteX15" fmla="*/ 1273829 w 12189842"/>
                <a:gd name="connsiteY15" fmla="*/ 437315 h 2005370"/>
                <a:gd name="connsiteX16" fmla="*/ 677664 w 12189842"/>
                <a:gd name="connsiteY16" fmla="*/ 397334 h 2005370"/>
                <a:gd name="connsiteX17" fmla="*/ 207916 w 12189842"/>
                <a:gd name="connsiteY17" fmla="*/ 570693 h 2005370"/>
                <a:gd name="connsiteX18" fmla="*/ 4165 w 12189842"/>
                <a:gd name="connsiteY18" fmla="*/ 667286 h 2005370"/>
                <a:gd name="connsiteX19" fmla="*/ 12292 w 12189842"/>
                <a:gd name="connsiteY19" fmla="*/ 681317 h 2005370"/>
                <a:gd name="connsiteX20" fmla="*/ 453815 w 12189842"/>
                <a:gd name="connsiteY20" fmla="*/ 478921 h 2005370"/>
                <a:gd name="connsiteX21" fmla="*/ 1025899 w 12189842"/>
                <a:gd name="connsiteY21" fmla="*/ 399555 h 2005370"/>
                <a:gd name="connsiteX22" fmla="*/ 1710341 w 12189842"/>
                <a:gd name="connsiteY22" fmla="*/ 675195 h 2005370"/>
                <a:gd name="connsiteX23" fmla="*/ 2141030 w 12189842"/>
                <a:gd name="connsiteY23" fmla="*/ 1114010 h 2005370"/>
                <a:gd name="connsiteX24" fmla="*/ 2525426 w 12189842"/>
                <a:gd name="connsiteY24" fmla="*/ 1563659 h 2005370"/>
                <a:gd name="connsiteX25" fmla="*/ 3018117 w 12189842"/>
                <a:gd name="connsiteY25" fmla="*/ 1882667 h 2005370"/>
                <a:gd name="connsiteX26" fmla="*/ 4436355 w 12189842"/>
                <a:gd name="connsiteY26" fmla="*/ 1923758 h 2005370"/>
                <a:gd name="connsiteX27" fmla="*/ 5992629 w 12189842"/>
                <a:gd name="connsiteY27" fmla="*/ 1450380 h 2005370"/>
                <a:gd name="connsiteX28" fmla="*/ 6728997 w 12189842"/>
                <a:gd name="connsiteY28" fmla="*/ 1242377 h 2005370"/>
                <a:gd name="connsiteX29" fmla="*/ 7262239 w 12189842"/>
                <a:gd name="connsiteY29" fmla="*/ 978898 h 2005370"/>
                <a:gd name="connsiteX30" fmla="*/ 7768636 w 12189842"/>
                <a:gd name="connsiteY30" fmla="*/ 585347 h 2005370"/>
                <a:gd name="connsiteX31" fmla="*/ 8401477 w 12189842"/>
                <a:gd name="connsiteY31" fmla="*/ 232372 h 2005370"/>
                <a:gd name="connsiteX32" fmla="*/ 9127417 w 12189842"/>
                <a:gd name="connsiteY32" fmla="*/ 18382 h 2005370"/>
                <a:gd name="connsiteX33" fmla="*/ 9890493 w 12189842"/>
                <a:gd name="connsiteY33" fmla="*/ 104764 h 2005370"/>
                <a:gd name="connsiteX34" fmla="*/ 11081197 w 12189842"/>
                <a:gd name="connsiteY34" fmla="*/ 742209 h 2005370"/>
                <a:gd name="connsiteX35" fmla="*/ 11989733 w 12189842"/>
                <a:gd name="connsiteY35" fmla="*/ 1407691 h 2005370"/>
                <a:gd name="connsiteX36" fmla="*/ 12179941 w 12189842"/>
                <a:gd name="connsiteY36" fmla="*/ 1497323 h 2005370"/>
                <a:gd name="connsiteX37" fmla="*/ 12184247 w 12189842"/>
                <a:gd name="connsiteY37" fmla="*/ 1481666 h 200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89842" h="2005370">
                  <a:moveTo>
                    <a:pt x="12184219" y="1481802"/>
                  </a:moveTo>
                  <a:cubicBezTo>
                    <a:pt x="12030607" y="1424349"/>
                    <a:pt x="11891270" y="1333688"/>
                    <a:pt x="11758271" y="1239045"/>
                  </a:cubicBezTo>
                  <a:cubicBezTo>
                    <a:pt x="11596913" y="1124222"/>
                    <a:pt x="11442596" y="999783"/>
                    <a:pt x="11286167" y="878432"/>
                  </a:cubicBezTo>
                  <a:cubicBezTo>
                    <a:pt x="10946221" y="614655"/>
                    <a:pt x="10593436" y="359412"/>
                    <a:pt x="10193817" y="193312"/>
                  </a:cubicBezTo>
                  <a:cubicBezTo>
                    <a:pt x="9969805" y="100213"/>
                    <a:pt x="9733685" y="37641"/>
                    <a:pt x="9492500" y="10879"/>
                  </a:cubicBezTo>
                  <a:cubicBezTo>
                    <a:pt x="9251314" y="-15883"/>
                    <a:pt x="9024810" y="3376"/>
                    <a:pt x="8791670" y="71663"/>
                  </a:cubicBezTo>
                  <a:cubicBezTo>
                    <a:pt x="8335546" y="205231"/>
                    <a:pt x="7921733" y="435798"/>
                    <a:pt x="7551721" y="731158"/>
                  </a:cubicBezTo>
                  <a:cubicBezTo>
                    <a:pt x="7389062" y="860988"/>
                    <a:pt x="7229382" y="998157"/>
                    <a:pt x="7046271" y="1098868"/>
                  </a:cubicBezTo>
                  <a:cubicBezTo>
                    <a:pt x="6843685" y="1210224"/>
                    <a:pt x="6610870" y="1261392"/>
                    <a:pt x="6389567" y="1322420"/>
                  </a:cubicBezTo>
                  <a:cubicBezTo>
                    <a:pt x="6126413" y="1395122"/>
                    <a:pt x="5863016" y="1467066"/>
                    <a:pt x="5604522" y="1554937"/>
                  </a:cubicBezTo>
                  <a:cubicBezTo>
                    <a:pt x="5345080" y="1642998"/>
                    <a:pt x="5088048" y="1737208"/>
                    <a:pt x="4824191" y="1811698"/>
                  </a:cubicBezTo>
                  <a:cubicBezTo>
                    <a:pt x="4327030" y="1952037"/>
                    <a:pt x="3784850" y="2053425"/>
                    <a:pt x="3271627" y="1941717"/>
                  </a:cubicBezTo>
                  <a:cubicBezTo>
                    <a:pt x="3044960" y="1892337"/>
                    <a:pt x="2829643" y="1797910"/>
                    <a:pt x="2648619" y="1651612"/>
                  </a:cubicBezTo>
                  <a:cubicBezTo>
                    <a:pt x="2494221" y="1526875"/>
                    <a:pt x="2367696" y="1373236"/>
                    <a:pt x="2244747" y="1218621"/>
                  </a:cubicBezTo>
                  <a:cubicBezTo>
                    <a:pt x="2119306" y="1060919"/>
                    <a:pt x="1995273" y="900724"/>
                    <a:pt x="1845372" y="765071"/>
                  </a:cubicBezTo>
                  <a:cubicBezTo>
                    <a:pt x="1680499" y="616199"/>
                    <a:pt x="1485598" y="504410"/>
                    <a:pt x="1273829" y="437315"/>
                  </a:cubicBezTo>
                  <a:cubicBezTo>
                    <a:pt x="1080832" y="375854"/>
                    <a:pt x="876973" y="358762"/>
                    <a:pt x="677664" y="397334"/>
                  </a:cubicBezTo>
                  <a:cubicBezTo>
                    <a:pt x="512432" y="429324"/>
                    <a:pt x="358332" y="497340"/>
                    <a:pt x="207916" y="570693"/>
                  </a:cubicBezTo>
                  <a:cubicBezTo>
                    <a:pt x="140360" y="603685"/>
                    <a:pt x="73211" y="637517"/>
                    <a:pt x="4165" y="667286"/>
                  </a:cubicBezTo>
                  <a:cubicBezTo>
                    <a:pt x="-5396" y="671430"/>
                    <a:pt x="2865" y="685435"/>
                    <a:pt x="12292" y="681317"/>
                  </a:cubicBezTo>
                  <a:cubicBezTo>
                    <a:pt x="161028" y="617148"/>
                    <a:pt x="301963" y="536346"/>
                    <a:pt x="453815" y="478921"/>
                  </a:cubicBezTo>
                  <a:cubicBezTo>
                    <a:pt x="636898" y="409658"/>
                    <a:pt x="830518" y="377343"/>
                    <a:pt x="1025899" y="399555"/>
                  </a:cubicBezTo>
                  <a:cubicBezTo>
                    <a:pt x="1270633" y="427374"/>
                    <a:pt x="1512604" y="529574"/>
                    <a:pt x="1710341" y="675195"/>
                  </a:cubicBezTo>
                  <a:cubicBezTo>
                    <a:pt x="1876549" y="797630"/>
                    <a:pt x="2012446" y="953924"/>
                    <a:pt x="2141030" y="1114010"/>
                  </a:cubicBezTo>
                  <a:cubicBezTo>
                    <a:pt x="2264466" y="1267785"/>
                    <a:pt x="2383326" y="1426354"/>
                    <a:pt x="2525426" y="1563659"/>
                  </a:cubicBezTo>
                  <a:cubicBezTo>
                    <a:pt x="2668149" y="1701805"/>
                    <a:pt x="2832704" y="1810669"/>
                    <a:pt x="3018117" y="1882667"/>
                  </a:cubicBezTo>
                  <a:cubicBezTo>
                    <a:pt x="3468091" y="2057434"/>
                    <a:pt x="3973026" y="2019485"/>
                    <a:pt x="4436355" y="1923758"/>
                  </a:cubicBezTo>
                  <a:cubicBezTo>
                    <a:pt x="4969677" y="1813594"/>
                    <a:pt x="5471334" y="1602151"/>
                    <a:pt x="5992629" y="1450380"/>
                  </a:cubicBezTo>
                  <a:cubicBezTo>
                    <a:pt x="6237525" y="1379086"/>
                    <a:pt x="6484887" y="1316352"/>
                    <a:pt x="6728997" y="1242377"/>
                  </a:cubicBezTo>
                  <a:cubicBezTo>
                    <a:pt x="6924514" y="1183164"/>
                    <a:pt x="7096816" y="1099356"/>
                    <a:pt x="7262239" y="978898"/>
                  </a:cubicBezTo>
                  <a:cubicBezTo>
                    <a:pt x="7435110" y="853024"/>
                    <a:pt x="7595196" y="710545"/>
                    <a:pt x="7768636" y="585347"/>
                  </a:cubicBezTo>
                  <a:cubicBezTo>
                    <a:pt x="7965750" y="443030"/>
                    <a:pt x="8178765" y="329182"/>
                    <a:pt x="8401477" y="232372"/>
                  </a:cubicBezTo>
                  <a:cubicBezTo>
                    <a:pt x="8631583" y="132366"/>
                    <a:pt x="8876425" y="44467"/>
                    <a:pt x="9127417" y="18382"/>
                  </a:cubicBezTo>
                  <a:cubicBezTo>
                    <a:pt x="9380168" y="-7757"/>
                    <a:pt x="9647493" y="36423"/>
                    <a:pt x="9890493" y="104764"/>
                  </a:cubicBezTo>
                  <a:cubicBezTo>
                    <a:pt x="10329308" y="228173"/>
                    <a:pt x="10718661" y="472041"/>
                    <a:pt x="11081197" y="742209"/>
                  </a:cubicBezTo>
                  <a:cubicBezTo>
                    <a:pt x="11380566" y="965328"/>
                    <a:pt x="11663142" y="1223849"/>
                    <a:pt x="11989733" y="1407691"/>
                  </a:cubicBezTo>
                  <a:cubicBezTo>
                    <a:pt x="12050734" y="1442444"/>
                    <a:pt x="12114307" y="1472402"/>
                    <a:pt x="12179941" y="1497323"/>
                  </a:cubicBezTo>
                  <a:cubicBezTo>
                    <a:pt x="12189745" y="1501006"/>
                    <a:pt x="12193971" y="1485296"/>
                    <a:pt x="12184247" y="1481666"/>
                  </a:cubicBezTo>
                  <a:close/>
                </a:path>
              </a:pathLst>
            </a:custGeom>
            <a:grpFill/>
            <a:ln w="2709" cap="flat">
              <a:noFill/>
              <a:prstDash val="solid"/>
              <a:miter/>
            </a:ln>
          </p:spPr>
          <p:txBody>
            <a:bodyPr rtlCol="0" anchor="ctr"/>
            <a:lstStyle/>
            <a:p>
              <a:endParaRPr lang="en-IN"/>
            </a:p>
          </p:txBody>
        </p:sp>
        <p:sp>
          <p:nvSpPr>
            <p:cNvPr id="2016" name="Freeform: Shape 2015">
              <a:extLst>
                <a:ext uri="{FF2B5EF4-FFF2-40B4-BE49-F238E27FC236}">
                  <a16:creationId xmlns:a16="http://schemas.microsoft.com/office/drawing/2014/main" id="{FB3B618E-34DE-8B90-DA22-65358DD960BE}"/>
                </a:ext>
              </a:extLst>
            </p:cNvPr>
            <p:cNvSpPr/>
            <p:nvPr/>
          </p:nvSpPr>
          <p:spPr>
            <a:xfrm>
              <a:off x="1993" y="2605267"/>
              <a:ext cx="12188866" cy="1857293"/>
            </a:xfrm>
            <a:custGeom>
              <a:avLst/>
              <a:gdLst>
                <a:gd name="connsiteX0" fmla="*/ 12182283 w 12188866"/>
                <a:gd name="connsiteY0" fmla="*/ 1126444 h 1857293"/>
                <a:gd name="connsiteX1" fmla="*/ 11217975 w 12188866"/>
                <a:gd name="connsiteY1" fmla="*/ 646620 h 1857293"/>
                <a:gd name="connsiteX2" fmla="*/ 10040652 w 12188866"/>
                <a:gd name="connsiteY2" fmla="*/ 97587 h 1857293"/>
                <a:gd name="connsiteX3" fmla="*/ 9308048 w 12188866"/>
                <a:gd name="connsiteY3" fmla="*/ -659 h 1857293"/>
                <a:gd name="connsiteX4" fmla="*/ 8639695 w 12188866"/>
                <a:gd name="connsiteY4" fmla="*/ 113893 h 1857293"/>
                <a:gd name="connsiteX5" fmla="*/ 7977222 w 12188866"/>
                <a:gd name="connsiteY5" fmla="*/ 380460 h 1857293"/>
                <a:gd name="connsiteX6" fmla="*/ 7379296 w 12188866"/>
                <a:gd name="connsiteY6" fmla="*/ 723358 h 1857293"/>
                <a:gd name="connsiteX7" fmla="*/ 6849685 w 12188866"/>
                <a:gd name="connsiteY7" fmla="*/ 989518 h 1857293"/>
                <a:gd name="connsiteX8" fmla="*/ 6195770 w 12188866"/>
                <a:gd name="connsiteY8" fmla="*/ 1114391 h 1857293"/>
                <a:gd name="connsiteX9" fmla="*/ 5441903 w 12188866"/>
                <a:gd name="connsiteY9" fmla="*/ 1300426 h 1857293"/>
                <a:gd name="connsiteX10" fmla="*/ 4676470 w 12188866"/>
                <a:gd name="connsiteY10" fmla="*/ 1573250 h 1857293"/>
                <a:gd name="connsiteX11" fmla="*/ 3192301 w 12188866"/>
                <a:gd name="connsiteY11" fmla="*/ 1824186 h 1857293"/>
                <a:gd name="connsiteX12" fmla="*/ 2575496 w 12188866"/>
                <a:gd name="connsiteY12" fmla="*/ 1589204 h 1857293"/>
                <a:gd name="connsiteX13" fmla="*/ 2166261 w 12188866"/>
                <a:gd name="connsiteY13" fmla="*/ 1169920 h 1857293"/>
                <a:gd name="connsiteX14" fmla="*/ 1790885 w 12188866"/>
                <a:gd name="connsiteY14" fmla="*/ 728775 h 1857293"/>
                <a:gd name="connsiteX15" fmla="*/ 1269508 w 12188866"/>
                <a:gd name="connsiteY15" fmla="*/ 394437 h 1857293"/>
                <a:gd name="connsiteX16" fmla="*/ 683935 w 12188866"/>
                <a:gd name="connsiteY16" fmla="*/ 317292 h 1857293"/>
                <a:gd name="connsiteX17" fmla="*/ 205708 w 12188866"/>
                <a:gd name="connsiteY17" fmla="*/ 462941 h 1857293"/>
                <a:gd name="connsiteX18" fmla="*/ 6156 w 12188866"/>
                <a:gd name="connsiteY18" fmla="*/ 543092 h 1857293"/>
                <a:gd name="connsiteX19" fmla="*/ 11032 w 12188866"/>
                <a:gd name="connsiteY19" fmla="*/ 560726 h 1857293"/>
                <a:gd name="connsiteX20" fmla="*/ 442560 w 12188866"/>
                <a:gd name="connsiteY20" fmla="*/ 391701 h 1857293"/>
                <a:gd name="connsiteX21" fmla="*/ 1017353 w 12188866"/>
                <a:gd name="connsiteY21" fmla="*/ 342538 h 1857293"/>
                <a:gd name="connsiteX22" fmla="*/ 1657128 w 12188866"/>
                <a:gd name="connsiteY22" fmla="*/ 634864 h 1857293"/>
                <a:gd name="connsiteX23" fmla="*/ 2051600 w 12188866"/>
                <a:gd name="connsiteY23" fmla="*/ 1053932 h 1857293"/>
                <a:gd name="connsiteX24" fmla="*/ 2914629 w 12188866"/>
                <a:gd name="connsiteY24" fmla="*/ 1783068 h 1857293"/>
                <a:gd name="connsiteX25" fmla="*/ 4277284 w 12188866"/>
                <a:gd name="connsiteY25" fmla="*/ 1715891 h 1857293"/>
                <a:gd name="connsiteX26" fmla="*/ 5796882 w 12188866"/>
                <a:gd name="connsiteY26" fmla="*/ 1216699 h 1857293"/>
                <a:gd name="connsiteX27" fmla="*/ 6517648 w 12188866"/>
                <a:gd name="connsiteY27" fmla="*/ 1077850 h 1857293"/>
                <a:gd name="connsiteX28" fmla="*/ 7075241 w 12188866"/>
                <a:gd name="connsiteY28" fmla="*/ 918035 h 1857293"/>
                <a:gd name="connsiteX29" fmla="*/ 7589900 w 12188866"/>
                <a:gd name="connsiteY29" fmla="*/ 614196 h 1857293"/>
                <a:gd name="connsiteX30" fmla="*/ 8251182 w 12188866"/>
                <a:gd name="connsiteY30" fmla="*/ 278991 h 1857293"/>
                <a:gd name="connsiteX31" fmla="*/ 8940798 w 12188866"/>
                <a:gd name="connsiteY31" fmla="*/ 51701 h 1857293"/>
                <a:gd name="connsiteX32" fmla="*/ 9705717 w 12188866"/>
                <a:gd name="connsiteY32" fmla="*/ 47313 h 1857293"/>
                <a:gd name="connsiteX33" fmla="*/ 10977222 w 12188866"/>
                <a:gd name="connsiteY33" fmla="*/ 525919 h 1857293"/>
                <a:gd name="connsiteX34" fmla="*/ 11961900 w 12188866"/>
                <a:gd name="connsiteY34" fmla="*/ 1075791 h 1857293"/>
                <a:gd name="connsiteX35" fmla="*/ 12177407 w 12188866"/>
                <a:gd name="connsiteY35" fmla="*/ 1144160 h 1857293"/>
                <a:gd name="connsiteX36" fmla="*/ 12182283 w 12188866"/>
                <a:gd name="connsiteY36" fmla="*/ 1126526 h 185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866" h="1857293">
                  <a:moveTo>
                    <a:pt x="12182283" y="1126444"/>
                  </a:moveTo>
                  <a:cubicBezTo>
                    <a:pt x="11832126" y="1047241"/>
                    <a:pt x="11521190" y="828918"/>
                    <a:pt x="11217975" y="646620"/>
                  </a:cubicBezTo>
                  <a:cubicBezTo>
                    <a:pt x="10846093" y="422960"/>
                    <a:pt x="10462455" y="210785"/>
                    <a:pt x="10040652" y="97587"/>
                  </a:cubicBezTo>
                  <a:cubicBezTo>
                    <a:pt x="9801904" y="33499"/>
                    <a:pt x="9555166" y="1454"/>
                    <a:pt x="9308048" y="-659"/>
                  </a:cubicBezTo>
                  <a:cubicBezTo>
                    <a:pt x="9077941" y="-2636"/>
                    <a:pt x="8858128" y="43277"/>
                    <a:pt x="8639695" y="113893"/>
                  </a:cubicBezTo>
                  <a:cubicBezTo>
                    <a:pt x="8413733" y="187029"/>
                    <a:pt x="8191400" y="277880"/>
                    <a:pt x="7977222" y="380460"/>
                  </a:cubicBezTo>
                  <a:cubicBezTo>
                    <a:pt x="7769408" y="479979"/>
                    <a:pt x="7574704" y="601953"/>
                    <a:pt x="7379296" y="723358"/>
                  </a:cubicBezTo>
                  <a:cubicBezTo>
                    <a:pt x="7211355" y="827726"/>
                    <a:pt x="7039567" y="930143"/>
                    <a:pt x="6849685" y="989518"/>
                  </a:cubicBezTo>
                  <a:cubicBezTo>
                    <a:pt x="6639054" y="1055395"/>
                    <a:pt x="6412441" y="1075358"/>
                    <a:pt x="6195770" y="1114391"/>
                  </a:cubicBezTo>
                  <a:cubicBezTo>
                    <a:pt x="5940662" y="1160439"/>
                    <a:pt x="5687883" y="1217973"/>
                    <a:pt x="5441903" y="1300426"/>
                  </a:cubicBezTo>
                  <a:cubicBezTo>
                    <a:pt x="5185088" y="1386537"/>
                    <a:pt x="4933203" y="1486760"/>
                    <a:pt x="4676470" y="1573250"/>
                  </a:cubicBezTo>
                  <a:cubicBezTo>
                    <a:pt x="4206125" y="1731683"/>
                    <a:pt x="3693904" y="1883128"/>
                    <a:pt x="3192301" y="1824186"/>
                  </a:cubicBezTo>
                  <a:cubicBezTo>
                    <a:pt x="2969779" y="1798047"/>
                    <a:pt x="2757144" y="1721417"/>
                    <a:pt x="2575496" y="1589204"/>
                  </a:cubicBezTo>
                  <a:cubicBezTo>
                    <a:pt x="2416494" y="1473460"/>
                    <a:pt x="2288019" y="1322882"/>
                    <a:pt x="2166261" y="1169920"/>
                  </a:cubicBezTo>
                  <a:cubicBezTo>
                    <a:pt x="2045966" y="1018854"/>
                    <a:pt x="1929762" y="863643"/>
                    <a:pt x="1790885" y="728775"/>
                  </a:cubicBezTo>
                  <a:cubicBezTo>
                    <a:pt x="1641501" y="583208"/>
                    <a:pt x="1464128" y="469469"/>
                    <a:pt x="1269508" y="394437"/>
                  </a:cubicBezTo>
                  <a:cubicBezTo>
                    <a:pt x="1082904" y="322385"/>
                    <a:pt x="882945" y="291695"/>
                    <a:pt x="683935" y="317292"/>
                  </a:cubicBezTo>
                  <a:cubicBezTo>
                    <a:pt x="516996" y="338772"/>
                    <a:pt x="359998" y="398256"/>
                    <a:pt x="205708" y="462941"/>
                  </a:cubicBezTo>
                  <a:cubicBezTo>
                    <a:pt x="139588" y="490678"/>
                    <a:pt x="73685" y="518876"/>
                    <a:pt x="6156" y="543092"/>
                  </a:cubicBezTo>
                  <a:cubicBezTo>
                    <a:pt x="-4841" y="547047"/>
                    <a:pt x="-101" y="564762"/>
                    <a:pt x="11032" y="560726"/>
                  </a:cubicBezTo>
                  <a:cubicBezTo>
                    <a:pt x="156518" y="508529"/>
                    <a:pt x="295448" y="439429"/>
                    <a:pt x="442560" y="391701"/>
                  </a:cubicBezTo>
                  <a:cubicBezTo>
                    <a:pt x="628893" y="331323"/>
                    <a:pt x="823380" y="309274"/>
                    <a:pt x="1017353" y="342538"/>
                  </a:cubicBezTo>
                  <a:cubicBezTo>
                    <a:pt x="1249003" y="382275"/>
                    <a:pt x="1473774" y="488592"/>
                    <a:pt x="1657128" y="634864"/>
                  </a:cubicBezTo>
                  <a:cubicBezTo>
                    <a:pt x="1807923" y="755186"/>
                    <a:pt x="1932281" y="903381"/>
                    <a:pt x="2051600" y="1053932"/>
                  </a:cubicBezTo>
                  <a:cubicBezTo>
                    <a:pt x="2291838" y="1357066"/>
                    <a:pt x="2532725" y="1658629"/>
                    <a:pt x="2914629" y="1783068"/>
                  </a:cubicBezTo>
                  <a:cubicBezTo>
                    <a:pt x="3355015" y="1926631"/>
                    <a:pt x="3842695" y="1835807"/>
                    <a:pt x="4277284" y="1715891"/>
                  </a:cubicBezTo>
                  <a:cubicBezTo>
                    <a:pt x="4791943" y="1573900"/>
                    <a:pt x="5278783" y="1344579"/>
                    <a:pt x="5796882" y="1216699"/>
                  </a:cubicBezTo>
                  <a:cubicBezTo>
                    <a:pt x="6034709" y="1158028"/>
                    <a:pt x="6276327" y="1118914"/>
                    <a:pt x="6517648" y="1077850"/>
                  </a:cubicBezTo>
                  <a:cubicBezTo>
                    <a:pt x="6712298" y="1044722"/>
                    <a:pt x="6896871" y="1005337"/>
                    <a:pt x="7075241" y="918035"/>
                  </a:cubicBezTo>
                  <a:cubicBezTo>
                    <a:pt x="7254369" y="830516"/>
                    <a:pt x="7419846" y="717724"/>
                    <a:pt x="7589900" y="614196"/>
                  </a:cubicBezTo>
                  <a:cubicBezTo>
                    <a:pt x="7802075" y="484990"/>
                    <a:pt x="8022051" y="374799"/>
                    <a:pt x="8251182" y="278991"/>
                  </a:cubicBezTo>
                  <a:cubicBezTo>
                    <a:pt x="8474219" y="185702"/>
                    <a:pt x="8703540" y="100756"/>
                    <a:pt x="8940798" y="51701"/>
                  </a:cubicBezTo>
                  <a:cubicBezTo>
                    <a:pt x="9191572" y="-117"/>
                    <a:pt x="9453426" y="10854"/>
                    <a:pt x="9705717" y="47313"/>
                  </a:cubicBezTo>
                  <a:cubicBezTo>
                    <a:pt x="10161244" y="113108"/>
                    <a:pt x="10580637" y="299036"/>
                    <a:pt x="10977222" y="525919"/>
                  </a:cubicBezTo>
                  <a:cubicBezTo>
                    <a:pt x="11301999" y="711684"/>
                    <a:pt x="11613368" y="935343"/>
                    <a:pt x="11961900" y="1075791"/>
                  </a:cubicBezTo>
                  <a:cubicBezTo>
                    <a:pt x="12031786" y="1104314"/>
                    <a:pt x="12103865" y="1127176"/>
                    <a:pt x="12177407" y="1144160"/>
                  </a:cubicBezTo>
                  <a:cubicBezTo>
                    <a:pt x="12188865" y="1146868"/>
                    <a:pt x="12193659" y="1129126"/>
                    <a:pt x="12182283" y="1126526"/>
                  </a:cubicBezTo>
                  <a:close/>
                </a:path>
              </a:pathLst>
            </a:custGeom>
            <a:grpFill/>
            <a:ln w="2709" cap="flat">
              <a:noFill/>
              <a:prstDash val="solid"/>
              <a:miter/>
            </a:ln>
          </p:spPr>
          <p:txBody>
            <a:bodyPr rtlCol="0" anchor="ctr"/>
            <a:lstStyle/>
            <a:p>
              <a:endParaRPr lang="en-IN"/>
            </a:p>
          </p:txBody>
        </p:sp>
        <p:sp>
          <p:nvSpPr>
            <p:cNvPr id="2017" name="Freeform: Shape 2016">
              <a:extLst>
                <a:ext uri="{FF2B5EF4-FFF2-40B4-BE49-F238E27FC236}">
                  <a16:creationId xmlns:a16="http://schemas.microsoft.com/office/drawing/2014/main" id="{3F994D70-C69F-1E21-4124-289D5E25BE53}"/>
                </a:ext>
              </a:extLst>
            </p:cNvPr>
            <p:cNvSpPr/>
            <p:nvPr/>
          </p:nvSpPr>
          <p:spPr>
            <a:xfrm>
              <a:off x="2043" y="2782539"/>
              <a:ext cx="12188273" cy="1724824"/>
            </a:xfrm>
            <a:custGeom>
              <a:avLst/>
              <a:gdLst>
                <a:gd name="connsiteX0" fmla="*/ 12178602 w 12188273"/>
                <a:gd name="connsiteY0" fmla="*/ 775598 h 1724824"/>
                <a:gd name="connsiteX1" fmla="*/ 11122197 w 12188273"/>
                <a:gd name="connsiteY1" fmla="*/ 416664 h 1724824"/>
                <a:gd name="connsiteX2" fmla="*/ 9887882 w 12188273"/>
                <a:gd name="connsiteY2" fmla="*/ 30940 h 1724824"/>
                <a:gd name="connsiteX3" fmla="*/ 9143740 w 12188273"/>
                <a:gd name="connsiteY3" fmla="*/ 9785 h 1724824"/>
                <a:gd name="connsiteX4" fmla="*/ 8494755 w 12188273"/>
                <a:gd name="connsiteY4" fmla="*/ 160119 h 1724824"/>
                <a:gd name="connsiteX5" fmla="*/ 7823233 w 12188273"/>
                <a:gd name="connsiteY5" fmla="*/ 413955 h 1724824"/>
                <a:gd name="connsiteX6" fmla="*/ 7226907 w 12188273"/>
                <a:gd name="connsiteY6" fmla="*/ 685505 h 1724824"/>
                <a:gd name="connsiteX7" fmla="*/ 6674758 w 12188273"/>
                <a:gd name="connsiteY7" fmla="*/ 852038 h 1724824"/>
                <a:gd name="connsiteX8" fmla="*/ 6015345 w 12188273"/>
                <a:gd name="connsiteY8" fmla="*/ 896732 h 1724824"/>
                <a:gd name="connsiteX9" fmla="*/ 5290542 w 12188273"/>
                <a:gd name="connsiteY9" fmla="*/ 1047337 h 1724824"/>
                <a:gd name="connsiteX10" fmla="*/ 4550192 w 12188273"/>
                <a:gd name="connsiteY10" fmla="*/ 1333027 h 1724824"/>
                <a:gd name="connsiteX11" fmla="*/ 3139430 w 12188273"/>
                <a:gd name="connsiteY11" fmla="*/ 1702146 h 1724824"/>
                <a:gd name="connsiteX12" fmla="*/ 2534408 w 12188273"/>
                <a:gd name="connsiteY12" fmla="*/ 1546638 h 1724824"/>
                <a:gd name="connsiteX13" fmla="*/ 2115395 w 12188273"/>
                <a:gd name="connsiteY13" fmla="*/ 1158991 h 1724824"/>
                <a:gd name="connsiteX14" fmla="*/ 1756704 w 12188273"/>
                <a:gd name="connsiteY14" fmla="*/ 720637 h 1724824"/>
                <a:gd name="connsiteX15" fmla="*/ 1266749 w 12188273"/>
                <a:gd name="connsiteY15" fmla="*/ 361947 h 1724824"/>
                <a:gd name="connsiteX16" fmla="*/ 687649 w 12188273"/>
                <a:gd name="connsiteY16" fmla="*/ 245472 h 1724824"/>
                <a:gd name="connsiteX17" fmla="*/ 217495 w 12188273"/>
                <a:gd name="connsiteY17" fmla="*/ 355473 h 1724824"/>
                <a:gd name="connsiteX18" fmla="*/ 7080 w 12188273"/>
                <a:gd name="connsiteY18" fmla="*/ 424519 h 1724824"/>
                <a:gd name="connsiteX19" fmla="*/ 12498 w 12188273"/>
                <a:gd name="connsiteY19" fmla="*/ 444103 h 1724824"/>
                <a:gd name="connsiteX20" fmla="*/ 451502 w 12188273"/>
                <a:gd name="connsiteY20" fmla="*/ 304224 h 1724824"/>
                <a:gd name="connsiteX21" fmla="*/ 1026322 w 12188273"/>
                <a:gd name="connsiteY21" fmla="*/ 297534 h 1724824"/>
                <a:gd name="connsiteX22" fmla="*/ 1633078 w 12188273"/>
                <a:gd name="connsiteY22" fmla="*/ 626997 h 1724824"/>
                <a:gd name="connsiteX23" fmla="*/ 2008562 w 12188273"/>
                <a:gd name="connsiteY23" fmla="*/ 1057116 h 1724824"/>
                <a:gd name="connsiteX24" fmla="*/ 2875167 w 12188273"/>
                <a:gd name="connsiteY24" fmla="*/ 1699085 h 1724824"/>
                <a:gd name="connsiteX25" fmla="*/ 4181723 w 12188273"/>
                <a:gd name="connsiteY25" fmla="*/ 1493682 h 1724824"/>
                <a:gd name="connsiteX26" fmla="*/ 5649531 w 12188273"/>
                <a:gd name="connsiteY26" fmla="*/ 971683 h 1724824"/>
                <a:gd name="connsiteX27" fmla="*/ 6377881 w 12188273"/>
                <a:gd name="connsiteY27" fmla="*/ 891640 h 1724824"/>
                <a:gd name="connsiteX28" fmla="*/ 6944982 w 12188273"/>
                <a:gd name="connsiteY28" fmla="*/ 814657 h 1724824"/>
                <a:gd name="connsiteX29" fmla="*/ 7462972 w 12188273"/>
                <a:gd name="connsiteY29" fmla="*/ 599124 h 1724824"/>
                <a:gd name="connsiteX30" fmla="*/ 8137175 w 12188273"/>
                <a:gd name="connsiteY30" fmla="*/ 310888 h 1724824"/>
                <a:gd name="connsiteX31" fmla="*/ 8824245 w 12188273"/>
                <a:gd name="connsiteY31" fmla="*/ 84600 h 1724824"/>
                <a:gd name="connsiteX32" fmla="*/ 9535937 w 12188273"/>
                <a:gd name="connsiteY32" fmla="*/ 22299 h 1724824"/>
                <a:gd name="connsiteX33" fmla="*/ 10885454 w 12188273"/>
                <a:gd name="connsiteY33" fmla="*/ 338246 h 1724824"/>
                <a:gd name="connsiteX34" fmla="*/ 11946871 w 12188273"/>
                <a:gd name="connsiteY34" fmla="*/ 755797 h 1724824"/>
                <a:gd name="connsiteX35" fmla="*/ 12178467 w 12188273"/>
                <a:gd name="connsiteY35" fmla="*/ 795886 h 1724824"/>
                <a:gd name="connsiteX36" fmla="*/ 12178467 w 12188273"/>
                <a:gd name="connsiteY36" fmla="*/ 775571 h 172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273" h="1724824">
                  <a:moveTo>
                    <a:pt x="12178602" y="775598"/>
                  </a:moveTo>
                  <a:cubicBezTo>
                    <a:pt x="11806775" y="739842"/>
                    <a:pt x="11459922" y="563395"/>
                    <a:pt x="11122197" y="416664"/>
                  </a:cubicBezTo>
                  <a:cubicBezTo>
                    <a:pt x="10725179" y="244226"/>
                    <a:pt x="10319302" y="89178"/>
                    <a:pt x="9887882" y="30940"/>
                  </a:cubicBezTo>
                  <a:cubicBezTo>
                    <a:pt x="9641279" y="-2296"/>
                    <a:pt x="9391833" y="-9393"/>
                    <a:pt x="9143740" y="9785"/>
                  </a:cubicBezTo>
                  <a:cubicBezTo>
                    <a:pt x="8922003" y="27013"/>
                    <a:pt x="8704790" y="90072"/>
                    <a:pt x="8494755" y="160119"/>
                  </a:cubicBezTo>
                  <a:cubicBezTo>
                    <a:pt x="8268088" y="235666"/>
                    <a:pt x="8043209" y="320693"/>
                    <a:pt x="7823233" y="413955"/>
                  </a:cubicBezTo>
                  <a:cubicBezTo>
                    <a:pt x="7622056" y="499280"/>
                    <a:pt x="7426837" y="597499"/>
                    <a:pt x="7226907" y="685505"/>
                  </a:cubicBezTo>
                  <a:cubicBezTo>
                    <a:pt x="7050216" y="763273"/>
                    <a:pt x="6867350" y="828878"/>
                    <a:pt x="6674758" y="852038"/>
                  </a:cubicBezTo>
                  <a:cubicBezTo>
                    <a:pt x="6456272" y="878340"/>
                    <a:pt x="6234454" y="874737"/>
                    <a:pt x="6015345" y="896732"/>
                  </a:cubicBezTo>
                  <a:cubicBezTo>
                    <a:pt x="5768850" y="921463"/>
                    <a:pt x="5525579" y="968513"/>
                    <a:pt x="5290542" y="1047337"/>
                  </a:cubicBezTo>
                  <a:cubicBezTo>
                    <a:pt x="5039822" y="1131308"/>
                    <a:pt x="4796199" y="1236353"/>
                    <a:pt x="4550192" y="1333027"/>
                  </a:cubicBezTo>
                  <a:cubicBezTo>
                    <a:pt x="4103956" y="1508363"/>
                    <a:pt x="3626217" y="1700277"/>
                    <a:pt x="3139430" y="1702146"/>
                  </a:cubicBezTo>
                  <a:cubicBezTo>
                    <a:pt x="2926280" y="1702959"/>
                    <a:pt x="2718115" y="1657317"/>
                    <a:pt x="2534408" y="1546638"/>
                  </a:cubicBezTo>
                  <a:cubicBezTo>
                    <a:pt x="2369419" y="1447227"/>
                    <a:pt x="2236285" y="1307132"/>
                    <a:pt x="2115395" y="1158991"/>
                  </a:cubicBezTo>
                  <a:cubicBezTo>
                    <a:pt x="1996021" y="1012720"/>
                    <a:pt x="1885992" y="858620"/>
                    <a:pt x="1756704" y="720637"/>
                  </a:cubicBezTo>
                  <a:cubicBezTo>
                    <a:pt x="1616175" y="570628"/>
                    <a:pt x="1454301" y="447624"/>
                    <a:pt x="1266749" y="361947"/>
                  </a:cubicBezTo>
                  <a:cubicBezTo>
                    <a:pt x="1084966" y="278871"/>
                    <a:pt x="888041" y="232984"/>
                    <a:pt x="687649" y="245472"/>
                  </a:cubicBezTo>
                  <a:cubicBezTo>
                    <a:pt x="525396" y="255629"/>
                    <a:pt x="370240" y="302707"/>
                    <a:pt x="217495" y="355473"/>
                  </a:cubicBezTo>
                  <a:cubicBezTo>
                    <a:pt x="147691" y="379581"/>
                    <a:pt x="78103" y="404230"/>
                    <a:pt x="7080" y="424519"/>
                  </a:cubicBezTo>
                  <a:cubicBezTo>
                    <a:pt x="-5488" y="428094"/>
                    <a:pt x="-152" y="447706"/>
                    <a:pt x="12498" y="444103"/>
                  </a:cubicBezTo>
                  <a:cubicBezTo>
                    <a:pt x="160313" y="402036"/>
                    <a:pt x="302332" y="341903"/>
                    <a:pt x="451502" y="304224"/>
                  </a:cubicBezTo>
                  <a:cubicBezTo>
                    <a:pt x="641113" y="256361"/>
                    <a:pt x="835925" y="249562"/>
                    <a:pt x="1026322" y="297534"/>
                  </a:cubicBezTo>
                  <a:cubicBezTo>
                    <a:pt x="1251445" y="354254"/>
                    <a:pt x="1461534" y="471434"/>
                    <a:pt x="1633078" y="626997"/>
                  </a:cubicBezTo>
                  <a:cubicBezTo>
                    <a:pt x="1774636" y="755309"/>
                    <a:pt x="1891247" y="907188"/>
                    <a:pt x="2008562" y="1057116"/>
                  </a:cubicBezTo>
                  <a:cubicBezTo>
                    <a:pt x="2237802" y="1350038"/>
                    <a:pt x="2493615" y="1625462"/>
                    <a:pt x="2875167" y="1699085"/>
                  </a:cubicBezTo>
                  <a:cubicBezTo>
                    <a:pt x="3312735" y="1783462"/>
                    <a:pt x="3773165" y="1639141"/>
                    <a:pt x="4181723" y="1493682"/>
                  </a:cubicBezTo>
                  <a:cubicBezTo>
                    <a:pt x="4668834" y="1320323"/>
                    <a:pt x="5140614" y="1075806"/>
                    <a:pt x="5649531" y="971683"/>
                  </a:cubicBezTo>
                  <a:cubicBezTo>
                    <a:pt x="5889660" y="922546"/>
                    <a:pt x="6133554" y="904398"/>
                    <a:pt x="6377881" y="891640"/>
                  </a:cubicBezTo>
                  <a:cubicBezTo>
                    <a:pt x="6571014" y="881563"/>
                    <a:pt x="6758810" y="871433"/>
                    <a:pt x="6944982" y="814657"/>
                  </a:cubicBezTo>
                  <a:cubicBezTo>
                    <a:pt x="7124137" y="759995"/>
                    <a:pt x="7293812" y="678463"/>
                    <a:pt x="7462972" y="599124"/>
                  </a:cubicBezTo>
                  <a:cubicBezTo>
                    <a:pt x="7684682" y="495108"/>
                    <a:pt x="7908369" y="398325"/>
                    <a:pt x="8137175" y="310888"/>
                  </a:cubicBezTo>
                  <a:cubicBezTo>
                    <a:pt x="8362271" y="224885"/>
                    <a:pt x="8589858" y="141944"/>
                    <a:pt x="8824245" y="84600"/>
                  </a:cubicBezTo>
                  <a:cubicBezTo>
                    <a:pt x="9058036" y="27392"/>
                    <a:pt x="9295916" y="14850"/>
                    <a:pt x="9535937" y="22299"/>
                  </a:cubicBezTo>
                  <a:cubicBezTo>
                    <a:pt x="10005983" y="36926"/>
                    <a:pt x="10452517" y="160878"/>
                    <a:pt x="10885454" y="338246"/>
                  </a:cubicBezTo>
                  <a:cubicBezTo>
                    <a:pt x="11235638" y="481808"/>
                    <a:pt x="11577752" y="664377"/>
                    <a:pt x="11946871" y="755797"/>
                  </a:cubicBezTo>
                  <a:cubicBezTo>
                    <a:pt x="12022986" y="774812"/>
                    <a:pt x="12100401" y="788220"/>
                    <a:pt x="12178467" y="795886"/>
                  </a:cubicBezTo>
                  <a:cubicBezTo>
                    <a:pt x="12191469" y="797132"/>
                    <a:pt x="12191388" y="776925"/>
                    <a:pt x="12178467" y="775571"/>
                  </a:cubicBezTo>
                  <a:close/>
                </a:path>
              </a:pathLst>
            </a:custGeom>
            <a:grpFill/>
            <a:ln w="2709" cap="flat">
              <a:noFill/>
              <a:prstDash val="solid"/>
              <a:miter/>
            </a:ln>
          </p:spPr>
          <p:txBody>
            <a:bodyPr rtlCol="0" anchor="ctr"/>
            <a:lstStyle/>
            <a:p>
              <a:endParaRPr lang="en-IN"/>
            </a:p>
          </p:txBody>
        </p:sp>
        <p:sp>
          <p:nvSpPr>
            <p:cNvPr id="2018" name="Freeform: Shape 2017">
              <a:extLst>
                <a:ext uri="{FF2B5EF4-FFF2-40B4-BE49-F238E27FC236}">
                  <a16:creationId xmlns:a16="http://schemas.microsoft.com/office/drawing/2014/main" id="{E5812297-2C04-8018-E9E1-34C9DBA09500}"/>
                </a:ext>
              </a:extLst>
            </p:cNvPr>
            <p:cNvSpPr/>
            <p:nvPr/>
          </p:nvSpPr>
          <p:spPr>
            <a:xfrm>
              <a:off x="2394" y="2946121"/>
              <a:ext cx="12187942" cy="1613988"/>
            </a:xfrm>
            <a:custGeom>
              <a:avLst/>
              <a:gdLst>
                <a:gd name="connsiteX0" fmla="*/ 12177168 w 12187942"/>
                <a:gd name="connsiteY0" fmla="*/ 438684 h 1613988"/>
                <a:gd name="connsiteX1" fmla="*/ 11040124 w 12187942"/>
                <a:gd name="connsiteY1" fmla="*/ 221985 h 1613988"/>
                <a:gd name="connsiteX2" fmla="*/ 9698435 w 12187942"/>
                <a:gd name="connsiteY2" fmla="*/ -510 h 1613988"/>
                <a:gd name="connsiteX3" fmla="*/ 8994680 w 12187942"/>
                <a:gd name="connsiteY3" fmla="*/ 46568 h 1613988"/>
                <a:gd name="connsiteX4" fmla="*/ 8313461 w 12187942"/>
                <a:gd name="connsiteY4" fmla="*/ 230626 h 1613988"/>
                <a:gd name="connsiteX5" fmla="*/ 7615421 w 12187942"/>
                <a:gd name="connsiteY5" fmla="*/ 467748 h 1613988"/>
                <a:gd name="connsiteX6" fmla="*/ 7042903 w 12187942"/>
                <a:gd name="connsiteY6" fmla="*/ 650642 h 1613988"/>
                <a:gd name="connsiteX7" fmla="*/ 6508904 w 12187942"/>
                <a:gd name="connsiteY7" fmla="*/ 709015 h 1613988"/>
                <a:gd name="connsiteX8" fmla="*/ 5842963 w 12187942"/>
                <a:gd name="connsiteY8" fmla="*/ 682822 h 1613988"/>
                <a:gd name="connsiteX9" fmla="*/ 5135712 w 12187942"/>
                <a:gd name="connsiteY9" fmla="*/ 809022 h 1613988"/>
                <a:gd name="connsiteX10" fmla="*/ 4449483 w 12187942"/>
                <a:gd name="connsiteY10" fmla="*/ 1093845 h 1613988"/>
                <a:gd name="connsiteX11" fmla="*/ 3117355 w 12187942"/>
                <a:gd name="connsiteY11" fmla="*/ 1573290 h 1613988"/>
                <a:gd name="connsiteX12" fmla="*/ 2529913 w 12187942"/>
                <a:gd name="connsiteY12" fmla="*/ 1522447 h 1613988"/>
                <a:gd name="connsiteX13" fmla="*/ 2080263 w 12187942"/>
                <a:gd name="connsiteY13" fmla="*/ 1177869 h 1613988"/>
                <a:gd name="connsiteX14" fmla="*/ 1303806 w 12187942"/>
                <a:gd name="connsiteY14" fmla="*/ 371697 h 1613988"/>
                <a:gd name="connsiteX15" fmla="*/ 706070 w 12187942"/>
                <a:gd name="connsiteY15" fmla="*/ 191079 h 1613988"/>
                <a:gd name="connsiteX16" fmla="*/ 223916 w 12187942"/>
                <a:gd name="connsiteY16" fmla="*/ 265650 h 1613988"/>
                <a:gd name="connsiteX17" fmla="*/ 7948 w 12187942"/>
                <a:gd name="connsiteY17" fmla="*/ 319825 h 1613988"/>
                <a:gd name="connsiteX18" fmla="*/ 13880 w 12187942"/>
                <a:gd name="connsiteY18" fmla="*/ 341495 h 1613988"/>
                <a:gd name="connsiteX19" fmla="*/ 468947 w 12187942"/>
                <a:gd name="connsiteY19" fmla="*/ 231926 h 1613988"/>
                <a:gd name="connsiteX20" fmla="*/ 1055334 w 12187942"/>
                <a:gd name="connsiteY20" fmla="*/ 279844 h 1613988"/>
                <a:gd name="connsiteX21" fmla="*/ 1615228 w 12187942"/>
                <a:gd name="connsiteY21" fmla="*/ 647933 h 1613988"/>
                <a:gd name="connsiteX22" fmla="*/ 1970478 w 12187942"/>
                <a:gd name="connsiteY22" fmla="*/ 1080843 h 1613988"/>
                <a:gd name="connsiteX23" fmla="*/ 2841715 w 12187942"/>
                <a:gd name="connsiteY23" fmla="*/ 1611754 h 1613988"/>
                <a:gd name="connsiteX24" fmla="*/ 4073565 w 12187942"/>
                <a:gd name="connsiteY24" fmla="*/ 1284620 h 1613988"/>
                <a:gd name="connsiteX25" fmla="*/ 4756626 w 12187942"/>
                <a:gd name="connsiteY25" fmla="*/ 982678 h 1613988"/>
                <a:gd name="connsiteX26" fmla="*/ 5498818 w 12187942"/>
                <a:gd name="connsiteY26" fmla="*/ 739163 h 1613988"/>
                <a:gd name="connsiteX27" fmla="*/ 6205255 w 12187942"/>
                <a:gd name="connsiteY27" fmla="*/ 712076 h 1613988"/>
                <a:gd name="connsiteX28" fmla="*/ 6793050 w 12187942"/>
                <a:gd name="connsiteY28" fmla="*/ 720419 h 1613988"/>
                <a:gd name="connsiteX29" fmla="*/ 7947755 w 12187942"/>
                <a:gd name="connsiteY29" fmla="*/ 377304 h 1613988"/>
                <a:gd name="connsiteX30" fmla="*/ 8643168 w 12187942"/>
                <a:gd name="connsiteY30" fmla="*/ 151531 h 1613988"/>
                <a:gd name="connsiteX31" fmla="*/ 9349767 w 12187942"/>
                <a:gd name="connsiteY31" fmla="*/ 32347 h 1613988"/>
                <a:gd name="connsiteX32" fmla="*/ 10766027 w 12187942"/>
                <a:gd name="connsiteY32" fmla="*/ 172036 h 1613988"/>
                <a:gd name="connsiteX33" fmla="*/ 11912227 w 12187942"/>
                <a:gd name="connsiteY33" fmla="*/ 447677 h 1613988"/>
                <a:gd name="connsiteX34" fmla="*/ 12177059 w 12187942"/>
                <a:gd name="connsiteY34" fmla="*/ 461058 h 1613988"/>
                <a:gd name="connsiteX35" fmla="*/ 12177059 w 12187942"/>
                <a:gd name="connsiteY35" fmla="*/ 438711 h 161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7942" h="1613988">
                  <a:moveTo>
                    <a:pt x="12177168" y="438684"/>
                  </a:moveTo>
                  <a:cubicBezTo>
                    <a:pt x="11788384" y="446160"/>
                    <a:pt x="11410786" y="324321"/>
                    <a:pt x="11040124" y="221985"/>
                  </a:cubicBezTo>
                  <a:cubicBezTo>
                    <a:pt x="10600253" y="100363"/>
                    <a:pt x="10156887" y="3201"/>
                    <a:pt x="9698435" y="-510"/>
                  </a:cubicBezTo>
                  <a:cubicBezTo>
                    <a:pt x="9464752" y="-2406"/>
                    <a:pt x="9225463" y="8158"/>
                    <a:pt x="8994680" y="46568"/>
                  </a:cubicBezTo>
                  <a:cubicBezTo>
                    <a:pt x="8762568" y="85167"/>
                    <a:pt x="8536443" y="157003"/>
                    <a:pt x="8313461" y="230626"/>
                  </a:cubicBezTo>
                  <a:cubicBezTo>
                    <a:pt x="8080158" y="307663"/>
                    <a:pt x="7847478" y="386703"/>
                    <a:pt x="7615421" y="467748"/>
                  </a:cubicBezTo>
                  <a:cubicBezTo>
                    <a:pt x="7426405" y="533706"/>
                    <a:pt x="7237363" y="602156"/>
                    <a:pt x="7042903" y="650642"/>
                  </a:cubicBezTo>
                  <a:cubicBezTo>
                    <a:pt x="6868028" y="694253"/>
                    <a:pt x="6689251" y="717006"/>
                    <a:pt x="6508904" y="709015"/>
                  </a:cubicBezTo>
                  <a:cubicBezTo>
                    <a:pt x="6286788" y="699182"/>
                    <a:pt x="6065783" y="675671"/>
                    <a:pt x="5842963" y="682822"/>
                  </a:cubicBezTo>
                  <a:cubicBezTo>
                    <a:pt x="5601885" y="690569"/>
                    <a:pt x="5364086" y="731281"/>
                    <a:pt x="5135712" y="809022"/>
                  </a:cubicBezTo>
                  <a:cubicBezTo>
                    <a:pt x="4901353" y="888794"/>
                    <a:pt x="4675228" y="992863"/>
                    <a:pt x="4449483" y="1093845"/>
                  </a:cubicBezTo>
                  <a:cubicBezTo>
                    <a:pt x="4023237" y="1284539"/>
                    <a:pt x="3583907" y="1503703"/>
                    <a:pt x="3117355" y="1573290"/>
                  </a:cubicBezTo>
                  <a:cubicBezTo>
                    <a:pt x="2921189" y="1602517"/>
                    <a:pt x="2715299" y="1599971"/>
                    <a:pt x="2529913" y="1522447"/>
                  </a:cubicBezTo>
                  <a:cubicBezTo>
                    <a:pt x="2352437" y="1448201"/>
                    <a:pt x="2205949" y="1321161"/>
                    <a:pt x="2080263" y="1177869"/>
                  </a:cubicBezTo>
                  <a:cubicBezTo>
                    <a:pt x="1832089" y="894888"/>
                    <a:pt x="1638740" y="565100"/>
                    <a:pt x="1303806" y="371697"/>
                  </a:cubicBezTo>
                  <a:cubicBezTo>
                    <a:pt x="1121237" y="266246"/>
                    <a:pt x="918082" y="196198"/>
                    <a:pt x="706070" y="191079"/>
                  </a:cubicBezTo>
                  <a:cubicBezTo>
                    <a:pt x="541704" y="187097"/>
                    <a:pt x="381699" y="223340"/>
                    <a:pt x="223916" y="265650"/>
                  </a:cubicBezTo>
                  <a:cubicBezTo>
                    <a:pt x="152188" y="284882"/>
                    <a:pt x="80651" y="304737"/>
                    <a:pt x="7948" y="319825"/>
                  </a:cubicBezTo>
                  <a:cubicBezTo>
                    <a:pt x="-6110" y="322777"/>
                    <a:pt x="-178" y="344203"/>
                    <a:pt x="13880" y="341495"/>
                  </a:cubicBezTo>
                  <a:cubicBezTo>
                    <a:pt x="166707" y="309531"/>
                    <a:pt x="314821" y="258228"/>
                    <a:pt x="468947" y="231926"/>
                  </a:cubicBezTo>
                  <a:cubicBezTo>
                    <a:pt x="666685" y="198175"/>
                    <a:pt x="865993" y="212044"/>
                    <a:pt x="1055334" y="279844"/>
                  </a:cubicBezTo>
                  <a:cubicBezTo>
                    <a:pt x="1269323" y="356420"/>
                    <a:pt x="1458014" y="485003"/>
                    <a:pt x="1615228" y="647933"/>
                  </a:cubicBezTo>
                  <a:cubicBezTo>
                    <a:pt x="1745248" y="782557"/>
                    <a:pt x="1853949" y="935059"/>
                    <a:pt x="1970478" y="1080843"/>
                  </a:cubicBezTo>
                  <a:cubicBezTo>
                    <a:pt x="2194789" y="1361521"/>
                    <a:pt x="2467097" y="1594120"/>
                    <a:pt x="2841715" y="1611754"/>
                  </a:cubicBezTo>
                  <a:cubicBezTo>
                    <a:pt x="3267230" y="1631799"/>
                    <a:pt x="3691065" y="1449230"/>
                    <a:pt x="4073565" y="1284620"/>
                  </a:cubicBezTo>
                  <a:cubicBezTo>
                    <a:pt x="4302209" y="1186185"/>
                    <a:pt x="4527954" y="1081113"/>
                    <a:pt x="4756626" y="982678"/>
                  </a:cubicBezTo>
                  <a:cubicBezTo>
                    <a:pt x="4996809" y="879286"/>
                    <a:pt x="5239944" y="783532"/>
                    <a:pt x="5498818" y="739163"/>
                  </a:cubicBezTo>
                  <a:cubicBezTo>
                    <a:pt x="5732473" y="699128"/>
                    <a:pt x="5969243" y="698532"/>
                    <a:pt x="6205255" y="712076"/>
                  </a:cubicBezTo>
                  <a:cubicBezTo>
                    <a:pt x="6401774" y="723290"/>
                    <a:pt x="6596667" y="744391"/>
                    <a:pt x="6793050" y="720419"/>
                  </a:cubicBezTo>
                  <a:cubicBezTo>
                    <a:pt x="7191044" y="671851"/>
                    <a:pt x="7570456" y="503720"/>
                    <a:pt x="7947755" y="377304"/>
                  </a:cubicBezTo>
                  <a:cubicBezTo>
                    <a:pt x="8178810" y="299888"/>
                    <a:pt x="8408645" y="218085"/>
                    <a:pt x="8643168" y="151531"/>
                  </a:cubicBezTo>
                  <a:cubicBezTo>
                    <a:pt x="8876118" y="85411"/>
                    <a:pt x="9108202" y="48302"/>
                    <a:pt x="9349767" y="32347"/>
                  </a:cubicBezTo>
                  <a:cubicBezTo>
                    <a:pt x="9830540" y="763"/>
                    <a:pt x="10299692" y="54423"/>
                    <a:pt x="10766027" y="172036"/>
                  </a:cubicBezTo>
                  <a:cubicBezTo>
                    <a:pt x="11146090" y="267871"/>
                    <a:pt x="11521357" y="401845"/>
                    <a:pt x="11912227" y="447677"/>
                  </a:cubicBezTo>
                  <a:cubicBezTo>
                    <a:pt x="12000098" y="458132"/>
                    <a:pt x="12088592" y="462629"/>
                    <a:pt x="12177059" y="461058"/>
                  </a:cubicBezTo>
                  <a:cubicBezTo>
                    <a:pt x="12191443" y="460760"/>
                    <a:pt x="12191469" y="438413"/>
                    <a:pt x="12177059" y="438711"/>
                  </a:cubicBezTo>
                  <a:close/>
                </a:path>
              </a:pathLst>
            </a:custGeom>
            <a:grpFill/>
            <a:ln w="2709" cap="flat">
              <a:noFill/>
              <a:prstDash val="solid"/>
              <a:miter/>
            </a:ln>
          </p:spPr>
          <p:txBody>
            <a:bodyPr rtlCol="0" anchor="ctr"/>
            <a:lstStyle/>
            <a:p>
              <a:endParaRPr lang="en-IN"/>
            </a:p>
          </p:txBody>
        </p:sp>
        <p:sp>
          <p:nvSpPr>
            <p:cNvPr id="2019" name="Freeform: Shape 2018">
              <a:extLst>
                <a:ext uri="{FF2B5EF4-FFF2-40B4-BE49-F238E27FC236}">
                  <a16:creationId xmlns:a16="http://schemas.microsoft.com/office/drawing/2014/main" id="{58DDC28D-781D-3A7F-C482-B8CB21554FD2}"/>
                </a:ext>
              </a:extLst>
            </p:cNvPr>
            <p:cNvSpPr/>
            <p:nvPr/>
          </p:nvSpPr>
          <p:spPr>
            <a:xfrm>
              <a:off x="3165" y="3081557"/>
              <a:ext cx="12186718" cy="1537737"/>
            </a:xfrm>
            <a:custGeom>
              <a:avLst/>
              <a:gdLst>
                <a:gd name="connsiteX0" fmla="*/ 12175123 w 12186718"/>
                <a:gd name="connsiteY0" fmla="*/ 129889 h 1537737"/>
                <a:gd name="connsiteX1" fmla="*/ 10972040 w 12186718"/>
                <a:gd name="connsiteY1" fmla="*/ 69511 h 1537737"/>
                <a:gd name="connsiteX2" fmla="*/ 9570137 w 12186718"/>
                <a:gd name="connsiteY2" fmla="*/ 17829 h 1537737"/>
                <a:gd name="connsiteX3" fmla="*/ 8880494 w 12186718"/>
                <a:gd name="connsiteY3" fmla="*/ 113257 h 1537737"/>
                <a:gd name="connsiteX4" fmla="*/ 8177931 w 12186718"/>
                <a:gd name="connsiteY4" fmla="*/ 309938 h 1537737"/>
                <a:gd name="connsiteX5" fmla="*/ 6889089 w 12186718"/>
                <a:gd name="connsiteY5" fmla="*/ 613126 h 1537737"/>
                <a:gd name="connsiteX6" fmla="*/ 5722167 w 12186718"/>
                <a:gd name="connsiteY6" fmla="*/ 491450 h 1537737"/>
                <a:gd name="connsiteX7" fmla="*/ 5032850 w 12186718"/>
                <a:gd name="connsiteY7" fmla="*/ 580838 h 1537737"/>
                <a:gd name="connsiteX8" fmla="*/ 4368723 w 12186718"/>
                <a:gd name="connsiteY8" fmla="*/ 868479 h 1537737"/>
                <a:gd name="connsiteX9" fmla="*/ 3115691 w 12186718"/>
                <a:gd name="connsiteY9" fmla="*/ 1440021 h 1537737"/>
                <a:gd name="connsiteX10" fmla="*/ 2549728 w 12186718"/>
                <a:gd name="connsiteY10" fmla="*/ 1502322 h 1537737"/>
                <a:gd name="connsiteX11" fmla="*/ 2066951 w 12186718"/>
                <a:gd name="connsiteY11" fmla="*/ 1238654 h 1537737"/>
                <a:gd name="connsiteX12" fmla="*/ 1328930 w 12186718"/>
                <a:gd name="connsiteY12" fmla="*/ 419290 h 1537737"/>
                <a:gd name="connsiteX13" fmla="*/ 744304 w 12186718"/>
                <a:gd name="connsiteY13" fmla="*/ 173039 h 1537737"/>
                <a:gd name="connsiteX14" fmla="*/ 252074 w 12186718"/>
                <a:gd name="connsiteY14" fmla="*/ 200722 h 1537737"/>
                <a:gd name="connsiteX15" fmla="*/ 11484 w 12186718"/>
                <a:gd name="connsiteY15" fmla="*/ 242437 h 1537737"/>
                <a:gd name="connsiteX16" fmla="*/ 11484 w 12186718"/>
                <a:gd name="connsiteY16" fmla="*/ 266815 h 1537737"/>
                <a:gd name="connsiteX17" fmla="*/ 492257 w 12186718"/>
                <a:gd name="connsiteY17" fmla="*/ 191241 h 1537737"/>
                <a:gd name="connsiteX18" fmla="*/ 1092702 w 12186718"/>
                <a:gd name="connsiteY18" fmla="*/ 306146 h 1537737"/>
                <a:gd name="connsiteX19" fmla="*/ 1594819 w 12186718"/>
                <a:gd name="connsiteY19" fmla="*/ 705386 h 1537737"/>
                <a:gd name="connsiteX20" fmla="*/ 1938991 w 12186718"/>
                <a:gd name="connsiteY20" fmla="*/ 1137672 h 1537737"/>
                <a:gd name="connsiteX21" fmla="*/ 2346573 w 12186718"/>
                <a:gd name="connsiteY21" fmla="*/ 1464914 h 1537737"/>
                <a:gd name="connsiteX22" fmla="*/ 2824556 w 12186718"/>
                <a:gd name="connsiteY22" fmla="*/ 1528813 h 1537737"/>
                <a:gd name="connsiteX23" fmla="*/ 3994132 w 12186718"/>
                <a:gd name="connsiteY23" fmla="*/ 1084581 h 1537737"/>
                <a:gd name="connsiteX24" fmla="*/ 4632634 w 12186718"/>
                <a:gd name="connsiteY24" fmla="*/ 768906 h 1537737"/>
                <a:gd name="connsiteX25" fmla="*/ 5368461 w 12186718"/>
                <a:gd name="connsiteY25" fmla="*/ 529860 h 1537737"/>
                <a:gd name="connsiteX26" fmla="*/ 6077932 w 12186718"/>
                <a:gd name="connsiteY26" fmla="*/ 556026 h 1537737"/>
                <a:gd name="connsiteX27" fmla="*/ 6643190 w 12186718"/>
                <a:gd name="connsiteY27" fmla="*/ 640783 h 1537737"/>
                <a:gd name="connsiteX28" fmla="*/ 7781264 w 12186718"/>
                <a:gd name="connsiteY28" fmla="*/ 452038 h 1537737"/>
                <a:gd name="connsiteX29" fmla="*/ 9197091 w 12186718"/>
                <a:gd name="connsiteY29" fmla="*/ 85222 h 1537737"/>
                <a:gd name="connsiteX30" fmla="*/ 10647318 w 12186718"/>
                <a:gd name="connsiteY30" fmla="*/ 55913 h 1537737"/>
                <a:gd name="connsiteX31" fmla="*/ 11885208 w 12186718"/>
                <a:gd name="connsiteY31" fmla="*/ 173066 h 1537737"/>
                <a:gd name="connsiteX32" fmla="*/ 12175043 w 12186718"/>
                <a:gd name="connsiteY32" fmla="*/ 154105 h 1537737"/>
                <a:gd name="connsiteX33" fmla="*/ 12175043 w 12186718"/>
                <a:gd name="connsiteY33" fmla="*/ 129726 h 153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6718" h="1537737">
                  <a:moveTo>
                    <a:pt x="12175123" y="129889"/>
                  </a:moveTo>
                  <a:cubicBezTo>
                    <a:pt x="11773392" y="179052"/>
                    <a:pt x="11370630" y="119731"/>
                    <a:pt x="10972040" y="69511"/>
                  </a:cubicBezTo>
                  <a:cubicBezTo>
                    <a:pt x="10505137" y="10678"/>
                    <a:pt x="10040237" y="-24319"/>
                    <a:pt x="9570137" y="17829"/>
                  </a:cubicBezTo>
                  <a:cubicBezTo>
                    <a:pt x="9339895" y="38469"/>
                    <a:pt x="9106510" y="64202"/>
                    <a:pt x="8880494" y="113257"/>
                  </a:cubicBezTo>
                  <a:cubicBezTo>
                    <a:pt x="8642775" y="164723"/>
                    <a:pt x="8410366" y="238888"/>
                    <a:pt x="8177931" y="309938"/>
                  </a:cubicBezTo>
                  <a:cubicBezTo>
                    <a:pt x="7760244" y="437628"/>
                    <a:pt x="7327389" y="580974"/>
                    <a:pt x="6889089" y="613126"/>
                  </a:cubicBezTo>
                  <a:cubicBezTo>
                    <a:pt x="6492395" y="642272"/>
                    <a:pt x="6115692" y="509572"/>
                    <a:pt x="5722167" y="491450"/>
                  </a:cubicBezTo>
                  <a:cubicBezTo>
                    <a:pt x="5488865" y="480615"/>
                    <a:pt x="5255263" y="508894"/>
                    <a:pt x="5032850" y="580838"/>
                  </a:cubicBezTo>
                  <a:cubicBezTo>
                    <a:pt x="4803393" y="655220"/>
                    <a:pt x="4584527" y="761701"/>
                    <a:pt x="4368723" y="868479"/>
                  </a:cubicBezTo>
                  <a:cubicBezTo>
                    <a:pt x="3959217" y="1071092"/>
                    <a:pt x="3555047" y="1306778"/>
                    <a:pt x="3115691" y="1440021"/>
                  </a:cubicBezTo>
                  <a:cubicBezTo>
                    <a:pt x="2934395" y="1494981"/>
                    <a:pt x="2739177" y="1533337"/>
                    <a:pt x="2549728" y="1502322"/>
                  </a:cubicBezTo>
                  <a:cubicBezTo>
                    <a:pt x="2364180" y="1472065"/>
                    <a:pt x="2200302" y="1367698"/>
                    <a:pt x="2066951" y="1238654"/>
                  </a:cubicBezTo>
                  <a:cubicBezTo>
                    <a:pt x="1801251" y="981324"/>
                    <a:pt x="1631306" y="641568"/>
                    <a:pt x="1328930" y="419290"/>
                  </a:cubicBezTo>
                  <a:cubicBezTo>
                    <a:pt x="1157847" y="293550"/>
                    <a:pt x="955613" y="201697"/>
                    <a:pt x="744304" y="173039"/>
                  </a:cubicBezTo>
                  <a:cubicBezTo>
                    <a:pt x="579072" y="150638"/>
                    <a:pt x="414814" y="170764"/>
                    <a:pt x="252074" y="200722"/>
                  </a:cubicBezTo>
                  <a:cubicBezTo>
                    <a:pt x="172004" y="215458"/>
                    <a:pt x="92259" y="231764"/>
                    <a:pt x="11484" y="242437"/>
                  </a:cubicBezTo>
                  <a:cubicBezTo>
                    <a:pt x="-3847" y="244468"/>
                    <a:pt x="-4037" y="268874"/>
                    <a:pt x="11484" y="266815"/>
                  </a:cubicBezTo>
                  <a:cubicBezTo>
                    <a:pt x="172410" y="245552"/>
                    <a:pt x="330112" y="203621"/>
                    <a:pt x="492257" y="191241"/>
                  </a:cubicBezTo>
                  <a:cubicBezTo>
                    <a:pt x="699079" y="175152"/>
                    <a:pt x="906430" y="214835"/>
                    <a:pt x="1092702" y="306146"/>
                  </a:cubicBezTo>
                  <a:cubicBezTo>
                    <a:pt x="1289220" y="401629"/>
                    <a:pt x="1453125" y="540424"/>
                    <a:pt x="1594819" y="705386"/>
                  </a:cubicBezTo>
                  <a:cubicBezTo>
                    <a:pt x="1714870" y="845211"/>
                    <a:pt x="1818804" y="997929"/>
                    <a:pt x="1938991" y="1137672"/>
                  </a:cubicBezTo>
                  <a:cubicBezTo>
                    <a:pt x="2053597" y="1270915"/>
                    <a:pt x="2185702" y="1390559"/>
                    <a:pt x="2346573" y="1464914"/>
                  </a:cubicBezTo>
                  <a:cubicBezTo>
                    <a:pt x="2497070" y="1534474"/>
                    <a:pt x="2661192" y="1548641"/>
                    <a:pt x="2824556" y="1528813"/>
                  </a:cubicBezTo>
                  <a:cubicBezTo>
                    <a:pt x="3238017" y="1478593"/>
                    <a:pt x="3627587" y="1269452"/>
                    <a:pt x="3994132" y="1084581"/>
                  </a:cubicBezTo>
                  <a:cubicBezTo>
                    <a:pt x="4206118" y="977695"/>
                    <a:pt x="4416965" y="868289"/>
                    <a:pt x="4632634" y="768906"/>
                  </a:cubicBezTo>
                  <a:cubicBezTo>
                    <a:pt x="4868294" y="660285"/>
                    <a:pt x="5109588" y="563828"/>
                    <a:pt x="5368461" y="529860"/>
                  </a:cubicBezTo>
                  <a:cubicBezTo>
                    <a:pt x="5605421" y="498791"/>
                    <a:pt x="5843085" y="517102"/>
                    <a:pt x="6077932" y="556026"/>
                  </a:cubicBezTo>
                  <a:cubicBezTo>
                    <a:pt x="6266162" y="587231"/>
                    <a:pt x="6452062" y="631437"/>
                    <a:pt x="6643190" y="640783"/>
                  </a:cubicBezTo>
                  <a:cubicBezTo>
                    <a:pt x="7030539" y="659744"/>
                    <a:pt x="7411766" y="555349"/>
                    <a:pt x="7781264" y="452038"/>
                  </a:cubicBezTo>
                  <a:cubicBezTo>
                    <a:pt x="8251933" y="320448"/>
                    <a:pt x="8711008" y="151803"/>
                    <a:pt x="9197091" y="85222"/>
                  </a:cubicBezTo>
                  <a:cubicBezTo>
                    <a:pt x="9681276" y="18885"/>
                    <a:pt x="10160911" y="5775"/>
                    <a:pt x="10647318" y="55913"/>
                  </a:cubicBezTo>
                  <a:cubicBezTo>
                    <a:pt x="11059045" y="98332"/>
                    <a:pt x="11470095" y="176967"/>
                    <a:pt x="11885208" y="173066"/>
                  </a:cubicBezTo>
                  <a:cubicBezTo>
                    <a:pt x="11982100" y="172199"/>
                    <a:pt x="12078856" y="165861"/>
                    <a:pt x="12175043" y="154105"/>
                  </a:cubicBezTo>
                  <a:cubicBezTo>
                    <a:pt x="12190401" y="152236"/>
                    <a:pt x="12190591" y="127830"/>
                    <a:pt x="12175043" y="129726"/>
                  </a:cubicBezTo>
                  <a:close/>
                </a:path>
              </a:pathLst>
            </a:custGeom>
            <a:grpFill/>
            <a:ln w="2709" cap="flat">
              <a:noFill/>
              <a:prstDash val="solid"/>
              <a:miter/>
            </a:ln>
          </p:spPr>
          <p:txBody>
            <a:bodyPr rtlCol="0" anchor="ctr"/>
            <a:lstStyle/>
            <a:p>
              <a:endParaRPr lang="en-IN"/>
            </a:p>
          </p:txBody>
        </p:sp>
        <p:sp>
          <p:nvSpPr>
            <p:cNvPr id="2020" name="Freeform: Shape 2019">
              <a:extLst>
                <a:ext uri="{FF2B5EF4-FFF2-40B4-BE49-F238E27FC236}">
                  <a16:creationId xmlns:a16="http://schemas.microsoft.com/office/drawing/2014/main" id="{B334146E-4D9B-44D8-D317-A2D902125F25}"/>
                </a:ext>
              </a:extLst>
            </p:cNvPr>
            <p:cNvSpPr/>
            <p:nvPr/>
          </p:nvSpPr>
          <p:spPr>
            <a:xfrm>
              <a:off x="3372" y="3038843"/>
              <a:ext cx="12186808" cy="1645403"/>
            </a:xfrm>
            <a:custGeom>
              <a:avLst/>
              <a:gdLst>
                <a:gd name="connsiteX0" fmla="*/ 12170204 w 12186808"/>
                <a:gd name="connsiteY0" fmla="*/ -241 h 1645403"/>
                <a:gd name="connsiteX1" fmla="*/ 10876839 w 12186808"/>
                <a:gd name="connsiteY1" fmla="*/ 102934 h 1645403"/>
                <a:gd name="connsiteX2" fmla="*/ 9459712 w 12186808"/>
                <a:gd name="connsiteY2" fmla="*/ 224177 h 1645403"/>
                <a:gd name="connsiteX3" fmla="*/ 8748236 w 12186808"/>
                <a:gd name="connsiteY3" fmla="*/ 366900 h 1645403"/>
                <a:gd name="connsiteX4" fmla="*/ 8044211 w 12186808"/>
                <a:gd name="connsiteY4" fmla="*/ 562606 h 1645403"/>
                <a:gd name="connsiteX5" fmla="*/ 6755911 w 12186808"/>
                <a:gd name="connsiteY5" fmla="*/ 739676 h 1645403"/>
                <a:gd name="connsiteX6" fmla="*/ 5591915 w 12186808"/>
                <a:gd name="connsiteY6" fmla="*/ 477200 h 1645403"/>
                <a:gd name="connsiteX7" fmla="*/ 4902678 w 12186808"/>
                <a:gd name="connsiteY7" fmla="*/ 540611 h 1645403"/>
                <a:gd name="connsiteX8" fmla="*/ 4257269 w 12186808"/>
                <a:gd name="connsiteY8" fmla="*/ 833344 h 1645403"/>
                <a:gd name="connsiteX9" fmla="*/ 3075557 w 12186808"/>
                <a:gd name="connsiteY9" fmla="*/ 1470898 h 1645403"/>
                <a:gd name="connsiteX10" fmla="*/ 2538903 w 12186808"/>
                <a:gd name="connsiteY10" fmla="*/ 1617169 h 1645403"/>
                <a:gd name="connsiteX11" fmla="*/ 2064306 w 12186808"/>
                <a:gd name="connsiteY11" fmla="*/ 1465480 h 1645403"/>
                <a:gd name="connsiteX12" fmla="*/ 1312471 w 12186808"/>
                <a:gd name="connsiteY12" fmla="*/ 628889 h 1645403"/>
                <a:gd name="connsiteX13" fmla="*/ 765822 w 12186808"/>
                <a:gd name="connsiteY13" fmla="*/ 340950 h 1645403"/>
                <a:gd name="connsiteX14" fmla="*/ 254251 w 12186808"/>
                <a:gd name="connsiteY14" fmla="*/ 322585 h 1645403"/>
                <a:gd name="connsiteX15" fmla="*/ 12632 w 12186808"/>
                <a:gd name="connsiteY15" fmla="*/ 344093 h 1645403"/>
                <a:gd name="connsiteX16" fmla="*/ 12632 w 12186808"/>
                <a:gd name="connsiteY16" fmla="*/ 370503 h 1645403"/>
                <a:gd name="connsiteX17" fmla="*/ 514506 w 12186808"/>
                <a:gd name="connsiteY17" fmla="*/ 335696 h 1645403"/>
                <a:gd name="connsiteX18" fmla="*/ 1125975 w 12186808"/>
                <a:gd name="connsiteY18" fmla="*/ 524603 h 1645403"/>
                <a:gd name="connsiteX19" fmla="*/ 1572753 w 12186808"/>
                <a:gd name="connsiteY19" fmla="*/ 949061 h 1645403"/>
                <a:gd name="connsiteX20" fmla="*/ 1915760 w 12186808"/>
                <a:gd name="connsiteY20" fmla="*/ 1371379 h 1645403"/>
                <a:gd name="connsiteX21" fmla="*/ 2331089 w 12186808"/>
                <a:gd name="connsiteY21" fmla="*/ 1625431 h 1645403"/>
                <a:gd name="connsiteX22" fmla="*/ 2788242 w 12186808"/>
                <a:gd name="connsiteY22" fmla="*/ 1601784 h 1645403"/>
                <a:gd name="connsiteX23" fmla="*/ 3914126 w 12186808"/>
                <a:gd name="connsiteY23" fmla="*/ 1055622 h 1645403"/>
                <a:gd name="connsiteX24" fmla="*/ 4520720 w 12186808"/>
                <a:gd name="connsiteY24" fmla="*/ 727270 h 1645403"/>
                <a:gd name="connsiteX25" fmla="*/ 5272176 w 12186808"/>
                <a:gd name="connsiteY25" fmla="*/ 495727 h 1645403"/>
                <a:gd name="connsiteX26" fmla="*/ 5964040 w 12186808"/>
                <a:gd name="connsiteY26" fmla="*/ 580104 h 1645403"/>
                <a:gd name="connsiteX27" fmla="*/ 6536585 w 12186808"/>
                <a:gd name="connsiteY27" fmla="*/ 736236 h 1645403"/>
                <a:gd name="connsiteX28" fmla="*/ 9097880 w 12186808"/>
                <a:gd name="connsiteY28" fmla="*/ 317899 h 1645403"/>
                <a:gd name="connsiteX29" fmla="*/ 10578689 w 12186808"/>
                <a:gd name="connsiteY29" fmla="*/ 136820 h 1645403"/>
                <a:gd name="connsiteX30" fmla="*/ 11880884 w 12186808"/>
                <a:gd name="connsiteY30" fmla="*/ 76551 h 1645403"/>
                <a:gd name="connsiteX31" fmla="*/ 12177247 w 12186808"/>
                <a:gd name="connsiteY31" fmla="*/ 25085 h 1645403"/>
                <a:gd name="connsiteX32" fmla="*/ 12170204 w 12186808"/>
                <a:gd name="connsiteY32" fmla="*/ -377 h 164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6808" h="1645403">
                  <a:moveTo>
                    <a:pt x="12170204" y="-241"/>
                  </a:moveTo>
                  <a:cubicBezTo>
                    <a:pt x="11744933" y="91206"/>
                    <a:pt x="11309830" y="94564"/>
                    <a:pt x="10876839" y="102934"/>
                  </a:cubicBezTo>
                  <a:cubicBezTo>
                    <a:pt x="10400671" y="112036"/>
                    <a:pt x="9929433" y="142265"/>
                    <a:pt x="9459712" y="224177"/>
                  </a:cubicBezTo>
                  <a:cubicBezTo>
                    <a:pt x="9221696" y="265702"/>
                    <a:pt x="8982460" y="307146"/>
                    <a:pt x="8748236" y="366900"/>
                  </a:cubicBezTo>
                  <a:cubicBezTo>
                    <a:pt x="8512198" y="427088"/>
                    <a:pt x="8279329" y="498978"/>
                    <a:pt x="8044211" y="562606"/>
                  </a:cubicBezTo>
                  <a:cubicBezTo>
                    <a:pt x="7627553" y="675343"/>
                    <a:pt x="7190419" y="776244"/>
                    <a:pt x="6755911" y="739676"/>
                  </a:cubicBezTo>
                  <a:cubicBezTo>
                    <a:pt x="6355641" y="706006"/>
                    <a:pt x="5989665" y="523871"/>
                    <a:pt x="5591915" y="477200"/>
                  </a:cubicBezTo>
                  <a:cubicBezTo>
                    <a:pt x="5360237" y="450112"/>
                    <a:pt x="5125119" y="469588"/>
                    <a:pt x="4902678" y="540611"/>
                  </a:cubicBezTo>
                  <a:cubicBezTo>
                    <a:pt x="4677528" y="612474"/>
                    <a:pt x="4464730" y="721446"/>
                    <a:pt x="4257269" y="833344"/>
                  </a:cubicBezTo>
                  <a:cubicBezTo>
                    <a:pt x="3863934" y="1045465"/>
                    <a:pt x="3486607" y="1293151"/>
                    <a:pt x="3075557" y="1470898"/>
                  </a:cubicBezTo>
                  <a:cubicBezTo>
                    <a:pt x="2906234" y="1544033"/>
                    <a:pt x="2724749" y="1608257"/>
                    <a:pt x="2538903" y="1617169"/>
                  </a:cubicBezTo>
                  <a:cubicBezTo>
                    <a:pt x="2364244" y="1625593"/>
                    <a:pt x="2204456" y="1568737"/>
                    <a:pt x="2064306" y="1465480"/>
                  </a:cubicBezTo>
                  <a:cubicBezTo>
                    <a:pt x="1759493" y="1240926"/>
                    <a:pt x="1598594" y="874679"/>
                    <a:pt x="1312471" y="628889"/>
                  </a:cubicBezTo>
                  <a:cubicBezTo>
                    <a:pt x="1155825" y="494292"/>
                    <a:pt x="967460" y="389491"/>
                    <a:pt x="765822" y="340950"/>
                  </a:cubicBezTo>
                  <a:cubicBezTo>
                    <a:pt x="597230" y="300319"/>
                    <a:pt x="425497" y="305737"/>
                    <a:pt x="254251" y="322585"/>
                  </a:cubicBezTo>
                  <a:cubicBezTo>
                    <a:pt x="173774" y="330522"/>
                    <a:pt x="93433" y="339759"/>
                    <a:pt x="12632" y="344093"/>
                  </a:cubicBezTo>
                  <a:cubicBezTo>
                    <a:pt x="-4271" y="345014"/>
                    <a:pt x="-4379" y="371424"/>
                    <a:pt x="12632" y="370503"/>
                  </a:cubicBezTo>
                  <a:cubicBezTo>
                    <a:pt x="180167" y="361537"/>
                    <a:pt x="346321" y="331958"/>
                    <a:pt x="514506" y="335696"/>
                  </a:cubicBezTo>
                  <a:cubicBezTo>
                    <a:pt x="733913" y="340598"/>
                    <a:pt x="940102" y="408831"/>
                    <a:pt x="1125975" y="524603"/>
                  </a:cubicBezTo>
                  <a:cubicBezTo>
                    <a:pt x="1303180" y="635010"/>
                    <a:pt x="1444738" y="785887"/>
                    <a:pt x="1572753" y="949061"/>
                  </a:cubicBezTo>
                  <a:cubicBezTo>
                    <a:pt x="1684596" y="1091594"/>
                    <a:pt x="1787366" y="1242741"/>
                    <a:pt x="1915760" y="1371379"/>
                  </a:cubicBezTo>
                  <a:cubicBezTo>
                    <a:pt x="2030285" y="1486067"/>
                    <a:pt x="2171599" y="1586398"/>
                    <a:pt x="2331089" y="1625431"/>
                  </a:cubicBezTo>
                  <a:cubicBezTo>
                    <a:pt x="2481722" y="1662297"/>
                    <a:pt x="2640481" y="1641683"/>
                    <a:pt x="2788242" y="1601784"/>
                  </a:cubicBezTo>
                  <a:cubicBezTo>
                    <a:pt x="3190191" y="1493191"/>
                    <a:pt x="3555951" y="1260321"/>
                    <a:pt x="3914126" y="1055622"/>
                  </a:cubicBezTo>
                  <a:cubicBezTo>
                    <a:pt x="4113706" y="941531"/>
                    <a:pt x="4313908" y="827872"/>
                    <a:pt x="4520720" y="727270"/>
                  </a:cubicBezTo>
                  <a:cubicBezTo>
                    <a:pt x="4759088" y="611336"/>
                    <a:pt x="5005583" y="515041"/>
                    <a:pt x="5272176" y="495727"/>
                  </a:cubicBezTo>
                  <a:cubicBezTo>
                    <a:pt x="5506861" y="478744"/>
                    <a:pt x="5738349" y="518156"/>
                    <a:pt x="5964040" y="580104"/>
                  </a:cubicBezTo>
                  <a:cubicBezTo>
                    <a:pt x="6154979" y="632518"/>
                    <a:pt x="6341556" y="699668"/>
                    <a:pt x="6536585" y="736236"/>
                  </a:cubicBezTo>
                  <a:cubicBezTo>
                    <a:pt x="7410719" y="900141"/>
                    <a:pt x="8256033" y="478554"/>
                    <a:pt x="9097880" y="317899"/>
                  </a:cubicBezTo>
                  <a:cubicBezTo>
                    <a:pt x="9589406" y="224096"/>
                    <a:pt x="10077952" y="153804"/>
                    <a:pt x="10578689" y="136820"/>
                  </a:cubicBezTo>
                  <a:cubicBezTo>
                    <a:pt x="11012709" y="122085"/>
                    <a:pt x="11449438" y="133732"/>
                    <a:pt x="11880884" y="76551"/>
                  </a:cubicBezTo>
                  <a:cubicBezTo>
                    <a:pt x="11980350" y="63360"/>
                    <a:pt x="12079136" y="46186"/>
                    <a:pt x="12177247" y="25085"/>
                  </a:cubicBezTo>
                  <a:cubicBezTo>
                    <a:pt x="12193851" y="21510"/>
                    <a:pt x="12186808" y="-3952"/>
                    <a:pt x="12170204" y="-377"/>
                  </a:cubicBezTo>
                  <a:close/>
                </a:path>
              </a:pathLst>
            </a:custGeom>
            <a:grpFill/>
            <a:ln w="2709" cap="flat">
              <a:noFill/>
              <a:prstDash val="solid"/>
              <a:miter/>
            </a:ln>
          </p:spPr>
          <p:txBody>
            <a:bodyPr rtlCol="0" anchor="ctr"/>
            <a:lstStyle/>
            <a:p>
              <a:endParaRPr lang="en-IN"/>
            </a:p>
          </p:txBody>
        </p:sp>
        <p:sp>
          <p:nvSpPr>
            <p:cNvPr id="2021" name="Freeform: Shape 2020">
              <a:extLst>
                <a:ext uri="{FF2B5EF4-FFF2-40B4-BE49-F238E27FC236}">
                  <a16:creationId xmlns:a16="http://schemas.microsoft.com/office/drawing/2014/main" id="{F6A74299-56D6-A305-370A-CF60CED4557A}"/>
                </a:ext>
              </a:extLst>
            </p:cNvPr>
            <p:cNvSpPr/>
            <p:nvPr/>
          </p:nvSpPr>
          <p:spPr>
            <a:xfrm>
              <a:off x="3629" y="2865541"/>
              <a:ext cx="12186259" cy="1886291"/>
            </a:xfrm>
            <a:custGeom>
              <a:avLst/>
              <a:gdLst>
                <a:gd name="connsiteX0" fmla="*/ 12168510 w 12186259"/>
                <a:gd name="connsiteY0" fmla="*/ -244 h 1886291"/>
                <a:gd name="connsiteX1" fmla="*/ 10863904 w 12186259"/>
                <a:gd name="connsiteY1" fmla="*/ 268706 h 1886291"/>
                <a:gd name="connsiteX2" fmla="*/ 9435753 w 12186259"/>
                <a:gd name="connsiteY2" fmla="*/ 548301 h 1886291"/>
                <a:gd name="connsiteX3" fmla="*/ 8734679 w 12186259"/>
                <a:gd name="connsiteY3" fmla="*/ 722337 h 1886291"/>
                <a:gd name="connsiteX4" fmla="*/ 8008740 w 12186259"/>
                <a:gd name="connsiteY4" fmla="*/ 917366 h 1886291"/>
                <a:gd name="connsiteX5" fmla="*/ 6686445 w 12186259"/>
                <a:gd name="connsiteY5" fmla="*/ 1002311 h 1886291"/>
                <a:gd name="connsiteX6" fmla="*/ 5566466 w 12186259"/>
                <a:gd name="connsiteY6" fmla="*/ 614692 h 1886291"/>
                <a:gd name="connsiteX7" fmla="*/ 4889635 w 12186259"/>
                <a:gd name="connsiteY7" fmla="*/ 599063 h 1886291"/>
                <a:gd name="connsiteX8" fmla="*/ 4239323 w 12186259"/>
                <a:gd name="connsiteY8" fmla="*/ 873240 h 1886291"/>
                <a:gd name="connsiteX9" fmla="*/ 3100220 w 12186259"/>
                <a:gd name="connsiteY9" fmla="*/ 1574937 h 1886291"/>
                <a:gd name="connsiteX10" fmla="*/ 2136562 w 12186259"/>
                <a:gd name="connsiteY10" fmla="*/ 1825739 h 1886291"/>
                <a:gd name="connsiteX11" fmla="*/ 1340682 w 12186259"/>
                <a:gd name="connsiteY11" fmla="*/ 1026311 h 1886291"/>
                <a:gd name="connsiteX12" fmla="*/ 816759 w 12186259"/>
                <a:gd name="connsiteY12" fmla="*/ 659846 h 1886291"/>
                <a:gd name="connsiteX13" fmla="*/ 272738 w 12186259"/>
                <a:gd name="connsiteY13" fmla="*/ 575876 h 1886291"/>
                <a:gd name="connsiteX14" fmla="*/ 13648 w 12186259"/>
                <a:gd name="connsiteY14" fmla="*/ 576309 h 1886291"/>
                <a:gd name="connsiteX15" fmla="*/ 13648 w 12186259"/>
                <a:gd name="connsiteY15" fmla="*/ 604751 h 1886291"/>
                <a:gd name="connsiteX16" fmla="*/ 567773 w 12186259"/>
                <a:gd name="connsiteY16" fmla="*/ 622222 h 1886291"/>
                <a:gd name="connsiteX17" fmla="*/ 1182655 w 12186259"/>
                <a:gd name="connsiteY17" fmla="*/ 913384 h 1886291"/>
                <a:gd name="connsiteX18" fmla="*/ 1937768 w 12186259"/>
                <a:gd name="connsiteY18" fmla="*/ 1752603 h 1886291"/>
                <a:gd name="connsiteX19" fmla="*/ 2363039 w 12186259"/>
                <a:gd name="connsiteY19" fmla="*/ 1884545 h 1886291"/>
                <a:gd name="connsiteX20" fmla="*/ 2811957 w 12186259"/>
                <a:gd name="connsiteY20" fmla="*/ 1756802 h 1886291"/>
                <a:gd name="connsiteX21" fmla="*/ 3917932 w 12186259"/>
                <a:gd name="connsiteY21" fmla="*/ 1097523 h 1886291"/>
                <a:gd name="connsiteX22" fmla="*/ 5258998 w 12186259"/>
                <a:gd name="connsiteY22" fmla="*/ 596950 h 1886291"/>
                <a:gd name="connsiteX23" fmla="*/ 6475625 w 12186259"/>
                <a:gd name="connsiteY23" fmla="*/ 978204 h 1886291"/>
                <a:gd name="connsiteX24" fmla="*/ 9076007 w 12186259"/>
                <a:gd name="connsiteY24" fmla="*/ 667377 h 1886291"/>
                <a:gd name="connsiteX25" fmla="*/ 10536879 w 12186259"/>
                <a:gd name="connsiteY25" fmla="*/ 350049 h 1886291"/>
                <a:gd name="connsiteX26" fmla="*/ 11848448 w 12186259"/>
                <a:gd name="connsiteY26" fmla="*/ 115527 h 1886291"/>
                <a:gd name="connsiteX27" fmla="*/ 12176204 w 12186259"/>
                <a:gd name="connsiteY27" fmla="*/ 27358 h 1886291"/>
                <a:gd name="connsiteX28" fmla="*/ 12168647 w 12186259"/>
                <a:gd name="connsiteY28" fmla="*/ -55 h 188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86259" h="1886291">
                  <a:moveTo>
                    <a:pt x="12168510" y="-244"/>
                  </a:moveTo>
                  <a:cubicBezTo>
                    <a:pt x="11741859" y="127283"/>
                    <a:pt x="11302936" y="199362"/>
                    <a:pt x="10863904" y="268706"/>
                  </a:cubicBezTo>
                  <a:cubicBezTo>
                    <a:pt x="10383809" y="344550"/>
                    <a:pt x="9907506" y="430363"/>
                    <a:pt x="9435753" y="548301"/>
                  </a:cubicBezTo>
                  <a:cubicBezTo>
                    <a:pt x="9202206" y="606674"/>
                    <a:pt x="8967142" y="660144"/>
                    <a:pt x="8734679" y="722337"/>
                  </a:cubicBezTo>
                  <a:cubicBezTo>
                    <a:pt x="8492654" y="787049"/>
                    <a:pt x="8252390" y="858342"/>
                    <a:pt x="8008740" y="917366"/>
                  </a:cubicBezTo>
                  <a:cubicBezTo>
                    <a:pt x="7577130" y="1021896"/>
                    <a:pt x="7127156" y="1092160"/>
                    <a:pt x="6686445" y="1002311"/>
                  </a:cubicBezTo>
                  <a:cubicBezTo>
                    <a:pt x="6295656" y="922648"/>
                    <a:pt x="5951946" y="709768"/>
                    <a:pt x="5566466" y="614692"/>
                  </a:cubicBezTo>
                  <a:cubicBezTo>
                    <a:pt x="5345217" y="560111"/>
                    <a:pt x="5112889" y="549222"/>
                    <a:pt x="4889635" y="599063"/>
                  </a:cubicBezTo>
                  <a:cubicBezTo>
                    <a:pt x="4659637" y="650529"/>
                    <a:pt x="4443968" y="759392"/>
                    <a:pt x="4239323" y="873240"/>
                  </a:cubicBezTo>
                  <a:cubicBezTo>
                    <a:pt x="3849266" y="1090264"/>
                    <a:pt x="3487189" y="1352902"/>
                    <a:pt x="3100220" y="1574937"/>
                  </a:cubicBezTo>
                  <a:cubicBezTo>
                    <a:pt x="2829130" y="1730472"/>
                    <a:pt x="2458847" y="1941808"/>
                    <a:pt x="2136562" y="1825739"/>
                  </a:cubicBezTo>
                  <a:cubicBezTo>
                    <a:pt x="1767741" y="1693011"/>
                    <a:pt x="1591592" y="1297536"/>
                    <a:pt x="1340682" y="1026311"/>
                  </a:cubicBezTo>
                  <a:cubicBezTo>
                    <a:pt x="1194682" y="868554"/>
                    <a:pt x="1017666" y="738617"/>
                    <a:pt x="816759" y="659846"/>
                  </a:cubicBezTo>
                  <a:cubicBezTo>
                    <a:pt x="642426" y="591505"/>
                    <a:pt x="458421" y="575063"/>
                    <a:pt x="272738" y="575876"/>
                  </a:cubicBezTo>
                  <a:cubicBezTo>
                    <a:pt x="186356" y="576174"/>
                    <a:pt x="100002" y="578584"/>
                    <a:pt x="13648" y="576309"/>
                  </a:cubicBezTo>
                  <a:cubicBezTo>
                    <a:pt x="-4663" y="575822"/>
                    <a:pt x="-4663" y="604264"/>
                    <a:pt x="13648" y="604751"/>
                  </a:cubicBezTo>
                  <a:cubicBezTo>
                    <a:pt x="198437" y="609654"/>
                    <a:pt x="384202" y="593455"/>
                    <a:pt x="567773" y="622222"/>
                  </a:cubicBezTo>
                  <a:cubicBezTo>
                    <a:pt x="795306" y="657896"/>
                    <a:pt x="1007590" y="764702"/>
                    <a:pt x="1182655" y="913384"/>
                  </a:cubicBezTo>
                  <a:cubicBezTo>
                    <a:pt x="1470999" y="1158470"/>
                    <a:pt x="1626887" y="1533304"/>
                    <a:pt x="1937768" y="1752603"/>
                  </a:cubicBezTo>
                  <a:cubicBezTo>
                    <a:pt x="2063941" y="1841612"/>
                    <a:pt x="2207693" y="1893646"/>
                    <a:pt x="2363039" y="1884545"/>
                  </a:cubicBezTo>
                  <a:cubicBezTo>
                    <a:pt x="2519387" y="1875362"/>
                    <a:pt x="2670399" y="1820646"/>
                    <a:pt x="2811957" y="1756802"/>
                  </a:cubicBezTo>
                  <a:cubicBezTo>
                    <a:pt x="3203071" y="1580382"/>
                    <a:pt x="3555097" y="1323648"/>
                    <a:pt x="3917932" y="1097523"/>
                  </a:cubicBezTo>
                  <a:cubicBezTo>
                    <a:pt x="4322481" y="845394"/>
                    <a:pt x="4764655" y="572896"/>
                    <a:pt x="5258998" y="596950"/>
                  </a:cubicBezTo>
                  <a:cubicBezTo>
                    <a:pt x="5695104" y="618159"/>
                    <a:pt x="6066985" y="854686"/>
                    <a:pt x="6475625" y="978204"/>
                  </a:cubicBezTo>
                  <a:cubicBezTo>
                    <a:pt x="7347132" y="1241628"/>
                    <a:pt x="8232589" y="871913"/>
                    <a:pt x="9076007" y="667377"/>
                  </a:cubicBezTo>
                  <a:cubicBezTo>
                    <a:pt x="9561547" y="549628"/>
                    <a:pt x="10043511" y="431717"/>
                    <a:pt x="10536879" y="350049"/>
                  </a:cubicBezTo>
                  <a:cubicBezTo>
                    <a:pt x="10974962" y="277509"/>
                    <a:pt x="11416160" y="219055"/>
                    <a:pt x="11848448" y="115527"/>
                  </a:cubicBezTo>
                  <a:cubicBezTo>
                    <a:pt x="11958503" y="89171"/>
                    <a:pt x="12067746" y="59781"/>
                    <a:pt x="12176204" y="27358"/>
                  </a:cubicBezTo>
                  <a:cubicBezTo>
                    <a:pt x="12193702" y="22130"/>
                    <a:pt x="12186253" y="-5309"/>
                    <a:pt x="12168647" y="-55"/>
                  </a:cubicBezTo>
                  <a:close/>
                </a:path>
              </a:pathLst>
            </a:custGeom>
            <a:grpFill/>
            <a:ln w="2709" cap="flat">
              <a:noFill/>
              <a:prstDash val="solid"/>
              <a:miter/>
            </a:ln>
          </p:spPr>
          <p:txBody>
            <a:bodyPr rtlCol="0" anchor="ctr"/>
            <a:lstStyle/>
            <a:p>
              <a:endParaRPr lang="en-IN"/>
            </a:p>
          </p:txBody>
        </p:sp>
        <p:sp>
          <p:nvSpPr>
            <p:cNvPr id="2022" name="Freeform: Shape 2021">
              <a:extLst>
                <a:ext uri="{FF2B5EF4-FFF2-40B4-BE49-F238E27FC236}">
                  <a16:creationId xmlns:a16="http://schemas.microsoft.com/office/drawing/2014/main" id="{37672559-769D-47DE-7948-9D412177F7D3}"/>
                </a:ext>
              </a:extLst>
            </p:cNvPr>
            <p:cNvSpPr/>
            <p:nvPr/>
          </p:nvSpPr>
          <p:spPr>
            <a:xfrm>
              <a:off x="4360" y="2691698"/>
              <a:ext cx="12184845" cy="2129431"/>
            </a:xfrm>
            <a:custGeom>
              <a:avLst/>
              <a:gdLst>
                <a:gd name="connsiteX0" fmla="*/ 12166318 w 12184845"/>
                <a:gd name="connsiteY0" fmla="*/ 294 h 2129431"/>
                <a:gd name="connsiteX1" fmla="*/ 10812818 w 12184845"/>
                <a:gd name="connsiteY1" fmla="*/ 437564 h 2129431"/>
                <a:gd name="connsiteX2" fmla="*/ 9371448 w 12184845"/>
                <a:gd name="connsiteY2" fmla="*/ 881471 h 2129431"/>
                <a:gd name="connsiteX3" fmla="*/ 8659701 w 12184845"/>
                <a:gd name="connsiteY3" fmla="*/ 1094377 h 2129431"/>
                <a:gd name="connsiteX4" fmla="*/ 7952723 w 12184845"/>
                <a:gd name="connsiteY4" fmla="*/ 1278192 h 2129431"/>
                <a:gd name="connsiteX5" fmla="*/ 6612497 w 12184845"/>
                <a:gd name="connsiteY5" fmla="*/ 1272260 h 2129431"/>
                <a:gd name="connsiteX6" fmla="*/ 5521068 w 12184845"/>
                <a:gd name="connsiteY6" fmla="*/ 765727 h 2129431"/>
                <a:gd name="connsiteX7" fmla="*/ 4844643 w 12184845"/>
                <a:gd name="connsiteY7" fmla="*/ 676610 h 2129431"/>
                <a:gd name="connsiteX8" fmla="*/ 4199965 w 12184845"/>
                <a:gd name="connsiteY8" fmla="*/ 920179 h 2129431"/>
                <a:gd name="connsiteX9" fmla="*/ 3101087 w 12184845"/>
                <a:gd name="connsiteY9" fmla="*/ 1660773 h 2129431"/>
                <a:gd name="connsiteX10" fmla="*/ 2595909 w 12184845"/>
                <a:gd name="connsiteY10" fmla="*/ 1970435 h 2129431"/>
                <a:gd name="connsiteX11" fmla="*/ 2147830 w 12184845"/>
                <a:gd name="connsiteY11" fmla="*/ 2098938 h 2129431"/>
                <a:gd name="connsiteX12" fmla="*/ 1342281 w 12184845"/>
                <a:gd name="connsiteY12" fmla="*/ 1420563 h 2129431"/>
                <a:gd name="connsiteX13" fmla="*/ 849860 w 12184845"/>
                <a:gd name="connsiteY13" fmla="*/ 989875 h 2129431"/>
                <a:gd name="connsiteX14" fmla="*/ 297496 w 12184845"/>
                <a:gd name="connsiteY14" fmla="*/ 834556 h 2129431"/>
                <a:gd name="connsiteX15" fmla="*/ 14460 w 12184845"/>
                <a:gd name="connsiteY15" fmla="*/ 808688 h 2129431"/>
                <a:gd name="connsiteX16" fmla="*/ 14460 w 12184845"/>
                <a:gd name="connsiteY16" fmla="*/ 839161 h 2129431"/>
                <a:gd name="connsiteX17" fmla="*/ 602255 w 12184845"/>
                <a:gd name="connsiteY17" fmla="*/ 920558 h 2129431"/>
                <a:gd name="connsiteX18" fmla="*/ 1197770 w 12184845"/>
                <a:gd name="connsiteY18" fmla="*/ 1298589 h 2129431"/>
                <a:gd name="connsiteX19" fmla="*/ 1963718 w 12184845"/>
                <a:gd name="connsiteY19" fmla="*/ 2090920 h 2129431"/>
                <a:gd name="connsiteX20" fmla="*/ 2809709 w 12184845"/>
                <a:gd name="connsiteY20" fmla="*/ 1886844 h 2129431"/>
                <a:gd name="connsiteX21" fmla="*/ 3889761 w 12184845"/>
                <a:gd name="connsiteY21" fmla="*/ 1146358 h 2129431"/>
                <a:gd name="connsiteX22" fmla="*/ 4513176 w 12184845"/>
                <a:gd name="connsiteY22" fmla="*/ 800182 h 2129431"/>
                <a:gd name="connsiteX23" fmla="*/ 5246646 w 12184845"/>
                <a:gd name="connsiteY23" fmla="*/ 718920 h 2129431"/>
                <a:gd name="connsiteX24" fmla="*/ 6397045 w 12184845"/>
                <a:gd name="connsiteY24" fmla="*/ 1225453 h 2129431"/>
                <a:gd name="connsiteX25" fmla="*/ 7583469 w 12184845"/>
                <a:gd name="connsiteY25" fmla="*/ 1373539 h 2129431"/>
                <a:gd name="connsiteX26" fmla="*/ 8999891 w 12184845"/>
                <a:gd name="connsiteY26" fmla="*/ 1029531 h 2129431"/>
                <a:gd name="connsiteX27" fmla="*/ 10476773 w 12184845"/>
                <a:gd name="connsiteY27" fmla="*/ 567800 h 2129431"/>
                <a:gd name="connsiteX28" fmla="*/ 11837693 w 12184845"/>
                <a:gd name="connsiteY28" fmla="*/ 150656 h 2129431"/>
                <a:gd name="connsiteX29" fmla="*/ 12174444 w 12184845"/>
                <a:gd name="connsiteY29" fmla="*/ 29711 h 2129431"/>
                <a:gd name="connsiteX30" fmla="*/ 12166318 w 12184845"/>
                <a:gd name="connsiteY30" fmla="*/ 321 h 212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4845" h="2129431">
                  <a:moveTo>
                    <a:pt x="12166318" y="294"/>
                  </a:moveTo>
                  <a:cubicBezTo>
                    <a:pt x="11722086" y="166881"/>
                    <a:pt x="11267994" y="304241"/>
                    <a:pt x="10812818" y="437564"/>
                  </a:cubicBezTo>
                  <a:cubicBezTo>
                    <a:pt x="10330095" y="578960"/>
                    <a:pt x="9849539" y="725015"/>
                    <a:pt x="9371448" y="881471"/>
                  </a:cubicBezTo>
                  <a:cubicBezTo>
                    <a:pt x="9135788" y="958589"/>
                    <a:pt x="8897935" y="1026063"/>
                    <a:pt x="8659701" y="1094377"/>
                  </a:cubicBezTo>
                  <a:cubicBezTo>
                    <a:pt x="8425586" y="1161527"/>
                    <a:pt x="8191091" y="1227404"/>
                    <a:pt x="7952723" y="1278192"/>
                  </a:cubicBezTo>
                  <a:cubicBezTo>
                    <a:pt x="7507625" y="1372998"/>
                    <a:pt x="7052612" y="1410622"/>
                    <a:pt x="6612497" y="1272260"/>
                  </a:cubicBezTo>
                  <a:cubicBezTo>
                    <a:pt x="6226476" y="1150882"/>
                    <a:pt x="5897880" y="907448"/>
                    <a:pt x="5521068" y="765727"/>
                  </a:cubicBezTo>
                  <a:cubicBezTo>
                    <a:pt x="5304830" y="684465"/>
                    <a:pt x="5074994" y="646841"/>
                    <a:pt x="4844643" y="676610"/>
                  </a:cubicBezTo>
                  <a:cubicBezTo>
                    <a:pt x="4615187" y="706244"/>
                    <a:pt x="4399870" y="808281"/>
                    <a:pt x="4199965" y="920179"/>
                  </a:cubicBezTo>
                  <a:cubicBezTo>
                    <a:pt x="3814025" y="1136255"/>
                    <a:pt x="3464653" y="1410459"/>
                    <a:pt x="3101087" y="1660773"/>
                  </a:cubicBezTo>
                  <a:cubicBezTo>
                    <a:pt x="2938563" y="1772671"/>
                    <a:pt x="2772789" y="1882347"/>
                    <a:pt x="2595909" y="1970435"/>
                  </a:cubicBezTo>
                  <a:cubicBezTo>
                    <a:pt x="2458088" y="2039075"/>
                    <a:pt x="2304422" y="2101240"/>
                    <a:pt x="2147830" y="2098938"/>
                  </a:cubicBezTo>
                  <a:cubicBezTo>
                    <a:pt x="1766522" y="2093358"/>
                    <a:pt x="1548388" y="1680710"/>
                    <a:pt x="1342281" y="1420563"/>
                  </a:cubicBezTo>
                  <a:cubicBezTo>
                    <a:pt x="1205192" y="1247529"/>
                    <a:pt x="1045214" y="1095515"/>
                    <a:pt x="849860" y="989875"/>
                  </a:cubicBezTo>
                  <a:cubicBezTo>
                    <a:pt x="678018" y="896884"/>
                    <a:pt x="490520" y="854222"/>
                    <a:pt x="297496" y="834556"/>
                  </a:cubicBezTo>
                  <a:cubicBezTo>
                    <a:pt x="203232" y="824967"/>
                    <a:pt x="108670" y="818900"/>
                    <a:pt x="14460" y="808688"/>
                  </a:cubicBezTo>
                  <a:cubicBezTo>
                    <a:pt x="-5015" y="806575"/>
                    <a:pt x="-4853" y="837075"/>
                    <a:pt x="14460" y="839161"/>
                  </a:cubicBezTo>
                  <a:cubicBezTo>
                    <a:pt x="211277" y="860506"/>
                    <a:pt x="410965" y="864460"/>
                    <a:pt x="602255" y="920558"/>
                  </a:cubicBezTo>
                  <a:cubicBezTo>
                    <a:pt x="831658" y="987843"/>
                    <a:pt x="1034677" y="1125501"/>
                    <a:pt x="1197770" y="1298589"/>
                  </a:cubicBezTo>
                  <a:cubicBezTo>
                    <a:pt x="1445592" y="1561661"/>
                    <a:pt x="1610337" y="1948305"/>
                    <a:pt x="1963718" y="2090920"/>
                  </a:cubicBezTo>
                  <a:cubicBezTo>
                    <a:pt x="2250843" y="2206799"/>
                    <a:pt x="2567575" y="2032547"/>
                    <a:pt x="2809709" y="1886844"/>
                  </a:cubicBezTo>
                  <a:cubicBezTo>
                    <a:pt x="3183893" y="1661694"/>
                    <a:pt x="3525491" y="1386595"/>
                    <a:pt x="3889761" y="1146358"/>
                  </a:cubicBezTo>
                  <a:cubicBezTo>
                    <a:pt x="4087715" y="1015824"/>
                    <a:pt x="4293037" y="889868"/>
                    <a:pt x="4513176" y="800182"/>
                  </a:cubicBezTo>
                  <a:cubicBezTo>
                    <a:pt x="4747860" y="704564"/>
                    <a:pt x="4996441" y="671463"/>
                    <a:pt x="5246646" y="718920"/>
                  </a:cubicBezTo>
                  <a:cubicBezTo>
                    <a:pt x="5664333" y="798015"/>
                    <a:pt x="6010969" y="1063796"/>
                    <a:pt x="6397045" y="1225453"/>
                  </a:cubicBezTo>
                  <a:cubicBezTo>
                    <a:pt x="6776267" y="1384212"/>
                    <a:pt x="7176644" y="1425385"/>
                    <a:pt x="7583469" y="1373539"/>
                  </a:cubicBezTo>
                  <a:cubicBezTo>
                    <a:pt x="8065162" y="1312132"/>
                    <a:pt x="8534965" y="1164967"/>
                    <a:pt x="8999891" y="1029531"/>
                  </a:cubicBezTo>
                  <a:cubicBezTo>
                    <a:pt x="9494993" y="885291"/>
                    <a:pt x="9981915" y="713557"/>
                    <a:pt x="10476773" y="567800"/>
                  </a:cubicBezTo>
                  <a:cubicBezTo>
                    <a:pt x="10931840" y="433745"/>
                    <a:pt x="11388775" y="304728"/>
                    <a:pt x="11837693" y="150656"/>
                  </a:cubicBezTo>
                  <a:cubicBezTo>
                    <a:pt x="11950512" y="111921"/>
                    <a:pt x="12062763" y="71615"/>
                    <a:pt x="12174444" y="29711"/>
                  </a:cubicBezTo>
                  <a:cubicBezTo>
                    <a:pt x="12192646" y="22885"/>
                    <a:pt x="12184763" y="-6586"/>
                    <a:pt x="12166318" y="321"/>
                  </a:cubicBezTo>
                  <a:close/>
                </a:path>
              </a:pathLst>
            </a:custGeom>
            <a:grpFill/>
            <a:ln w="2709" cap="flat">
              <a:noFill/>
              <a:prstDash val="solid"/>
              <a:miter/>
            </a:ln>
          </p:spPr>
          <p:txBody>
            <a:bodyPr rtlCol="0" anchor="ctr"/>
            <a:lstStyle/>
            <a:p>
              <a:endParaRPr lang="en-IN"/>
            </a:p>
          </p:txBody>
        </p:sp>
        <p:sp>
          <p:nvSpPr>
            <p:cNvPr id="2023" name="Freeform: Shape 2022">
              <a:extLst>
                <a:ext uri="{FF2B5EF4-FFF2-40B4-BE49-F238E27FC236}">
                  <a16:creationId xmlns:a16="http://schemas.microsoft.com/office/drawing/2014/main" id="{D2B25C57-FBB1-00A9-34D7-C0204829B9A2}"/>
                </a:ext>
              </a:extLst>
            </p:cNvPr>
            <p:cNvSpPr/>
            <p:nvPr/>
          </p:nvSpPr>
          <p:spPr>
            <a:xfrm>
              <a:off x="4278" y="2519498"/>
              <a:ext cx="12186112" cy="2374295"/>
            </a:xfrm>
            <a:custGeom>
              <a:avLst/>
              <a:gdLst>
                <a:gd name="connsiteX0" fmla="*/ 12161063 w 12186112"/>
                <a:gd name="connsiteY0" fmla="*/ 842 h 2374295"/>
                <a:gd name="connsiteX1" fmla="*/ 9346691 w 12186112"/>
                <a:gd name="connsiteY1" fmla="*/ 1199022 h 2374295"/>
                <a:gd name="connsiteX2" fmla="*/ 7941077 w 12186112"/>
                <a:gd name="connsiteY2" fmla="*/ 1629710 h 2374295"/>
                <a:gd name="connsiteX3" fmla="*/ 6576391 w 12186112"/>
                <a:gd name="connsiteY3" fmla="*/ 1562885 h 2374295"/>
                <a:gd name="connsiteX4" fmla="*/ 5506442 w 12186112"/>
                <a:gd name="connsiteY4" fmla="*/ 946649 h 2374295"/>
                <a:gd name="connsiteX5" fmla="*/ 4891804 w 12186112"/>
                <a:gd name="connsiteY5" fmla="*/ 762889 h 2374295"/>
                <a:gd name="connsiteX6" fmla="*/ 4226783 w 12186112"/>
                <a:gd name="connsiteY6" fmla="*/ 928636 h 2374295"/>
                <a:gd name="connsiteX7" fmla="*/ 3136248 w 12186112"/>
                <a:gd name="connsiteY7" fmla="*/ 1692498 h 2374295"/>
                <a:gd name="connsiteX8" fmla="*/ 2629119 w 12186112"/>
                <a:gd name="connsiteY8" fmla="*/ 2071992 h 2374295"/>
                <a:gd name="connsiteX9" fmla="*/ 2181149 w 12186112"/>
                <a:gd name="connsiteY9" fmla="*/ 2309304 h 2374295"/>
                <a:gd name="connsiteX10" fmla="*/ 1756609 w 12186112"/>
                <a:gd name="connsiteY10" fmla="*/ 2268916 h 2374295"/>
                <a:gd name="connsiteX11" fmla="*/ 1352304 w 12186112"/>
                <a:gd name="connsiteY11" fmla="*/ 1842074 h 2374295"/>
                <a:gd name="connsiteX12" fmla="*/ 931448 w 12186112"/>
                <a:gd name="connsiteY12" fmla="*/ 1373762 h 2374295"/>
                <a:gd name="connsiteX13" fmla="*/ 326914 w 12186112"/>
                <a:gd name="connsiteY13" fmla="*/ 1099286 h 2374295"/>
                <a:gd name="connsiteX14" fmla="*/ 20285 w 12186112"/>
                <a:gd name="connsiteY14" fmla="*/ 1040398 h 2374295"/>
                <a:gd name="connsiteX15" fmla="*/ 11645 w 12186112"/>
                <a:gd name="connsiteY15" fmla="*/ 1071738 h 2374295"/>
                <a:gd name="connsiteX16" fmla="*/ 655049 w 12186112"/>
                <a:gd name="connsiteY16" fmla="*/ 1240113 h 2374295"/>
                <a:gd name="connsiteX17" fmla="*/ 1203811 w 12186112"/>
                <a:gd name="connsiteY17" fmla="*/ 1697049 h 2374295"/>
                <a:gd name="connsiteX18" fmla="*/ 1979240 w 12186112"/>
                <a:gd name="connsiteY18" fmla="*/ 2373148 h 2374295"/>
                <a:gd name="connsiteX19" fmla="*/ 2360819 w 12186112"/>
                <a:gd name="connsiteY19" fmla="*/ 2269729 h 2374295"/>
                <a:gd name="connsiteX20" fmla="*/ 2831434 w 12186112"/>
                <a:gd name="connsiteY20" fmla="*/ 1967597 h 2374295"/>
                <a:gd name="connsiteX21" fmla="*/ 3883695 w 12186112"/>
                <a:gd name="connsiteY21" fmla="*/ 1170932 h 2374295"/>
                <a:gd name="connsiteX22" fmla="*/ 4543704 w 12186112"/>
                <a:gd name="connsiteY22" fmla="*/ 835049 h 2374295"/>
                <a:gd name="connsiteX23" fmla="*/ 5265365 w 12186112"/>
                <a:gd name="connsiteY23" fmla="*/ 873161 h 2374295"/>
                <a:gd name="connsiteX24" fmla="*/ 6378789 w 12186112"/>
                <a:gd name="connsiteY24" fmla="*/ 1509578 h 2374295"/>
                <a:gd name="connsiteX25" fmla="*/ 7586098 w 12186112"/>
                <a:gd name="connsiteY25" fmla="*/ 1716714 h 2374295"/>
                <a:gd name="connsiteX26" fmla="*/ 9020668 w 12186112"/>
                <a:gd name="connsiteY26" fmla="*/ 1359162 h 2374295"/>
                <a:gd name="connsiteX27" fmla="*/ 10479700 w 12186112"/>
                <a:gd name="connsiteY27" fmla="*/ 761345 h 2374295"/>
                <a:gd name="connsiteX28" fmla="*/ 11830218 w 12186112"/>
                <a:gd name="connsiteY28" fmla="*/ 182299 h 2374295"/>
                <a:gd name="connsiteX29" fmla="*/ 12177613 w 12186112"/>
                <a:gd name="connsiteY29" fmla="*/ 28904 h 2374295"/>
                <a:gd name="connsiteX30" fmla="*/ 12161198 w 12186112"/>
                <a:gd name="connsiteY30" fmla="*/ 842 h 237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6112" h="2374295">
                  <a:moveTo>
                    <a:pt x="12161063" y="842"/>
                  </a:moveTo>
                  <a:cubicBezTo>
                    <a:pt x="11229477" y="414681"/>
                    <a:pt x="10291361" y="814084"/>
                    <a:pt x="9346691" y="1199022"/>
                  </a:cubicBezTo>
                  <a:cubicBezTo>
                    <a:pt x="8894496" y="1383053"/>
                    <a:pt x="8420847" y="1536286"/>
                    <a:pt x="7941077" y="1629710"/>
                  </a:cubicBezTo>
                  <a:cubicBezTo>
                    <a:pt x="7481676" y="1719098"/>
                    <a:pt x="7018212" y="1737355"/>
                    <a:pt x="6576391" y="1562885"/>
                  </a:cubicBezTo>
                  <a:cubicBezTo>
                    <a:pt x="6189665" y="1410167"/>
                    <a:pt x="5871498" y="1138969"/>
                    <a:pt x="5506442" y="946649"/>
                  </a:cubicBezTo>
                  <a:cubicBezTo>
                    <a:pt x="5315368" y="846020"/>
                    <a:pt x="5109152" y="772586"/>
                    <a:pt x="4891804" y="762889"/>
                  </a:cubicBezTo>
                  <a:cubicBezTo>
                    <a:pt x="4655982" y="752352"/>
                    <a:pt x="4435111" y="822860"/>
                    <a:pt x="4226783" y="928636"/>
                  </a:cubicBezTo>
                  <a:cubicBezTo>
                    <a:pt x="3830712" y="1129732"/>
                    <a:pt x="3483615" y="1419160"/>
                    <a:pt x="3136248" y="1692498"/>
                  </a:cubicBezTo>
                  <a:cubicBezTo>
                    <a:pt x="2970338" y="1822978"/>
                    <a:pt x="2804049" y="1953674"/>
                    <a:pt x="2629119" y="2071992"/>
                  </a:cubicBezTo>
                  <a:cubicBezTo>
                    <a:pt x="2489971" y="2166093"/>
                    <a:pt x="2342318" y="2258136"/>
                    <a:pt x="2181149" y="2309304"/>
                  </a:cubicBezTo>
                  <a:cubicBezTo>
                    <a:pt x="2031762" y="2356761"/>
                    <a:pt x="1894240" y="2347605"/>
                    <a:pt x="1756609" y="2268916"/>
                  </a:cubicBezTo>
                  <a:cubicBezTo>
                    <a:pt x="1583549" y="2169966"/>
                    <a:pt x="1466775" y="1999939"/>
                    <a:pt x="1352304" y="1842074"/>
                  </a:cubicBezTo>
                  <a:cubicBezTo>
                    <a:pt x="1228271" y="1671099"/>
                    <a:pt x="1099254" y="1504512"/>
                    <a:pt x="931448" y="1373762"/>
                  </a:cubicBezTo>
                  <a:cubicBezTo>
                    <a:pt x="751941" y="1233883"/>
                    <a:pt x="548055" y="1148043"/>
                    <a:pt x="326914" y="1099286"/>
                  </a:cubicBezTo>
                  <a:cubicBezTo>
                    <a:pt x="225255" y="1076885"/>
                    <a:pt x="122459" y="1060036"/>
                    <a:pt x="20285" y="1040398"/>
                  </a:cubicBezTo>
                  <a:cubicBezTo>
                    <a:pt x="-166" y="1036444"/>
                    <a:pt x="-8915" y="1067784"/>
                    <a:pt x="11645" y="1071738"/>
                  </a:cubicBezTo>
                  <a:cubicBezTo>
                    <a:pt x="229616" y="1113480"/>
                    <a:pt x="452030" y="1144495"/>
                    <a:pt x="655049" y="1240113"/>
                  </a:cubicBezTo>
                  <a:cubicBezTo>
                    <a:pt x="874809" y="1343641"/>
                    <a:pt x="1054587" y="1507654"/>
                    <a:pt x="1203811" y="1697049"/>
                  </a:cubicBezTo>
                  <a:cubicBezTo>
                    <a:pt x="1403364" y="1950288"/>
                    <a:pt x="1609579" y="2357519"/>
                    <a:pt x="1979240" y="2373148"/>
                  </a:cubicBezTo>
                  <a:cubicBezTo>
                    <a:pt x="2112374" y="2378783"/>
                    <a:pt x="2243585" y="2327913"/>
                    <a:pt x="2360819" y="2269729"/>
                  </a:cubicBezTo>
                  <a:cubicBezTo>
                    <a:pt x="2527893" y="2186815"/>
                    <a:pt x="2681912" y="2078357"/>
                    <a:pt x="2831434" y="1967597"/>
                  </a:cubicBezTo>
                  <a:cubicBezTo>
                    <a:pt x="3184978" y="1705771"/>
                    <a:pt x="3517908" y="1416208"/>
                    <a:pt x="3883695" y="1170932"/>
                  </a:cubicBezTo>
                  <a:cubicBezTo>
                    <a:pt x="4087744" y="1034114"/>
                    <a:pt x="4305742" y="902768"/>
                    <a:pt x="4543704" y="835049"/>
                  </a:cubicBezTo>
                  <a:cubicBezTo>
                    <a:pt x="4782506" y="767331"/>
                    <a:pt x="5033795" y="788297"/>
                    <a:pt x="5265365" y="873161"/>
                  </a:cubicBezTo>
                  <a:cubicBezTo>
                    <a:pt x="5668966" y="1021085"/>
                    <a:pt x="5996343" y="1319100"/>
                    <a:pt x="6378789" y="1509578"/>
                  </a:cubicBezTo>
                  <a:cubicBezTo>
                    <a:pt x="6757388" y="1698105"/>
                    <a:pt x="7166217" y="1763277"/>
                    <a:pt x="7586098" y="1716714"/>
                  </a:cubicBezTo>
                  <a:cubicBezTo>
                    <a:pt x="8075240" y="1662540"/>
                    <a:pt x="8558044" y="1523961"/>
                    <a:pt x="9020668" y="1359162"/>
                  </a:cubicBezTo>
                  <a:cubicBezTo>
                    <a:pt x="9514904" y="1182932"/>
                    <a:pt x="9996191" y="964771"/>
                    <a:pt x="10479700" y="761345"/>
                  </a:cubicBezTo>
                  <a:cubicBezTo>
                    <a:pt x="10931164" y="571409"/>
                    <a:pt x="11381328" y="378385"/>
                    <a:pt x="11830218" y="182299"/>
                  </a:cubicBezTo>
                  <a:cubicBezTo>
                    <a:pt x="11946125" y="131429"/>
                    <a:pt x="12061923" y="80288"/>
                    <a:pt x="12177613" y="28904"/>
                  </a:cubicBezTo>
                  <a:cubicBezTo>
                    <a:pt x="12196574" y="20426"/>
                    <a:pt x="12180159" y="-7583"/>
                    <a:pt x="12161198" y="842"/>
                  </a:cubicBezTo>
                  <a:close/>
                </a:path>
              </a:pathLst>
            </a:custGeom>
            <a:grpFill/>
            <a:ln w="2709" cap="flat">
              <a:noFill/>
              <a:prstDash val="solid"/>
              <a:miter/>
            </a:ln>
          </p:spPr>
          <p:txBody>
            <a:bodyPr rtlCol="0" anchor="ctr"/>
            <a:lstStyle/>
            <a:p>
              <a:endParaRPr lang="en-IN"/>
            </a:p>
          </p:txBody>
        </p:sp>
        <p:sp>
          <p:nvSpPr>
            <p:cNvPr id="2024" name="Freeform: Shape 2023">
              <a:extLst>
                <a:ext uri="{FF2B5EF4-FFF2-40B4-BE49-F238E27FC236}">
                  <a16:creationId xmlns:a16="http://schemas.microsoft.com/office/drawing/2014/main" id="{3265F916-7B8F-428F-C0B9-2A305C676670}"/>
                </a:ext>
              </a:extLst>
            </p:cNvPr>
            <p:cNvSpPr/>
            <p:nvPr/>
          </p:nvSpPr>
          <p:spPr>
            <a:xfrm>
              <a:off x="4765" y="2345677"/>
              <a:ext cx="12185046" cy="2620399"/>
            </a:xfrm>
            <a:custGeom>
              <a:avLst/>
              <a:gdLst>
                <a:gd name="connsiteX0" fmla="*/ 12158870 w 12185046"/>
                <a:gd name="connsiteY0" fmla="*/ 1467 h 2620399"/>
                <a:gd name="connsiteX1" fmla="*/ 9325537 w 12185046"/>
                <a:gd name="connsiteY1" fmla="*/ 1511314 h 2620399"/>
                <a:gd name="connsiteX2" fmla="*/ 7905728 w 12185046"/>
                <a:gd name="connsiteY2" fmla="*/ 1988050 h 2620399"/>
                <a:gd name="connsiteX3" fmla="*/ 7125235 w 12185046"/>
                <a:gd name="connsiteY3" fmla="*/ 2031227 h 2620399"/>
                <a:gd name="connsiteX4" fmla="*/ 6498055 w 12185046"/>
                <a:gd name="connsiteY4" fmla="*/ 1846113 h 2620399"/>
                <a:gd name="connsiteX5" fmla="*/ 5447067 w 12185046"/>
                <a:gd name="connsiteY5" fmla="*/ 1124778 h 2620399"/>
                <a:gd name="connsiteX6" fmla="*/ 4830208 w 12185046"/>
                <a:gd name="connsiteY6" fmla="*/ 868315 h 2620399"/>
                <a:gd name="connsiteX7" fmla="*/ 4168871 w 12185046"/>
                <a:gd name="connsiteY7" fmla="*/ 984520 h 2620399"/>
                <a:gd name="connsiteX8" fmla="*/ 3079229 w 12185046"/>
                <a:gd name="connsiteY8" fmla="*/ 1775848 h 2620399"/>
                <a:gd name="connsiteX9" fmla="*/ 2145177 w 12185046"/>
                <a:gd name="connsiteY9" fmla="*/ 2496046 h 2620399"/>
                <a:gd name="connsiteX10" fmla="*/ 1768420 w 12185046"/>
                <a:gd name="connsiteY10" fmla="*/ 2577308 h 2620399"/>
                <a:gd name="connsiteX11" fmla="*/ 1314761 w 12185046"/>
                <a:gd name="connsiteY11" fmla="*/ 2208487 h 2620399"/>
                <a:gd name="connsiteX12" fmla="*/ 904605 w 12185046"/>
                <a:gd name="connsiteY12" fmla="*/ 1700871 h 2620399"/>
                <a:gd name="connsiteX13" fmla="*/ 342029 w 12185046"/>
                <a:gd name="connsiteY13" fmla="*/ 1369132 h 2620399"/>
                <a:gd name="connsiteX14" fmla="*/ 21288 w 12185046"/>
                <a:gd name="connsiteY14" fmla="*/ 1272674 h 2620399"/>
                <a:gd name="connsiteX15" fmla="*/ 12105 w 12185046"/>
                <a:gd name="connsiteY15" fmla="*/ 1305965 h 2620399"/>
                <a:gd name="connsiteX16" fmla="*/ 649470 w 12185046"/>
                <a:gd name="connsiteY16" fmla="*/ 1549750 h 2620399"/>
                <a:gd name="connsiteX17" fmla="*/ 1172932 w 12185046"/>
                <a:gd name="connsiteY17" fmla="*/ 2069177 h 2620399"/>
                <a:gd name="connsiteX18" fmla="*/ 1931106 w 12185046"/>
                <a:gd name="connsiteY18" fmla="*/ 2611790 h 2620399"/>
                <a:gd name="connsiteX19" fmla="*/ 2324929 w 12185046"/>
                <a:gd name="connsiteY19" fmla="*/ 2429140 h 2620399"/>
                <a:gd name="connsiteX20" fmla="*/ 2773766 w 12185046"/>
                <a:gd name="connsiteY20" fmla="*/ 2083208 h 2620399"/>
                <a:gd name="connsiteX21" fmla="*/ 3819336 w 12185046"/>
                <a:gd name="connsiteY21" fmla="*/ 1229958 h 2620399"/>
                <a:gd name="connsiteX22" fmla="*/ 4497196 w 12185046"/>
                <a:gd name="connsiteY22" fmla="*/ 908133 h 2620399"/>
                <a:gd name="connsiteX23" fmla="*/ 5228553 w 12185046"/>
                <a:gd name="connsiteY23" fmla="*/ 1036202 h 2620399"/>
                <a:gd name="connsiteX24" fmla="*/ 6299017 w 12185046"/>
                <a:gd name="connsiteY24" fmla="*/ 1776932 h 2620399"/>
                <a:gd name="connsiteX25" fmla="*/ 7542867 w 12185046"/>
                <a:gd name="connsiteY25" fmla="*/ 2069231 h 2620399"/>
                <a:gd name="connsiteX26" fmla="*/ 8983532 w 12185046"/>
                <a:gd name="connsiteY26" fmla="*/ 1705204 h 2620399"/>
                <a:gd name="connsiteX27" fmla="*/ 10434708 w 12185046"/>
                <a:gd name="connsiteY27" fmla="*/ 970353 h 2620399"/>
                <a:gd name="connsiteX28" fmla="*/ 11818193 w 12185046"/>
                <a:gd name="connsiteY28" fmla="*/ 216323 h 2620399"/>
                <a:gd name="connsiteX29" fmla="*/ 12176232 w 12185046"/>
                <a:gd name="connsiteY29" fmla="*/ 31127 h 2620399"/>
                <a:gd name="connsiteX30" fmla="*/ 12158788 w 12185046"/>
                <a:gd name="connsiteY30" fmla="*/ 1331 h 262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5046" h="2620399">
                  <a:moveTo>
                    <a:pt x="12158870" y="1467"/>
                  </a:moveTo>
                  <a:cubicBezTo>
                    <a:pt x="11204420" y="485950"/>
                    <a:pt x="10286730" y="1039886"/>
                    <a:pt x="9325537" y="1511314"/>
                  </a:cubicBezTo>
                  <a:cubicBezTo>
                    <a:pt x="8876402" y="1731587"/>
                    <a:pt x="8399530" y="1901994"/>
                    <a:pt x="7905728" y="1988050"/>
                  </a:cubicBezTo>
                  <a:cubicBezTo>
                    <a:pt x="7649022" y="2032853"/>
                    <a:pt x="7385300" y="2059913"/>
                    <a:pt x="7125235" y="2031227"/>
                  </a:cubicBezTo>
                  <a:cubicBezTo>
                    <a:pt x="6906910" y="2007174"/>
                    <a:pt x="6695034" y="1942760"/>
                    <a:pt x="6498055" y="1846113"/>
                  </a:cubicBezTo>
                  <a:cubicBezTo>
                    <a:pt x="6113035" y="1657233"/>
                    <a:pt x="5803075" y="1358216"/>
                    <a:pt x="5447067" y="1124778"/>
                  </a:cubicBezTo>
                  <a:cubicBezTo>
                    <a:pt x="5259623" y="1001828"/>
                    <a:pt x="5054301" y="899790"/>
                    <a:pt x="4830208" y="868315"/>
                  </a:cubicBezTo>
                  <a:cubicBezTo>
                    <a:pt x="4598773" y="835810"/>
                    <a:pt x="4378283" y="885380"/>
                    <a:pt x="4168871" y="984520"/>
                  </a:cubicBezTo>
                  <a:cubicBezTo>
                    <a:pt x="3763536" y="1176433"/>
                    <a:pt x="3416168" y="1485635"/>
                    <a:pt x="3079229" y="1775848"/>
                  </a:cubicBezTo>
                  <a:cubicBezTo>
                    <a:pt x="2785305" y="2029115"/>
                    <a:pt x="2492274" y="2315698"/>
                    <a:pt x="2145177" y="2496046"/>
                  </a:cubicBezTo>
                  <a:cubicBezTo>
                    <a:pt x="2032575" y="2554582"/>
                    <a:pt x="1897112" y="2608079"/>
                    <a:pt x="1768420" y="2577308"/>
                  </a:cubicBezTo>
                  <a:cubicBezTo>
                    <a:pt x="1568813" y="2529499"/>
                    <a:pt x="1430533" y="2366893"/>
                    <a:pt x="1314761" y="2208487"/>
                  </a:cubicBezTo>
                  <a:cubicBezTo>
                    <a:pt x="1186043" y="2032419"/>
                    <a:pt x="1066208" y="1849580"/>
                    <a:pt x="904605" y="1700871"/>
                  </a:cubicBezTo>
                  <a:cubicBezTo>
                    <a:pt x="741323" y="1550644"/>
                    <a:pt x="550899" y="1442349"/>
                    <a:pt x="342029" y="1369132"/>
                  </a:cubicBezTo>
                  <a:cubicBezTo>
                    <a:pt x="236605" y="1332212"/>
                    <a:pt x="128825" y="1302579"/>
                    <a:pt x="21288" y="1272674"/>
                  </a:cubicBezTo>
                  <a:cubicBezTo>
                    <a:pt x="-165" y="1266715"/>
                    <a:pt x="-9294" y="1300005"/>
                    <a:pt x="12105" y="1305965"/>
                  </a:cubicBezTo>
                  <a:cubicBezTo>
                    <a:pt x="232109" y="1367182"/>
                    <a:pt x="453222" y="1429429"/>
                    <a:pt x="649470" y="1549750"/>
                  </a:cubicBezTo>
                  <a:cubicBezTo>
                    <a:pt x="863839" y="1681314"/>
                    <a:pt x="1027500" y="1866862"/>
                    <a:pt x="1172932" y="2069177"/>
                  </a:cubicBezTo>
                  <a:cubicBezTo>
                    <a:pt x="1349406" y="2314642"/>
                    <a:pt x="1575910" y="2677829"/>
                    <a:pt x="1931106" y="2611790"/>
                  </a:cubicBezTo>
                  <a:cubicBezTo>
                    <a:pt x="2073640" y="2585298"/>
                    <a:pt x="2205582" y="2508018"/>
                    <a:pt x="2324929" y="2429140"/>
                  </a:cubicBezTo>
                  <a:cubicBezTo>
                    <a:pt x="2482550" y="2324962"/>
                    <a:pt x="2629417" y="2204749"/>
                    <a:pt x="2773766" y="2083208"/>
                  </a:cubicBezTo>
                  <a:cubicBezTo>
                    <a:pt x="3117774" y="1793699"/>
                    <a:pt x="3447590" y="1484199"/>
                    <a:pt x="3819336" y="1229958"/>
                  </a:cubicBezTo>
                  <a:cubicBezTo>
                    <a:pt x="4024549" y="1089564"/>
                    <a:pt x="4250024" y="955401"/>
                    <a:pt x="4497196" y="908133"/>
                  </a:cubicBezTo>
                  <a:cubicBezTo>
                    <a:pt x="4748322" y="860107"/>
                    <a:pt x="5004352" y="920973"/>
                    <a:pt x="5228553" y="1036202"/>
                  </a:cubicBezTo>
                  <a:cubicBezTo>
                    <a:pt x="5615902" y="1235212"/>
                    <a:pt x="5926404" y="1553813"/>
                    <a:pt x="6299017" y="1776932"/>
                  </a:cubicBezTo>
                  <a:cubicBezTo>
                    <a:pt x="6679241" y="2004601"/>
                    <a:pt x="7100341" y="2105745"/>
                    <a:pt x="7542867" y="2069231"/>
                  </a:cubicBezTo>
                  <a:cubicBezTo>
                    <a:pt x="8037291" y="2028438"/>
                    <a:pt x="8526136" y="1895574"/>
                    <a:pt x="8983532" y="1705204"/>
                  </a:cubicBezTo>
                  <a:cubicBezTo>
                    <a:pt x="9482887" y="1497336"/>
                    <a:pt x="9960273" y="1228820"/>
                    <a:pt x="10434708" y="970353"/>
                  </a:cubicBezTo>
                  <a:cubicBezTo>
                    <a:pt x="10895924" y="719091"/>
                    <a:pt x="11353509" y="461111"/>
                    <a:pt x="11818193" y="216323"/>
                  </a:cubicBezTo>
                  <a:cubicBezTo>
                    <a:pt x="11937052" y="153698"/>
                    <a:pt x="12056398" y="91965"/>
                    <a:pt x="12176232" y="31127"/>
                  </a:cubicBezTo>
                  <a:cubicBezTo>
                    <a:pt x="12196061" y="21051"/>
                    <a:pt x="12178589" y="-8745"/>
                    <a:pt x="12158788" y="1331"/>
                  </a:cubicBezTo>
                  <a:close/>
                </a:path>
              </a:pathLst>
            </a:custGeom>
            <a:grpFill/>
            <a:ln w="2709" cap="flat">
              <a:noFill/>
              <a:prstDash val="solid"/>
              <a:miter/>
            </a:ln>
          </p:spPr>
          <p:txBody>
            <a:bodyPr rtlCol="0" anchor="ctr"/>
            <a:lstStyle/>
            <a:p>
              <a:endParaRPr lang="en-IN"/>
            </a:p>
          </p:txBody>
        </p:sp>
        <p:sp>
          <p:nvSpPr>
            <p:cNvPr id="2025" name="Freeform: Shape 2024">
              <a:extLst>
                <a:ext uri="{FF2B5EF4-FFF2-40B4-BE49-F238E27FC236}">
                  <a16:creationId xmlns:a16="http://schemas.microsoft.com/office/drawing/2014/main" id="{F1CD0775-7348-BB6C-2921-79816C09CF22}"/>
                </a:ext>
              </a:extLst>
            </p:cNvPr>
            <p:cNvSpPr/>
            <p:nvPr/>
          </p:nvSpPr>
          <p:spPr>
            <a:xfrm>
              <a:off x="5615" y="2172087"/>
              <a:ext cx="12183989" cy="2866504"/>
            </a:xfrm>
            <a:custGeom>
              <a:avLst/>
              <a:gdLst>
                <a:gd name="connsiteX0" fmla="*/ 12156340 w 12183989"/>
                <a:gd name="connsiteY0" fmla="*/ 1860 h 2866504"/>
                <a:gd name="connsiteX1" fmla="*/ 9310574 w 12183989"/>
                <a:gd name="connsiteY1" fmla="*/ 1814354 h 2866504"/>
                <a:gd name="connsiteX2" fmla="*/ 7890007 w 12183989"/>
                <a:gd name="connsiteY2" fmla="*/ 2344155 h 2866504"/>
                <a:gd name="connsiteX3" fmla="*/ 7083537 w 12183989"/>
                <a:gd name="connsiteY3" fmla="*/ 2370456 h 2866504"/>
                <a:gd name="connsiteX4" fmla="*/ 6451779 w 12183989"/>
                <a:gd name="connsiteY4" fmla="*/ 2151970 h 2866504"/>
                <a:gd name="connsiteX5" fmla="*/ 5406696 w 12183989"/>
                <a:gd name="connsiteY5" fmla="*/ 1331577 h 2866504"/>
                <a:gd name="connsiteX6" fmla="*/ 4817601 w 12183989"/>
                <a:gd name="connsiteY6" fmla="*/ 996371 h 2866504"/>
                <a:gd name="connsiteX7" fmla="*/ 4150278 w 12183989"/>
                <a:gd name="connsiteY7" fmla="*/ 1026546 h 2866504"/>
                <a:gd name="connsiteX8" fmla="*/ 3044493 w 12183989"/>
                <a:gd name="connsiteY8" fmla="*/ 1825866 h 2866504"/>
                <a:gd name="connsiteX9" fmla="*/ 2111254 w 12183989"/>
                <a:gd name="connsiteY9" fmla="*/ 2653465 h 2866504"/>
                <a:gd name="connsiteX10" fmla="*/ 1736392 w 12183989"/>
                <a:gd name="connsiteY10" fmla="*/ 2829776 h 2866504"/>
                <a:gd name="connsiteX11" fmla="*/ 1289018 w 12183989"/>
                <a:gd name="connsiteY11" fmla="*/ 2587534 h 2866504"/>
                <a:gd name="connsiteX12" fmla="*/ 879621 w 12183989"/>
                <a:gd name="connsiteY12" fmla="*/ 2041210 h 2866504"/>
                <a:gd name="connsiteX13" fmla="*/ 334840 w 12183989"/>
                <a:gd name="connsiteY13" fmla="*/ 1634684 h 2866504"/>
                <a:gd name="connsiteX14" fmla="*/ 22063 w 12183989"/>
                <a:gd name="connsiteY14" fmla="*/ 1505125 h 2866504"/>
                <a:gd name="connsiteX15" fmla="*/ 12366 w 12183989"/>
                <a:gd name="connsiteY15" fmla="*/ 1540339 h 2866504"/>
                <a:gd name="connsiteX16" fmla="*/ 655825 w 12183989"/>
                <a:gd name="connsiteY16" fmla="*/ 1878686 h 2866504"/>
                <a:gd name="connsiteX17" fmla="*/ 1138115 w 12183989"/>
                <a:gd name="connsiteY17" fmla="*/ 2445732 h 2866504"/>
                <a:gd name="connsiteX18" fmla="*/ 1533806 w 12183989"/>
                <a:gd name="connsiteY18" fmla="*/ 2830616 h 2866504"/>
                <a:gd name="connsiteX19" fmla="*/ 1892794 w 12183989"/>
                <a:gd name="connsiteY19" fmla="*/ 2822273 h 2866504"/>
                <a:gd name="connsiteX20" fmla="*/ 2290436 w 12183989"/>
                <a:gd name="connsiteY20" fmla="*/ 2562451 h 2866504"/>
                <a:gd name="connsiteX21" fmla="*/ 2748889 w 12183989"/>
                <a:gd name="connsiteY21" fmla="*/ 2152756 h 2866504"/>
                <a:gd name="connsiteX22" fmla="*/ 3775498 w 12183989"/>
                <a:gd name="connsiteY22" fmla="*/ 1271606 h 2866504"/>
                <a:gd name="connsiteX23" fmla="*/ 4508996 w 12183989"/>
                <a:gd name="connsiteY23" fmla="*/ 989058 h 2866504"/>
                <a:gd name="connsiteX24" fmla="*/ 5187045 w 12183989"/>
                <a:gd name="connsiteY24" fmla="*/ 1215697 h 2866504"/>
                <a:gd name="connsiteX25" fmla="*/ 6254448 w 12183989"/>
                <a:gd name="connsiteY25" fmla="*/ 2073796 h 2866504"/>
                <a:gd name="connsiteX26" fmla="*/ 6816510 w 12183989"/>
                <a:gd name="connsiteY26" fmla="*/ 2347541 h 2866504"/>
                <a:gd name="connsiteX27" fmla="*/ 7523489 w 12183989"/>
                <a:gd name="connsiteY27" fmla="*/ 2421624 h 2866504"/>
                <a:gd name="connsiteX28" fmla="*/ 8954538 w 12183989"/>
                <a:gd name="connsiteY28" fmla="*/ 2045571 h 2866504"/>
                <a:gd name="connsiteX29" fmla="*/ 10411836 w 12183989"/>
                <a:gd name="connsiteY29" fmla="*/ 1165559 h 2866504"/>
                <a:gd name="connsiteX30" fmla="*/ 11811465 w 12183989"/>
                <a:gd name="connsiteY30" fmla="*/ 246811 h 2866504"/>
                <a:gd name="connsiteX31" fmla="*/ 12174976 w 12183989"/>
                <a:gd name="connsiteY31" fmla="*/ 33363 h 2866504"/>
                <a:gd name="connsiteX32" fmla="*/ 12156529 w 12183989"/>
                <a:gd name="connsiteY32" fmla="*/ 1806 h 286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3989" h="2866504">
                  <a:moveTo>
                    <a:pt x="12156340" y="1860"/>
                  </a:moveTo>
                  <a:cubicBezTo>
                    <a:pt x="11176430" y="556256"/>
                    <a:pt x="10285501" y="1251534"/>
                    <a:pt x="9310574" y="1814354"/>
                  </a:cubicBezTo>
                  <a:cubicBezTo>
                    <a:pt x="8868103" y="2069814"/>
                    <a:pt x="8396107" y="2261701"/>
                    <a:pt x="7890007" y="2344155"/>
                  </a:cubicBezTo>
                  <a:cubicBezTo>
                    <a:pt x="7625256" y="2387278"/>
                    <a:pt x="7350130" y="2410329"/>
                    <a:pt x="7083537" y="2370456"/>
                  </a:cubicBezTo>
                  <a:cubicBezTo>
                    <a:pt x="6861177" y="2337193"/>
                    <a:pt x="6648162" y="2260834"/>
                    <a:pt x="6451779" y="2151970"/>
                  </a:cubicBezTo>
                  <a:cubicBezTo>
                    <a:pt x="6060774" y="1935272"/>
                    <a:pt x="5753794" y="1607298"/>
                    <a:pt x="5406696" y="1331577"/>
                  </a:cubicBezTo>
                  <a:cubicBezTo>
                    <a:pt x="5229437" y="1190723"/>
                    <a:pt x="5036711" y="1061245"/>
                    <a:pt x="4817601" y="996371"/>
                  </a:cubicBezTo>
                  <a:cubicBezTo>
                    <a:pt x="4595485" y="930549"/>
                    <a:pt x="4365758" y="942197"/>
                    <a:pt x="4150278" y="1026546"/>
                  </a:cubicBezTo>
                  <a:cubicBezTo>
                    <a:pt x="3728204" y="1191779"/>
                    <a:pt x="3372710" y="1522786"/>
                    <a:pt x="3044493" y="1825866"/>
                  </a:cubicBezTo>
                  <a:cubicBezTo>
                    <a:pt x="2740601" y="2106491"/>
                    <a:pt x="2450522" y="2414473"/>
                    <a:pt x="2111254" y="2653465"/>
                  </a:cubicBezTo>
                  <a:cubicBezTo>
                    <a:pt x="2000846" y="2731260"/>
                    <a:pt x="1873644" y="2813280"/>
                    <a:pt x="1736392" y="2829776"/>
                  </a:cubicBezTo>
                  <a:cubicBezTo>
                    <a:pt x="1555557" y="2851446"/>
                    <a:pt x="1396717" y="2717445"/>
                    <a:pt x="1289018" y="2587534"/>
                  </a:cubicBezTo>
                  <a:cubicBezTo>
                    <a:pt x="1143559" y="2412035"/>
                    <a:pt x="1032745" y="2211020"/>
                    <a:pt x="879621" y="2041210"/>
                  </a:cubicBezTo>
                  <a:cubicBezTo>
                    <a:pt x="725900" y="1870560"/>
                    <a:pt x="541219" y="1734771"/>
                    <a:pt x="334840" y="1634684"/>
                  </a:cubicBezTo>
                  <a:cubicBezTo>
                    <a:pt x="233209" y="1585412"/>
                    <a:pt x="128083" y="1543941"/>
                    <a:pt x="22063" y="1505125"/>
                  </a:cubicBezTo>
                  <a:cubicBezTo>
                    <a:pt x="-67" y="1496999"/>
                    <a:pt x="-9602" y="1532212"/>
                    <a:pt x="12366" y="1540339"/>
                  </a:cubicBezTo>
                  <a:cubicBezTo>
                    <a:pt x="241335" y="1624174"/>
                    <a:pt x="464941" y="1724262"/>
                    <a:pt x="655825" y="1878686"/>
                  </a:cubicBezTo>
                  <a:cubicBezTo>
                    <a:pt x="852371" y="2037689"/>
                    <a:pt x="994660" y="2240356"/>
                    <a:pt x="1138115" y="2445732"/>
                  </a:cubicBezTo>
                  <a:cubicBezTo>
                    <a:pt x="1243512" y="2596581"/>
                    <a:pt x="1359229" y="2755855"/>
                    <a:pt x="1533806" y="2830616"/>
                  </a:cubicBezTo>
                  <a:cubicBezTo>
                    <a:pt x="1656376" y="2883111"/>
                    <a:pt x="1771823" y="2873955"/>
                    <a:pt x="1892794" y="2822273"/>
                  </a:cubicBezTo>
                  <a:cubicBezTo>
                    <a:pt x="2038633" y="2760162"/>
                    <a:pt x="2168137" y="2661753"/>
                    <a:pt x="2290436" y="2562451"/>
                  </a:cubicBezTo>
                  <a:cubicBezTo>
                    <a:pt x="2449547" y="2433218"/>
                    <a:pt x="2599502" y="2292960"/>
                    <a:pt x="2748889" y="2152756"/>
                  </a:cubicBezTo>
                  <a:cubicBezTo>
                    <a:pt x="3076889" y="1844935"/>
                    <a:pt x="3400827" y="1523436"/>
                    <a:pt x="3775498" y="1271606"/>
                  </a:cubicBezTo>
                  <a:cubicBezTo>
                    <a:pt x="3993145" y="1125334"/>
                    <a:pt x="4240262" y="991441"/>
                    <a:pt x="4508996" y="989058"/>
                  </a:cubicBezTo>
                  <a:cubicBezTo>
                    <a:pt x="4755490" y="986864"/>
                    <a:pt x="4983999" y="1081750"/>
                    <a:pt x="5187045" y="1215697"/>
                  </a:cubicBezTo>
                  <a:cubicBezTo>
                    <a:pt x="5568977" y="1467609"/>
                    <a:pt x="5874007" y="1818796"/>
                    <a:pt x="6254448" y="2073796"/>
                  </a:cubicBezTo>
                  <a:cubicBezTo>
                    <a:pt x="6428213" y="2190272"/>
                    <a:pt x="6615982" y="2286513"/>
                    <a:pt x="6816510" y="2347541"/>
                  </a:cubicBezTo>
                  <a:cubicBezTo>
                    <a:pt x="7046075" y="2417426"/>
                    <a:pt x="7284633" y="2436604"/>
                    <a:pt x="7523489" y="2421624"/>
                  </a:cubicBezTo>
                  <a:cubicBezTo>
                    <a:pt x="8019349" y="2390528"/>
                    <a:pt x="8506758" y="2260211"/>
                    <a:pt x="8954538" y="2045571"/>
                  </a:cubicBezTo>
                  <a:cubicBezTo>
                    <a:pt x="9464701" y="1801081"/>
                    <a:pt x="9942034" y="1478877"/>
                    <a:pt x="10411836" y="1165559"/>
                  </a:cubicBezTo>
                  <a:cubicBezTo>
                    <a:pt x="10876113" y="855842"/>
                    <a:pt x="11334592" y="537133"/>
                    <a:pt x="11811465" y="246811"/>
                  </a:cubicBezTo>
                  <a:cubicBezTo>
                    <a:pt x="11931489" y="173729"/>
                    <a:pt x="12052677" y="102579"/>
                    <a:pt x="12174976" y="33363"/>
                  </a:cubicBezTo>
                  <a:cubicBezTo>
                    <a:pt x="12195454" y="21770"/>
                    <a:pt x="12177035" y="-9814"/>
                    <a:pt x="12156529" y="1806"/>
                  </a:cubicBezTo>
                  <a:close/>
                </a:path>
              </a:pathLst>
            </a:custGeom>
            <a:grpFill/>
            <a:ln w="2709" cap="flat">
              <a:noFill/>
              <a:prstDash val="solid"/>
              <a:miter/>
            </a:ln>
          </p:spPr>
          <p:txBody>
            <a:bodyPr rtlCol="0" anchor="ctr"/>
            <a:lstStyle/>
            <a:p>
              <a:endParaRPr lang="en-IN"/>
            </a:p>
          </p:txBody>
        </p:sp>
        <p:sp>
          <p:nvSpPr>
            <p:cNvPr id="2026" name="Freeform: Shape 2025">
              <a:extLst>
                <a:ext uri="{FF2B5EF4-FFF2-40B4-BE49-F238E27FC236}">
                  <a16:creationId xmlns:a16="http://schemas.microsoft.com/office/drawing/2014/main" id="{D61860BA-6DC7-5432-BFB3-6DE08FF59A3E}"/>
                </a:ext>
              </a:extLst>
            </p:cNvPr>
            <p:cNvSpPr/>
            <p:nvPr/>
          </p:nvSpPr>
          <p:spPr>
            <a:xfrm>
              <a:off x="4535" y="1998449"/>
              <a:ext cx="12184400" cy="3118675"/>
            </a:xfrm>
            <a:custGeom>
              <a:avLst/>
              <a:gdLst>
                <a:gd name="connsiteX0" fmla="*/ 12155715 w 12184400"/>
                <a:gd name="connsiteY0" fmla="*/ 2383 h 3118675"/>
                <a:gd name="connsiteX1" fmla="*/ 9382677 w 12184400"/>
                <a:gd name="connsiteY1" fmla="*/ 2053245 h 3118675"/>
                <a:gd name="connsiteX2" fmla="*/ 8646742 w 12184400"/>
                <a:gd name="connsiteY2" fmla="*/ 2478516 h 3118675"/>
                <a:gd name="connsiteX3" fmla="*/ 7964142 w 12184400"/>
                <a:gd name="connsiteY3" fmla="*/ 2686872 h 3118675"/>
                <a:gd name="connsiteX4" fmla="*/ 7137654 w 12184400"/>
                <a:gd name="connsiteY4" fmla="*/ 2727178 h 3118675"/>
                <a:gd name="connsiteX5" fmla="*/ 6463776 w 12184400"/>
                <a:gd name="connsiteY5" fmla="*/ 2498913 h 3118675"/>
                <a:gd name="connsiteX6" fmla="*/ 5440065 w 12184400"/>
                <a:gd name="connsiteY6" fmla="*/ 1624155 h 3118675"/>
                <a:gd name="connsiteX7" fmla="*/ 4214310 w 12184400"/>
                <a:gd name="connsiteY7" fmla="*/ 1060468 h 3118675"/>
                <a:gd name="connsiteX8" fmla="*/ 3534933 w 12184400"/>
                <a:gd name="connsiteY8" fmla="*/ 1404992 h 3118675"/>
                <a:gd name="connsiteX9" fmla="*/ 3036824 w 12184400"/>
                <a:gd name="connsiteY9" fmla="*/ 1839770 h 3118675"/>
                <a:gd name="connsiteX10" fmla="*/ 2106917 w 12184400"/>
                <a:gd name="connsiteY10" fmla="*/ 2759167 h 3118675"/>
                <a:gd name="connsiteX11" fmla="*/ 1720516 w 12184400"/>
                <a:gd name="connsiteY11" fmla="*/ 3036054 h 3118675"/>
                <a:gd name="connsiteX12" fmla="*/ 1297954 w 12184400"/>
                <a:gd name="connsiteY12" fmla="*/ 2976164 h 3118675"/>
                <a:gd name="connsiteX13" fmla="*/ 866832 w 12184400"/>
                <a:gd name="connsiteY13" fmla="*/ 2411475 h 3118675"/>
                <a:gd name="connsiteX14" fmla="*/ 362575 w 12184400"/>
                <a:gd name="connsiteY14" fmla="*/ 1922142 h 3118675"/>
                <a:gd name="connsiteX15" fmla="*/ 29401 w 12184400"/>
                <a:gd name="connsiteY15" fmla="*/ 1739466 h 3118675"/>
                <a:gd name="connsiteX16" fmla="*/ 9925 w 12184400"/>
                <a:gd name="connsiteY16" fmla="*/ 1772810 h 3118675"/>
                <a:gd name="connsiteX17" fmla="*/ 640464 w 12184400"/>
                <a:gd name="connsiteY17" fmla="*/ 2202930 h 3118675"/>
                <a:gd name="connsiteX18" fmla="*/ 1103819 w 12184400"/>
                <a:gd name="connsiteY18" fmla="*/ 2822308 h 3118675"/>
                <a:gd name="connsiteX19" fmla="*/ 1533722 w 12184400"/>
                <a:gd name="connsiteY19" fmla="*/ 3117235 h 3118675"/>
                <a:gd name="connsiteX20" fmla="*/ 1860043 w 12184400"/>
                <a:gd name="connsiteY20" fmla="*/ 3001789 h 3118675"/>
                <a:gd name="connsiteX21" fmla="*/ 2260800 w 12184400"/>
                <a:gd name="connsiteY21" fmla="*/ 2669752 h 3118675"/>
                <a:gd name="connsiteX22" fmla="*/ 2729085 w 12184400"/>
                <a:gd name="connsiteY22" fmla="*/ 2200979 h 3118675"/>
                <a:gd name="connsiteX23" fmla="*/ 3777960 w 12184400"/>
                <a:gd name="connsiteY23" fmla="*/ 1284074 h 3118675"/>
                <a:gd name="connsiteX24" fmla="*/ 4564738 w 12184400"/>
                <a:gd name="connsiteY24" fmla="*/ 1105866 h 3118675"/>
                <a:gd name="connsiteX25" fmla="*/ 5218491 w 12184400"/>
                <a:gd name="connsiteY25" fmla="*/ 1473035 h 3118675"/>
                <a:gd name="connsiteX26" fmla="*/ 6244342 w 12184400"/>
                <a:gd name="connsiteY26" fmla="*/ 2404432 h 3118675"/>
                <a:gd name="connsiteX27" fmla="*/ 6828561 w 12184400"/>
                <a:gd name="connsiteY27" fmla="*/ 2699982 h 3118675"/>
                <a:gd name="connsiteX28" fmla="*/ 7572622 w 12184400"/>
                <a:gd name="connsiteY28" fmla="*/ 2772630 h 3118675"/>
                <a:gd name="connsiteX29" fmla="*/ 9021983 w 12184400"/>
                <a:gd name="connsiteY29" fmla="*/ 2329590 h 3118675"/>
                <a:gd name="connsiteX30" fmla="*/ 10423047 w 12184400"/>
                <a:gd name="connsiteY30" fmla="*/ 1327982 h 3118675"/>
                <a:gd name="connsiteX31" fmla="*/ 11817664 w 12184400"/>
                <a:gd name="connsiteY31" fmla="*/ 267974 h 3118675"/>
                <a:gd name="connsiteX32" fmla="*/ 12175217 w 12184400"/>
                <a:gd name="connsiteY32" fmla="*/ 35619 h 3118675"/>
                <a:gd name="connsiteX33" fmla="*/ 12155741 w 12184400"/>
                <a:gd name="connsiteY33" fmla="*/ 2275 h 311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4400" h="3118675">
                  <a:moveTo>
                    <a:pt x="12155715" y="2383"/>
                  </a:moveTo>
                  <a:cubicBezTo>
                    <a:pt x="11175912" y="609139"/>
                    <a:pt x="10333659" y="1405506"/>
                    <a:pt x="9382677" y="2053245"/>
                  </a:cubicBezTo>
                  <a:cubicBezTo>
                    <a:pt x="9148237" y="2213060"/>
                    <a:pt x="8907322" y="2364749"/>
                    <a:pt x="8646742" y="2478516"/>
                  </a:cubicBezTo>
                  <a:cubicBezTo>
                    <a:pt x="8427985" y="2574053"/>
                    <a:pt x="8198935" y="2643965"/>
                    <a:pt x="7964142" y="2686872"/>
                  </a:cubicBezTo>
                  <a:cubicBezTo>
                    <a:pt x="7695003" y="2735981"/>
                    <a:pt x="7410125" y="2760982"/>
                    <a:pt x="7137654" y="2727178"/>
                  </a:cubicBezTo>
                  <a:cubicBezTo>
                    <a:pt x="6899990" y="2697679"/>
                    <a:pt x="6671563" y="2617176"/>
                    <a:pt x="6463776" y="2498913"/>
                  </a:cubicBezTo>
                  <a:cubicBezTo>
                    <a:pt x="6069547" y="2274521"/>
                    <a:pt x="5763461" y="1935090"/>
                    <a:pt x="5440065" y="1624155"/>
                  </a:cubicBezTo>
                  <a:cubicBezTo>
                    <a:pt x="5112498" y="1309211"/>
                    <a:pt x="4702451" y="970863"/>
                    <a:pt x="4214310" y="1060468"/>
                  </a:cubicBezTo>
                  <a:cubicBezTo>
                    <a:pt x="3962398" y="1106679"/>
                    <a:pt x="3735731" y="1252788"/>
                    <a:pt x="3534933" y="1404992"/>
                  </a:cubicBezTo>
                  <a:cubicBezTo>
                    <a:pt x="3359218" y="1538288"/>
                    <a:pt x="3195529" y="1686700"/>
                    <a:pt x="3036824" y="1839770"/>
                  </a:cubicBezTo>
                  <a:cubicBezTo>
                    <a:pt x="2723126" y="2142092"/>
                    <a:pt x="2432642" y="2469496"/>
                    <a:pt x="2106917" y="2759167"/>
                  </a:cubicBezTo>
                  <a:cubicBezTo>
                    <a:pt x="1989547" y="2863562"/>
                    <a:pt x="1864323" y="2969744"/>
                    <a:pt x="1720516" y="3036054"/>
                  </a:cubicBezTo>
                  <a:cubicBezTo>
                    <a:pt x="1571536" y="3104747"/>
                    <a:pt x="1427513" y="3079691"/>
                    <a:pt x="1297954" y="2976164"/>
                  </a:cubicBezTo>
                  <a:cubicBezTo>
                    <a:pt x="1113760" y="2828972"/>
                    <a:pt x="1004869" y="2598269"/>
                    <a:pt x="866832" y="2411475"/>
                  </a:cubicBezTo>
                  <a:cubicBezTo>
                    <a:pt x="726385" y="2221457"/>
                    <a:pt x="559446" y="2053678"/>
                    <a:pt x="362575" y="1922142"/>
                  </a:cubicBezTo>
                  <a:cubicBezTo>
                    <a:pt x="256934" y="1851715"/>
                    <a:pt x="144901" y="1792123"/>
                    <a:pt x="29401" y="1739466"/>
                  </a:cubicBezTo>
                  <a:cubicBezTo>
                    <a:pt x="6973" y="1729254"/>
                    <a:pt x="-12666" y="1762490"/>
                    <a:pt x="9925" y="1772810"/>
                  </a:cubicBezTo>
                  <a:cubicBezTo>
                    <a:pt x="244068" y="1879588"/>
                    <a:pt x="460062" y="2018167"/>
                    <a:pt x="640464" y="2202930"/>
                  </a:cubicBezTo>
                  <a:cubicBezTo>
                    <a:pt x="822843" y="2389832"/>
                    <a:pt x="948555" y="2614819"/>
                    <a:pt x="1103819" y="2822308"/>
                  </a:cubicBezTo>
                  <a:cubicBezTo>
                    <a:pt x="1207916" y="2961429"/>
                    <a:pt x="1349230" y="3104531"/>
                    <a:pt x="1533722" y="3117235"/>
                  </a:cubicBezTo>
                  <a:cubicBezTo>
                    <a:pt x="1650631" y="3125361"/>
                    <a:pt x="1765291" y="3063385"/>
                    <a:pt x="1860043" y="3001789"/>
                  </a:cubicBezTo>
                  <a:cubicBezTo>
                    <a:pt x="2005502" y="2907254"/>
                    <a:pt x="2135413" y="2788909"/>
                    <a:pt x="2260800" y="2669752"/>
                  </a:cubicBezTo>
                  <a:cubicBezTo>
                    <a:pt x="2420913" y="2517603"/>
                    <a:pt x="2574308" y="2358519"/>
                    <a:pt x="2729085" y="2200979"/>
                  </a:cubicBezTo>
                  <a:cubicBezTo>
                    <a:pt x="3052535" y="1871760"/>
                    <a:pt x="3382485" y="1527670"/>
                    <a:pt x="3777960" y="1284074"/>
                  </a:cubicBezTo>
                  <a:cubicBezTo>
                    <a:pt x="4017981" y="1136258"/>
                    <a:pt x="4282191" y="1045326"/>
                    <a:pt x="4564738" y="1105866"/>
                  </a:cubicBezTo>
                  <a:cubicBezTo>
                    <a:pt x="4813942" y="1159282"/>
                    <a:pt x="5028663" y="1309021"/>
                    <a:pt x="5218491" y="1473035"/>
                  </a:cubicBezTo>
                  <a:cubicBezTo>
                    <a:pt x="5568351" y="1775329"/>
                    <a:pt x="5865146" y="2135834"/>
                    <a:pt x="6244342" y="2404432"/>
                  </a:cubicBezTo>
                  <a:cubicBezTo>
                    <a:pt x="6423281" y="2531173"/>
                    <a:pt x="6618634" y="2635081"/>
                    <a:pt x="6828561" y="2699982"/>
                  </a:cubicBezTo>
                  <a:cubicBezTo>
                    <a:pt x="7070911" y="2774878"/>
                    <a:pt x="7320737" y="2788503"/>
                    <a:pt x="7572622" y="2772630"/>
                  </a:cubicBezTo>
                  <a:cubicBezTo>
                    <a:pt x="8086848" y="2740125"/>
                    <a:pt x="8577128" y="2588924"/>
                    <a:pt x="9021983" y="2329590"/>
                  </a:cubicBezTo>
                  <a:cubicBezTo>
                    <a:pt x="9517247" y="2040893"/>
                    <a:pt x="9973696" y="1682203"/>
                    <a:pt x="10423047" y="1327982"/>
                  </a:cubicBezTo>
                  <a:cubicBezTo>
                    <a:pt x="10881582" y="966448"/>
                    <a:pt x="11334752" y="597031"/>
                    <a:pt x="11817664" y="267974"/>
                  </a:cubicBezTo>
                  <a:cubicBezTo>
                    <a:pt x="11935142" y="187939"/>
                    <a:pt x="12054326" y="110489"/>
                    <a:pt x="12175217" y="35619"/>
                  </a:cubicBezTo>
                  <a:cubicBezTo>
                    <a:pt x="12196291" y="22563"/>
                    <a:pt x="12176951" y="-10835"/>
                    <a:pt x="12155741" y="2275"/>
                  </a:cubicBezTo>
                  <a:close/>
                </a:path>
              </a:pathLst>
            </a:custGeom>
            <a:grpFill/>
            <a:ln w="2709" cap="flat">
              <a:noFill/>
              <a:prstDash val="solid"/>
              <a:miter/>
            </a:ln>
          </p:spPr>
          <p:txBody>
            <a:bodyPr rtlCol="0" anchor="ctr"/>
            <a:lstStyle/>
            <a:p>
              <a:endParaRPr lang="en-IN"/>
            </a:p>
          </p:txBody>
        </p:sp>
        <p:sp>
          <p:nvSpPr>
            <p:cNvPr id="2027" name="Freeform: Shape 2026">
              <a:extLst>
                <a:ext uri="{FF2B5EF4-FFF2-40B4-BE49-F238E27FC236}">
                  <a16:creationId xmlns:a16="http://schemas.microsoft.com/office/drawing/2014/main" id="{CC11422E-8041-4A9B-1E42-F510F3A990E6}"/>
                </a:ext>
              </a:extLst>
            </p:cNvPr>
            <p:cNvSpPr/>
            <p:nvPr/>
          </p:nvSpPr>
          <p:spPr>
            <a:xfrm>
              <a:off x="5455" y="1824775"/>
              <a:ext cx="12183121" cy="3368673"/>
            </a:xfrm>
            <a:custGeom>
              <a:avLst/>
              <a:gdLst>
                <a:gd name="connsiteX0" fmla="*/ 12153088 w 12183121"/>
                <a:gd name="connsiteY0" fmla="*/ 2699 h 3368673"/>
                <a:gd name="connsiteX1" fmla="*/ 10431553 w 12183121"/>
                <a:gd name="connsiteY1" fmla="*/ 1423645 h 3368673"/>
                <a:gd name="connsiteX2" fmla="*/ 9576894 w 12183121"/>
                <a:gd name="connsiteY2" fmla="*/ 2168817 h 3368673"/>
                <a:gd name="connsiteX3" fmla="*/ 8847379 w 12183121"/>
                <a:gd name="connsiteY3" fmla="*/ 2700893 h 3368673"/>
                <a:gd name="connsiteX4" fmla="*/ 8053369 w 12183121"/>
                <a:gd name="connsiteY4" fmla="*/ 3024478 h 3368673"/>
                <a:gd name="connsiteX5" fmla="*/ 7097322 w 12183121"/>
                <a:gd name="connsiteY5" fmla="*/ 3074752 h 3368673"/>
                <a:gd name="connsiteX6" fmla="*/ 5898844 w 12183121"/>
                <a:gd name="connsiteY6" fmla="*/ 2406752 h 3368673"/>
                <a:gd name="connsiteX7" fmla="*/ 4998326 w 12183121"/>
                <a:gd name="connsiteY7" fmla="*/ 1477657 h 3368673"/>
                <a:gd name="connsiteX8" fmla="*/ 4026758 w 12183121"/>
                <a:gd name="connsiteY8" fmla="*/ 1163634 h 3368673"/>
                <a:gd name="connsiteX9" fmla="*/ 3511016 w 12183121"/>
                <a:gd name="connsiteY9" fmla="*/ 1423429 h 3368673"/>
                <a:gd name="connsiteX10" fmla="*/ 2989531 w 12183121"/>
                <a:gd name="connsiteY10" fmla="*/ 1878902 h 3368673"/>
                <a:gd name="connsiteX11" fmla="*/ 2016175 w 12183121"/>
                <a:gd name="connsiteY11" fmla="*/ 2917185 h 3368673"/>
                <a:gd name="connsiteX12" fmla="*/ 1615473 w 12183121"/>
                <a:gd name="connsiteY12" fmla="*/ 3255885 h 3368673"/>
                <a:gd name="connsiteX13" fmla="*/ 1240151 w 12183121"/>
                <a:gd name="connsiteY13" fmla="*/ 3277907 h 3368673"/>
                <a:gd name="connsiteX14" fmla="*/ 868052 w 12183121"/>
                <a:gd name="connsiteY14" fmla="*/ 2834488 h 3368673"/>
                <a:gd name="connsiteX15" fmla="*/ 396435 w 12183121"/>
                <a:gd name="connsiteY15" fmla="*/ 2231253 h 3368673"/>
                <a:gd name="connsiteX16" fmla="*/ 30404 w 12183121"/>
                <a:gd name="connsiteY16" fmla="*/ 1971947 h 3368673"/>
                <a:gd name="connsiteX17" fmla="*/ 9899 w 12183121"/>
                <a:gd name="connsiteY17" fmla="*/ 2007160 h 3368673"/>
                <a:gd name="connsiteX18" fmla="*/ 670830 w 12183121"/>
                <a:gd name="connsiteY18" fmla="*/ 2607578 h 3368673"/>
                <a:gd name="connsiteX19" fmla="*/ 1039732 w 12183121"/>
                <a:gd name="connsiteY19" fmla="*/ 3157206 h 3368673"/>
                <a:gd name="connsiteX20" fmla="*/ 1433608 w 12183121"/>
                <a:gd name="connsiteY20" fmla="*/ 3366781 h 3368673"/>
                <a:gd name="connsiteX21" fmla="*/ 1775938 w 12183121"/>
                <a:gd name="connsiteY21" fmla="*/ 3192203 h 3368673"/>
                <a:gd name="connsiteX22" fmla="*/ 2208116 w 12183121"/>
                <a:gd name="connsiteY22" fmla="*/ 2776521 h 3368673"/>
                <a:gd name="connsiteX23" fmla="*/ 2694333 w 12183121"/>
                <a:gd name="connsiteY23" fmla="*/ 2246206 h 3368673"/>
                <a:gd name="connsiteX24" fmla="*/ 3752093 w 12183121"/>
                <a:gd name="connsiteY24" fmla="*/ 1317842 h 3368673"/>
                <a:gd name="connsiteX25" fmla="*/ 4279131 w 12183121"/>
                <a:gd name="connsiteY25" fmla="*/ 1182649 h 3368673"/>
                <a:gd name="connsiteX26" fmla="*/ 4790837 w 12183121"/>
                <a:gd name="connsiteY26" fmla="*/ 1370365 h 3368673"/>
                <a:gd name="connsiteX27" fmla="*/ 5697640 w 12183121"/>
                <a:gd name="connsiteY27" fmla="*/ 2259858 h 3368673"/>
                <a:gd name="connsiteX28" fmla="*/ 6792617 w 12183121"/>
                <a:gd name="connsiteY28" fmla="*/ 3043385 h 3368673"/>
                <a:gd name="connsiteX29" fmla="*/ 7601498 w 12183121"/>
                <a:gd name="connsiteY29" fmla="*/ 3127600 h 3368673"/>
                <a:gd name="connsiteX30" fmla="*/ 8493700 w 12183121"/>
                <a:gd name="connsiteY30" fmla="*/ 2927479 h 3368673"/>
                <a:gd name="connsiteX31" fmla="*/ 9191876 w 12183121"/>
                <a:gd name="connsiteY31" fmla="*/ 2518270 h 3368673"/>
                <a:gd name="connsiteX32" fmla="*/ 10003249 w 12183121"/>
                <a:gd name="connsiteY32" fmla="*/ 1861593 h 3368673"/>
                <a:gd name="connsiteX33" fmla="*/ 11714815 w 12183121"/>
                <a:gd name="connsiteY33" fmla="*/ 368080 h 3368673"/>
                <a:gd name="connsiteX34" fmla="*/ 12173782 w 12183121"/>
                <a:gd name="connsiteY34" fmla="*/ 37912 h 3368673"/>
                <a:gd name="connsiteX35" fmla="*/ 12153278 w 12183121"/>
                <a:gd name="connsiteY35" fmla="*/ 2699 h 336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3121" h="3368673">
                  <a:moveTo>
                    <a:pt x="12153088" y="2699"/>
                  </a:moveTo>
                  <a:cubicBezTo>
                    <a:pt x="11532544" y="417595"/>
                    <a:pt x="10982916" y="923180"/>
                    <a:pt x="10431553" y="1423645"/>
                  </a:cubicBezTo>
                  <a:cubicBezTo>
                    <a:pt x="10151714" y="1677724"/>
                    <a:pt x="9870250" y="1930313"/>
                    <a:pt x="9576894" y="2168817"/>
                  </a:cubicBezTo>
                  <a:cubicBezTo>
                    <a:pt x="9343944" y="2358429"/>
                    <a:pt x="9104844" y="2545331"/>
                    <a:pt x="8847379" y="2700893"/>
                  </a:cubicBezTo>
                  <a:cubicBezTo>
                    <a:pt x="8600885" y="2849873"/>
                    <a:pt x="8334941" y="2961879"/>
                    <a:pt x="8053369" y="3024478"/>
                  </a:cubicBezTo>
                  <a:cubicBezTo>
                    <a:pt x="7746145" y="3092766"/>
                    <a:pt x="7409991" y="3121397"/>
                    <a:pt x="7097322" y="3074752"/>
                  </a:cubicBezTo>
                  <a:cubicBezTo>
                    <a:pt x="6626003" y="3004325"/>
                    <a:pt x="6233400" y="2732667"/>
                    <a:pt x="5898844" y="2406752"/>
                  </a:cubicBezTo>
                  <a:cubicBezTo>
                    <a:pt x="5590049" y="2106083"/>
                    <a:pt x="5327302" y="1757361"/>
                    <a:pt x="4998326" y="1477657"/>
                  </a:cubicBezTo>
                  <a:cubicBezTo>
                    <a:pt x="4729566" y="1249040"/>
                    <a:pt x="4387453" y="1075763"/>
                    <a:pt x="4026758" y="1163634"/>
                  </a:cubicBezTo>
                  <a:cubicBezTo>
                    <a:pt x="3838610" y="1209466"/>
                    <a:pt x="3666497" y="1311016"/>
                    <a:pt x="3511016" y="1423429"/>
                  </a:cubicBezTo>
                  <a:cubicBezTo>
                    <a:pt x="3323707" y="1558865"/>
                    <a:pt x="3152976" y="1715971"/>
                    <a:pt x="2989531" y="1878902"/>
                  </a:cubicBezTo>
                  <a:cubicBezTo>
                    <a:pt x="2653296" y="2213945"/>
                    <a:pt x="2350785" y="2580734"/>
                    <a:pt x="2016175" y="2917185"/>
                  </a:cubicBezTo>
                  <a:cubicBezTo>
                    <a:pt x="1893687" y="3040243"/>
                    <a:pt x="1765265" y="3166118"/>
                    <a:pt x="1615473" y="3255885"/>
                  </a:cubicBezTo>
                  <a:cubicBezTo>
                    <a:pt x="1491684" y="3330105"/>
                    <a:pt x="1371687" y="3350366"/>
                    <a:pt x="1240151" y="3277907"/>
                  </a:cubicBezTo>
                  <a:cubicBezTo>
                    <a:pt x="1069717" y="3184104"/>
                    <a:pt x="967707" y="2993490"/>
                    <a:pt x="868052" y="2834488"/>
                  </a:cubicBezTo>
                  <a:cubicBezTo>
                    <a:pt x="731830" y="2617058"/>
                    <a:pt x="587428" y="2404964"/>
                    <a:pt x="396435" y="2231253"/>
                  </a:cubicBezTo>
                  <a:cubicBezTo>
                    <a:pt x="285377" y="2130164"/>
                    <a:pt x="162103" y="2044026"/>
                    <a:pt x="30404" y="1971947"/>
                  </a:cubicBezTo>
                  <a:cubicBezTo>
                    <a:pt x="7461" y="1959405"/>
                    <a:pt x="-12935" y="1994483"/>
                    <a:pt x="9899" y="2007160"/>
                  </a:cubicBezTo>
                  <a:cubicBezTo>
                    <a:pt x="277088" y="2153432"/>
                    <a:pt x="495196" y="2359945"/>
                    <a:pt x="670830" y="2607578"/>
                  </a:cubicBezTo>
                  <a:cubicBezTo>
                    <a:pt x="798140" y="2787166"/>
                    <a:pt x="898363" y="2987910"/>
                    <a:pt x="1039732" y="3157206"/>
                  </a:cubicBezTo>
                  <a:cubicBezTo>
                    <a:pt x="1134402" y="3270512"/>
                    <a:pt x="1276719" y="3380568"/>
                    <a:pt x="1433608" y="3366781"/>
                  </a:cubicBezTo>
                  <a:cubicBezTo>
                    <a:pt x="1562057" y="3355512"/>
                    <a:pt x="1678532" y="3269700"/>
                    <a:pt x="1775938" y="3192203"/>
                  </a:cubicBezTo>
                  <a:cubicBezTo>
                    <a:pt x="1932340" y="3067791"/>
                    <a:pt x="2071650" y="2922007"/>
                    <a:pt x="2208116" y="2776521"/>
                  </a:cubicBezTo>
                  <a:cubicBezTo>
                    <a:pt x="2372184" y="2601591"/>
                    <a:pt x="2531511" y="2422300"/>
                    <a:pt x="2694333" y="2246206"/>
                  </a:cubicBezTo>
                  <a:cubicBezTo>
                    <a:pt x="3008709" y="1906151"/>
                    <a:pt x="3341124" y="1542531"/>
                    <a:pt x="3752093" y="1317842"/>
                  </a:cubicBezTo>
                  <a:cubicBezTo>
                    <a:pt x="3914996" y="1228779"/>
                    <a:pt x="4091714" y="1170135"/>
                    <a:pt x="4279131" y="1182649"/>
                  </a:cubicBezTo>
                  <a:cubicBezTo>
                    <a:pt x="4464381" y="1195028"/>
                    <a:pt x="4637496" y="1268516"/>
                    <a:pt x="4790837" y="1370365"/>
                  </a:cubicBezTo>
                  <a:cubicBezTo>
                    <a:pt x="5143785" y="1604778"/>
                    <a:pt x="5409105" y="1955315"/>
                    <a:pt x="5697640" y="2259858"/>
                  </a:cubicBezTo>
                  <a:cubicBezTo>
                    <a:pt x="6008222" y="2587614"/>
                    <a:pt x="6357053" y="2897547"/>
                    <a:pt x="6792617" y="3043385"/>
                  </a:cubicBezTo>
                  <a:cubicBezTo>
                    <a:pt x="7054850" y="3131202"/>
                    <a:pt x="7327185" y="3144638"/>
                    <a:pt x="7601498" y="3127600"/>
                  </a:cubicBezTo>
                  <a:cubicBezTo>
                    <a:pt x="7907747" y="3108639"/>
                    <a:pt x="8210151" y="3046067"/>
                    <a:pt x="8493700" y="2927479"/>
                  </a:cubicBezTo>
                  <a:cubicBezTo>
                    <a:pt x="8743905" y="2822867"/>
                    <a:pt x="8973497" y="2677950"/>
                    <a:pt x="9191876" y="2518270"/>
                  </a:cubicBezTo>
                  <a:cubicBezTo>
                    <a:pt x="9472825" y="2312840"/>
                    <a:pt x="9741288" y="2090562"/>
                    <a:pt x="10003249" y="1861593"/>
                  </a:cubicBezTo>
                  <a:cubicBezTo>
                    <a:pt x="10573274" y="1363186"/>
                    <a:pt x="11114316" y="830704"/>
                    <a:pt x="11714815" y="368080"/>
                  </a:cubicBezTo>
                  <a:cubicBezTo>
                    <a:pt x="11864147" y="253013"/>
                    <a:pt x="12017136" y="142957"/>
                    <a:pt x="12173782" y="37912"/>
                  </a:cubicBezTo>
                  <a:cubicBezTo>
                    <a:pt x="12195452" y="23448"/>
                    <a:pt x="12175110" y="-11766"/>
                    <a:pt x="12153278" y="2699"/>
                  </a:cubicBezTo>
                  <a:close/>
                </a:path>
              </a:pathLst>
            </a:custGeom>
            <a:grpFill/>
            <a:ln w="2709" cap="flat">
              <a:noFill/>
              <a:prstDash val="solid"/>
              <a:miter/>
            </a:ln>
          </p:spPr>
          <p:txBody>
            <a:bodyPr rtlCol="0" anchor="ctr"/>
            <a:lstStyle/>
            <a:p>
              <a:endParaRPr lang="en-IN"/>
            </a:p>
          </p:txBody>
        </p:sp>
      </p:grpSp>
      <p:pic>
        <p:nvPicPr>
          <p:cNvPr id="13" name="Graphic 12">
            <a:extLst>
              <a:ext uri="{FF2B5EF4-FFF2-40B4-BE49-F238E27FC236}">
                <a16:creationId xmlns:a16="http://schemas.microsoft.com/office/drawing/2014/main" id="{A7DAB211-43A8-7D73-9AE0-33E247D586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5" name="Graphic 14">
            <a:extLst>
              <a:ext uri="{FF2B5EF4-FFF2-40B4-BE49-F238E27FC236}">
                <a16:creationId xmlns:a16="http://schemas.microsoft.com/office/drawing/2014/main" id="{21B4C835-31EA-E8CE-A921-F3A29E9DDB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7" name="Graphic 16">
            <a:extLst>
              <a:ext uri="{FF2B5EF4-FFF2-40B4-BE49-F238E27FC236}">
                <a16:creationId xmlns:a16="http://schemas.microsoft.com/office/drawing/2014/main" id="{5132E84E-8494-F52A-7AB1-6FE55862BA22}"/>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0" y="1829"/>
            <a:ext cx="12192000" cy="6854342"/>
          </a:xfrm>
          <a:prstGeom prst="rect">
            <a:avLst/>
          </a:prstGeom>
        </p:spPr>
      </p:pic>
      <p:sp>
        <p:nvSpPr>
          <p:cNvPr id="2009" name="TextBox 2008">
            <a:extLst>
              <a:ext uri="{FF2B5EF4-FFF2-40B4-BE49-F238E27FC236}">
                <a16:creationId xmlns:a16="http://schemas.microsoft.com/office/drawing/2014/main" id="{C701FDD6-046D-859F-3964-32DEDB0A2CB2}"/>
              </a:ext>
            </a:extLst>
          </p:cNvPr>
          <p:cNvSpPr txBox="1"/>
          <p:nvPr/>
        </p:nvSpPr>
        <p:spPr>
          <a:xfrm>
            <a:off x="71157" y="186574"/>
            <a:ext cx="11900701" cy="923330"/>
          </a:xfrm>
          <a:prstGeom prst="rect">
            <a:avLst/>
          </a:prstGeom>
          <a:noFill/>
        </p:spPr>
        <p:txBody>
          <a:bodyPr wrap="square">
            <a:spAutoFit/>
          </a:bodyPr>
          <a:lstStyle/>
          <a:p>
            <a:r>
              <a:rPr lang="en-IN" sz="4800" b="1" spc="50" dirty="0">
                <a:ln w="0"/>
                <a:solidFill>
                  <a:schemeClr val="bg2"/>
                </a:solidFill>
                <a:effectLst>
                  <a:innerShdw blurRad="63500" dist="50800" dir="13500000">
                    <a:srgbClr val="000000">
                      <a:alpha val="50000"/>
                    </a:srgbClr>
                  </a:innerShdw>
                </a:effectLst>
              </a:rPr>
              <a:t>         </a:t>
            </a:r>
            <a:r>
              <a:rPr lang="en-IN" sz="5400" b="1" spc="50" dirty="0">
                <a:ln w="0"/>
                <a:solidFill>
                  <a:schemeClr val="bg2"/>
                </a:solidFill>
                <a:effectLst>
                  <a:innerShdw blurRad="63500" dist="50800" dir="13500000">
                    <a:srgbClr val="000000">
                      <a:alpha val="50000"/>
                    </a:srgbClr>
                  </a:innerShdw>
                </a:effectLst>
              </a:rPr>
              <a:t>SQL Project: RCB - IPL Strategy</a:t>
            </a:r>
          </a:p>
        </p:txBody>
      </p:sp>
      <p:sp>
        <p:nvSpPr>
          <p:cNvPr id="2028" name="Freeform: Shape 2027">
            <a:extLst>
              <a:ext uri="{FF2B5EF4-FFF2-40B4-BE49-F238E27FC236}">
                <a16:creationId xmlns:a16="http://schemas.microsoft.com/office/drawing/2014/main" id="{34266380-9443-3457-60B9-5A7A02D9E4CC}"/>
              </a:ext>
            </a:extLst>
          </p:cNvPr>
          <p:cNvSpPr/>
          <p:nvPr/>
        </p:nvSpPr>
        <p:spPr>
          <a:xfrm>
            <a:off x="542925" y="27354"/>
            <a:ext cx="11577918" cy="1407233"/>
          </a:xfrm>
          <a:custGeom>
            <a:avLst/>
            <a:gdLst>
              <a:gd name="connsiteX0" fmla="*/ 273448 w 12201591"/>
              <a:gd name="connsiteY0" fmla="*/ 618 h 2317477"/>
              <a:gd name="connsiteX1" fmla="*/ 294238 w 12201591"/>
              <a:gd name="connsiteY1" fmla="*/ 1741 h 2317477"/>
              <a:gd name="connsiteX2" fmla="*/ 322763 w 12201591"/>
              <a:gd name="connsiteY2" fmla="*/ 17744 h 2317477"/>
              <a:gd name="connsiteX3" fmla="*/ 322763 w 12201591"/>
              <a:gd name="connsiteY3" fmla="*/ 60949 h 2317477"/>
              <a:gd name="connsiteX4" fmla="*/ 289724 w 12201591"/>
              <a:gd name="connsiteY4" fmla="*/ 155829 h 2317477"/>
              <a:gd name="connsiteX5" fmla="*/ 318527 w 12201591"/>
              <a:gd name="connsiteY5" fmla="*/ 123637 h 2317477"/>
              <a:gd name="connsiteX6" fmla="*/ 360885 w 12201591"/>
              <a:gd name="connsiteY6" fmla="*/ 88905 h 2317477"/>
              <a:gd name="connsiteX7" fmla="*/ 360885 w 12201591"/>
              <a:gd name="connsiteY7" fmla="*/ 141427 h 2317477"/>
              <a:gd name="connsiteX8" fmla="*/ 313445 w 12201591"/>
              <a:gd name="connsiteY8" fmla="*/ 251557 h 2317477"/>
              <a:gd name="connsiteX9" fmla="*/ 313445 w 12201591"/>
              <a:gd name="connsiteY9" fmla="*/ 278665 h 2317477"/>
              <a:gd name="connsiteX10" fmla="*/ 341400 w 12201591"/>
              <a:gd name="connsiteY10" fmla="*/ 267653 h 2317477"/>
              <a:gd name="connsiteX11" fmla="*/ 380369 w 12201591"/>
              <a:gd name="connsiteY11" fmla="*/ 215129 h 2317477"/>
              <a:gd name="connsiteX12" fmla="*/ 381394 w 12201591"/>
              <a:gd name="connsiteY12" fmla="*/ 213350 h 2317477"/>
              <a:gd name="connsiteX13" fmla="*/ 408325 w 12201591"/>
              <a:gd name="connsiteY13" fmla="*/ 207505 h 2317477"/>
              <a:gd name="connsiteX14" fmla="*/ 408325 w 12201591"/>
              <a:gd name="connsiteY14" fmla="*/ 234614 h 2317477"/>
              <a:gd name="connsiteX15" fmla="*/ 381216 w 12201591"/>
              <a:gd name="connsiteY15" fmla="*/ 282901 h 2317477"/>
              <a:gd name="connsiteX16" fmla="*/ 333776 w 12201591"/>
              <a:gd name="connsiteY16" fmla="*/ 452331 h 2317477"/>
              <a:gd name="connsiteX17" fmla="*/ 310056 w 12201591"/>
              <a:gd name="connsiteY17" fmla="*/ 515020 h 2317477"/>
              <a:gd name="connsiteX18" fmla="*/ 140626 w 12201591"/>
              <a:gd name="connsiteY18" fmla="*/ 864044 h 2317477"/>
              <a:gd name="connsiteX19" fmla="*/ 146557 w 12201591"/>
              <a:gd name="connsiteY19" fmla="*/ 894541 h 2317477"/>
              <a:gd name="connsiteX20" fmla="*/ 231271 w 12201591"/>
              <a:gd name="connsiteY20" fmla="*/ 1063971 h 2317477"/>
              <a:gd name="connsiteX21" fmla="*/ 241437 w 12201591"/>
              <a:gd name="connsiteY21" fmla="*/ 1000435 h 2317477"/>
              <a:gd name="connsiteX22" fmla="*/ 428657 w 12201591"/>
              <a:gd name="connsiteY22" fmla="*/ 788648 h 2317477"/>
              <a:gd name="connsiteX23" fmla="*/ 500016 w 12201591"/>
              <a:gd name="connsiteY23" fmla="*/ 780430 h 2317477"/>
              <a:gd name="connsiteX24" fmla="*/ 715840 w 12201591"/>
              <a:gd name="connsiteY24" fmla="*/ 1016531 h 2317477"/>
              <a:gd name="connsiteX25" fmla="*/ 715840 w 12201591"/>
              <a:gd name="connsiteY25" fmla="*/ 1191890 h 2317477"/>
              <a:gd name="connsiteX26" fmla="*/ 704827 w 12201591"/>
              <a:gd name="connsiteY26" fmla="*/ 1226624 h 2317477"/>
              <a:gd name="connsiteX27" fmla="*/ 644679 w 12201591"/>
              <a:gd name="connsiteY27" fmla="*/ 1415537 h 2317477"/>
              <a:gd name="connsiteX28" fmla="*/ 662469 w 12201591"/>
              <a:gd name="connsiteY28" fmla="*/ 1456200 h 2317477"/>
              <a:gd name="connsiteX29" fmla="*/ 831899 w 12201591"/>
              <a:gd name="connsiteY29" fmla="*/ 1568024 h 2317477"/>
              <a:gd name="connsiteX30" fmla="*/ 864090 w 12201591"/>
              <a:gd name="connsiteY30" fmla="*/ 1560399 h 2317477"/>
              <a:gd name="connsiteX31" fmla="*/ 1028437 w 12201591"/>
              <a:gd name="connsiteY31" fmla="*/ 1353696 h 2317477"/>
              <a:gd name="connsiteX32" fmla="*/ 1028437 w 12201591"/>
              <a:gd name="connsiteY32" fmla="*/ 1279146 h 2317477"/>
              <a:gd name="connsiteX33" fmla="*/ 1028361 w 12201591"/>
              <a:gd name="connsiteY33" fmla="*/ 1271098 h 2317477"/>
              <a:gd name="connsiteX34" fmla="*/ 981844 w 12201591"/>
              <a:gd name="connsiteY34" fmla="*/ 1233400 h 2317477"/>
              <a:gd name="connsiteX35" fmla="*/ 920849 w 12201591"/>
              <a:gd name="connsiteY35" fmla="*/ 1088538 h 2317477"/>
              <a:gd name="connsiteX36" fmla="*/ 964054 w 12201591"/>
              <a:gd name="connsiteY36" fmla="*/ 1077525 h 2317477"/>
              <a:gd name="connsiteX37" fmla="*/ 1009800 w 12201591"/>
              <a:gd name="connsiteY37" fmla="*/ 1026697 h 2317477"/>
              <a:gd name="connsiteX38" fmla="*/ 1003870 w 12201591"/>
              <a:gd name="connsiteY38" fmla="*/ 785260 h 2317477"/>
              <a:gd name="connsiteX39" fmla="*/ 986080 w 12201591"/>
              <a:gd name="connsiteY39" fmla="*/ 734430 h 2317477"/>
              <a:gd name="connsiteX40" fmla="*/ 937792 w 12201591"/>
              <a:gd name="connsiteY40" fmla="*/ 655646 h 2317477"/>
              <a:gd name="connsiteX41" fmla="*/ 892046 w 12201591"/>
              <a:gd name="connsiteY41" fmla="*/ 506548 h 2317477"/>
              <a:gd name="connsiteX42" fmla="*/ 819192 w 12201591"/>
              <a:gd name="connsiteY42" fmla="*/ 371004 h 2317477"/>
              <a:gd name="connsiteX43" fmla="*/ 798860 w 12201591"/>
              <a:gd name="connsiteY43" fmla="*/ 301538 h 2317477"/>
              <a:gd name="connsiteX44" fmla="*/ 819192 w 12201591"/>
              <a:gd name="connsiteY44" fmla="*/ 272735 h 2317477"/>
              <a:gd name="connsiteX45" fmla="*/ 856466 w 12201591"/>
              <a:gd name="connsiteY45" fmla="*/ 282054 h 2317477"/>
              <a:gd name="connsiteX46" fmla="*/ 907295 w 12201591"/>
              <a:gd name="connsiteY46" fmla="*/ 359991 h 2317477"/>
              <a:gd name="connsiteX47" fmla="*/ 975914 w 12201591"/>
              <a:gd name="connsiteY47" fmla="*/ 352367 h 2317477"/>
              <a:gd name="connsiteX48" fmla="*/ 980997 w 12201591"/>
              <a:gd name="connsiteY48" fmla="*/ 273583 h 2317477"/>
              <a:gd name="connsiteX49" fmla="*/ 1014883 w 12201591"/>
              <a:gd name="connsiteY49" fmla="*/ 245627 h 2317477"/>
              <a:gd name="connsiteX50" fmla="*/ 1061476 w 12201591"/>
              <a:gd name="connsiteY50" fmla="*/ 212588 h 2317477"/>
              <a:gd name="connsiteX51" fmla="*/ 1119929 w 12201591"/>
              <a:gd name="connsiteY51" fmla="*/ 87210 h 2317477"/>
              <a:gd name="connsiteX52" fmla="*/ 1152121 w 12201591"/>
              <a:gd name="connsiteY52" fmla="*/ 75350 h 2317477"/>
              <a:gd name="connsiteX53" fmla="*/ 1152121 w 12201591"/>
              <a:gd name="connsiteY53" fmla="*/ 104153 h 2317477"/>
              <a:gd name="connsiteX54" fmla="*/ 1160592 w 12201591"/>
              <a:gd name="connsiteY54" fmla="*/ 210047 h 2317477"/>
              <a:gd name="connsiteX55" fmla="*/ 1153815 w 12201591"/>
              <a:gd name="connsiteY55" fmla="*/ 336271 h 2317477"/>
              <a:gd name="connsiteX56" fmla="*/ 1107222 w 12201591"/>
              <a:gd name="connsiteY56" fmla="*/ 458261 h 2317477"/>
              <a:gd name="connsiteX57" fmla="*/ 1115693 w 12201591"/>
              <a:gd name="connsiteY57" fmla="*/ 542976 h 2317477"/>
              <a:gd name="connsiteX58" fmla="*/ 1207185 w 12201591"/>
              <a:gd name="connsiteY58" fmla="*/ 820840 h 2317477"/>
              <a:gd name="connsiteX59" fmla="*/ 1243612 w 12201591"/>
              <a:gd name="connsiteY59" fmla="*/ 980951 h 2317477"/>
              <a:gd name="connsiteX60" fmla="*/ 1262250 w 12201591"/>
              <a:gd name="connsiteY60" fmla="*/ 1004671 h 2317477"/>
              <a:gd name="connsiteX61" fmla="*/ 1341882 w 12201591"/>
              <a:gd name="connsiteY61" fmla="*/ 867433 h 2317477"/>
              <a:gd name="connsiteX62" fmla="*/ 1363907 w 12201591"/>
              <a:gd name="connsiteY62" fmla="*/ 856420 h 2317477"/>
              <a:gd name="connsiteX63" fmla="*/ 1421513 w 12201591"/>
              <a:gd name="connsiteY63" fmla="*/ 847949 h 2317477"/>
              <a:gd name="connsiteX64" fmla="*/ 1469801 w 12201591"/>
              <a:gd name="connsiteY64" fmla="*/ 866586 h 2317477"/>
              <a:gd name="connsiteX65" fmla="*/ 1594331 w 12201591"/>
              <a:gd name="connsiteY65" fmla="*/ 1021613 h 2317477"/>
              <a:gd name="connsiteX66" fmla="*/ 1612969 w 12201591"/>
              <a:gd name="connsiteY66" fmla="*/ 1130895 h 2317477"/>
              <a:gd name="connsiteX67" fmla="*/ 1629064 w 12201591"/>
              <a:gd name="connsiteY67" fmla="*/ 1187655 h 2317477"/>
              <a:gd name="connsiteX68" fmla="*/ 1680740 w 12201591"/>
              <a:gd name="connsiteY68" fmla="*/ 1187655 h 2317477"/>
              <a:gd name="connsiteX69" fmla="*/ 1760372 w 12201591"/>
              <a:gd name="connsiteY69" fmla="*/ 1079219 h 2317477"/>
              <a:gd name="connsiteX70" fmla="*/ 1845087 w 12201591"/>
              <a:gd name="connsiteY70" fmla="*/ 1052111 h 2317477"/>
              <a:gd name="connsiteX71" fmla="*/ 1909470 w 12201591"/>
              <a:gd name="connsiteY71" fmla="*/ 987728 h 2317477"/>
              <a:gd name="connsiteX72" fmla="*/ 1967923 w 12201591"/>
              <a:gd name="connsiteY72" fmla="*/ 658188 h 2317477"/>
              <a:gd name="connsiteX73" fmla="*/ 2184793 w 12201591"/>
              <a:gd name="connsiteY73" fmla="*/ 488758 h 2317477"/>
              <a:gd name="connsiteX74" fmla="*/ 2239011 w 12201591"/>
              <a:gd name="connsiteY74" fmla="*/ 512478 h 2317477"/>
              <a:gd name="connsiteX75" fmla="*/ 2336433 w 12201591"/>
              <a:gd name="connsiteY75" fmla="*/ 631926 h 2317477"/>
              <a:gd name="connsiteX76" fmla="*/ 2351681 w 12201591"/>
              <a:gd name="connsiteY76" fmla="*/ 592110 h 2317477"/>
              <a:gd name="connsiteX77" fmla="*/ 2373707 w 12201591"/>
              <a:gd name="connsiteY77" fmla="*/ 602276 h 2317477"/>
              <a:gd name="connsiteX78" fmla="*/ 2406746 w 12201591"/>
              <a:gd name="connsiteY78" fmla="*/ 649716 h 2317477"/>
              <a:gd name="connsiteX79" fmla="*/ 2394039 w 12201591"/>
              <a:gd name="connsiteY79" fmla="*/ 570931 h 2317477"/>
              <a:gd name="connsiteX80" fmla="*/ 2406746 w 12201591"/>
              <a:gd name="connsiteY80" fmla="*/ 533657 h 2317477"/>
              <a:gd name="connsiteX81" fmla="*/ 2436396 w 12201591"/>
              <a:gd name="connsiteY81" fmla="*/ 560766 h 2317477"/>
              <a:gd name="connsiteX82" fmla="*/ 2448256 w 12201591"/>
              <a:gd name="connsiteY82" fmla="*/ 599734 h 2317477"/>
              <a:gd name="connsiteX83" fmla="*/ 2460963 w 12201591"/>
              <a:gd name="connsiteY83" fmla="*/ 637009 h 2317477"/>
              <a:gd name="connsiteX84" fmla="*/ 2453339 w 12201591"/>
              <a:gd name="connsiteY84" fmla="*/ 599734 h 2317477"/>
              <a:gd name="connsiteX85" fmla="*/ 2479600 w 12201591"/>
              <a:gd name="connsiteY85" fmla="*/ 542976 h 2317477"/>
              <a:gd name="connsiteX86" fmla="*/ 2510098 w 12201591"/>
              <a:gd name="connsiteY86" fmla="*/ 602276 h 2317477"/>
              <a:gd name="connsiteX87" fmla="*/ 2550761 w 12201591"/>
              <a:gd name="connsiteY87" fmla="*/ 771705 h 2317477"/>
              <a:gd name="connsiteX88" fmla="*/ 2585494 w 12201591"/>
              <a:gd name="connsiteY88" fmla="*/ 821687 h 2317477"/>
              <a:gd name="connsiteX89" fmla="*/ 2599048 w 12201591"/>
              <a:gd name="connsiteY89" fmla="*/ 821687 h 2317477"/>
              <a:gd name="connsiteX90" fmla="*/ 2599048 w 12201591"/>
              <a:gd name="connsiteY90" fmla="*/ 709016 h 2317477"/>
              <a:gd name="connsiteX91" fmla="*/ 2598226 w 12201591"/>
              <a:gd name="connsiteY91" fmla="*/ 700460 h 2317477"/>
              <a:gd name="connsiteX92" fmla="*/ 2627004 w 12201591"/>
              <a:gd name="connsiteY92" fmla="*/ 675130 h 2317477"/>
              <a:gd name="connsiteX93" fmla="*/ 2649030 w 12201591"/>
              <a:gd name="connsiteY93" fmla="*/ 703933 h 2317477"/>
              <a:gd name="connsiteX94" fmla="*/ 2634628 w 12201591"/>
              <a:gd name="connsiteY94" fmla="*/ 998741 h 2317477"/>
              <a:gd name="connsiteX95" fmla="*/ 2554997 w 12201591"/>
              <a:gd name="connsiteY95" fmla="*/ 1154616 h 2317477"/>
              <a:gd name="connsiteX96" fmla="*/ 2562621 w 12201591"/>
              <a:gd name="connsiteY96" fmla="*/ 1202903 h 2317477"/>
              <a:gd name="connsiteX97" fmla="*/ 2657501 w 12201591"/>
              <a:gd name="connsiteY97" fmla="*/ 1264745 h 2317477"/>
              <a:gd name="connsiteX98" fmla="*/ 2687999 w 12201591"/>
              <a:gd name="connsiteY98" fmla="*/ 1264745 h 2317477"/>
              <a:gd name="connsiteX99" fmla="*/ 2893008 w 12201591"/>
              <a:gd name="connsiteY99" fmla="*/ 1288465 h 2317477"/>
              <a:gd name="connsiteX100" fmla="*/ 2896083 w 12201591"/>
              <a:gd name="connsiteY100" fmla="*/ 1290244 h 2317477"/>
              <a:gd name="connsiteX101" fmla="*/ 2927742 w 12201591"/>
              <a:gd name="connsiteY101" fmla="*/ 1279146 h 2317477"/>
              <a:gd name="connsiteX102" fmla="*/ 2960780 w 12201591"/>
              <a:gd name="connsiteY102" fmla="*/ 1241025 h 2317477"/>
              <a:gd name="connsiteX103" fmla="*/ 2967557 w 12201591"/>
              <a:gd name="connsiteY103" fmla="*/ 1160546 h 2317477"/>
              <a:gd name="connsiteX104" fmla="*/ 2840485 w 12201591"/>
              <a:gd name="connsiteY104" fmla="*/ 967396 h 2317477"/>
              <a:gd name="connsiteX105" fmla="*/ 2717649 w 12201591"/>
              <a:gd name="connsiteY105" fmla="*/ 759845 h 2317477"/>
              <a:gd name="connsiteX106" fmla="*/ 2701553 w 12201591"/>
              <a:gd name="connsiteY106" fmla="*/ 725959 h 2317477"/>
              <a:gd name="connsiteX107" fmla="*/ 2708330 w 12201591"/>
              <a:gd name="connsiteY107" fmla="*/ 688684 h 2317477"/>
              <a:gd name="connsiteX108" fmla="*/ 2736286 w 12201591"/>
              <a:gd name="connsiteY108" fmla="*/ 709016 h 2317477"/>
              <a:gd name="connsiteX109" fmla="*/ 2756618 w 12201591"/>
              <a:gd name="connsiteY109" fmla="*/ 729348 h 2317477"/>
              <a:gd name="connsiteX110" fmla="*/ 2756618 w 12201591"/>
              <a:gd name="connsiteY110" fmla="*/ 565001 h 2317477"/>
              <a:gd name="connsiteX111" fmla="*/ 2781185 w 12201591"/>
              <a:gd name="connsiteY111" fmla="*/ 453178 h 2317477"/>
              <a:gd name="connsiteX112" fmla="*/ 2806176 w 12201591"/>
              <a:gd name="connsiteY112" fmla="*/ 435812 h 2317477"/>
              <a:gd name="connsiteX113" fmla="*/ 2823542 w 12201591"/>
              <a:gd name="connsiteY113" fmla="*/ 460802 h 2317477"/>
              <a:gd name="connsiteX114" fmla="*/ 2848957 w 12201591"/>
              <a:gd name="connsiteY114" fmla="*/ 589568 h 2317477"/>
              <a:gd name="connsiteX115" fmla="*/ 2877760 w 12201591"/>
              <a:gd name="connsiteY115" fmla="*/ 563307 h 2317477"/>
              <a:gd name="connsiteX116" fmla="*/ 2904021 w 12201591"/>
              <a:gd name="connsiteY116" fmla="*/ 563307 h 2317477"/>
              <a:gd name="connsiteX117" fmla="*/ 2909951 w 12201591"/>
              <a:gd name="connsiteY117" fmla="*/ 587874 h 2317477"/>
              <a:gd name="connsiteX118" fmla="*/ 2976029 w 12201591"/>
              <a:gd name="connsiteY118" fmla="*/ 882681 h 2317477"/>
              <a:gd name="connsiteX119" fmla="*/ 3094629 w 12201591"/>
              <a:gd name="connsiteY119" fmla="*/ 1068207 h 2317477"/>
              <a:gd name="connsiteX120" fmla="*/ 3224243 w 12201591"/>
              <a:gd name="connsiteY120" fmla="*/ 880987 h 2317477"/>
              <a:gd name="connsiteX121" fmla="*/ 3229326 w 12201591"/>
              <a:gd name="connsiteY121" fmla="*/ 822534 h 2317477"/>
              <a:gd name="connsiteX122" fmla="*/ 3239492 w 12201591"/>
              <a:gd name="connsiteY122" fmla="*/ 803050 h 2317477"/>
              <a:gd name="connsiteX123" fmla="*/ 3261517 w 12201591"/>
              <a:gd name="connsiteY123" fmla="*/ 803050 h 2317477"/>
              <a:gd name="connsiteX124" fmla="*/ 3275919 w 12201591"/>
              <a:gd name="connsiteY124" fmla="*/ 858114 h 2317477"/>
              <a:gd name="connsiteX125" fmla="*/ 3264059 w 12201591"/>
              <a:gd name="connsiteY125" fmla="*/ 901319 h 2317477"/>
              <a:gd name="connsiteX126" fmla="*/ 3289473 w 12201591"/>
              <a:gd name="connsiteY126" fmla="*/ 934357 h 2317477"/>
              <a:gd name="connsiteX127" fmla="*/ 3326748 w 12201591"/>
              <a:gd name="connsiteY127" fmla="*/ 934357 h 2317477"/>
              <a:gd name="connsiteX128" fmla="*/ 3371647 w 12201591"/>
              <a:gd name="connsiteY128" fmla="*/ 967396 h 2317477"/>
              <a:gd name="connsiteX129" fmla="*/ 3371647 w 12201591"/>
              <a:gd name="connsiteY129" fmla="*/ 1073289 h 2317477"/>
              <a:gd name="connsiteX130" fmla="*/ 3349621 w 12201591"/>
              <a:gd name="connsiteY130" fmla="*/ 1090233 h 2317477"/>
              <a:gd name="connsiteX131" fmla="*/ 3255587 w 12201591"/>
              <a:gd name="connsiteY131" fmla="*/ 1109717 h 2317477"/>
              <a:gd name="connsiteX132" fmla="*/ 3215771 w 12201591"/>
              <a:gd name="connsiteY132" fmla="*/ 1228318 h 2317477"/>
              <a:gd name="connsiteX133" fmla="*/ 3419087 w 12201591"/>
              <a:gd name="connsiteY133" fmla="*/ 1578189 h 2317477"/>
              <a:gd name="connsiteX134" fmla="*/ 3470763 w 12201591"/>
              <a:gd name="connsiteY134" fmla="*/ 1610381 h 2317477"/>
              <a:gd name="connsiteX135" fmla="*/ 3751169 w 12201591"/>
              <a:gd name="connsiteY135" fmla="*/ 1666293 h 2317477"/>
              <a:gd name="connsiteX136" fmla="*/ 3739309 w 12201591"/>
              <a:gd name="connsiteY136" fmla="*/ 1476532 h 2317477"/>
              <a:gd name="connsiteX137" fmla="*/ 3691868 w 12201591"/>
              <a:gd name="connsiteY137" fmla="*/ 1391817 h 2317477"/>
              <a:gd name="connsiteX138" fmla="*/ 3607154 w 12201591"/>
              <a:gd name="connsiteY138" fmla="*/ 1154616 h 2317477"/>
              <a:gd name="connsiteX139" fmla="*/ 3552089 w 12201591"/>
              <a:gd name="connsiteY139" fmla="*/ 1035168 h 2317477"/>
              <a:gd name="connsiteX140" fmla="*/ 3561408 w 12201591"/>
              <a:gd name="connsiteY140" fmla="*/ 1005518 h 2317477"/>
              <a:gd name="connsiteX141" fmla="*/ 3626638 w 12201591"/>
              <a:gd name="connsiteY141" fmla="*/ 1040251 h 2317477"/>
              <a:gd name="connsiteX142" fmla="*/ 3626638 w 12201591"/>
              <a:gd name="connsiteY142" fmla="*/ 975868 h 2317477"/>
              <a:gd name="connsiteX143" fmla="*/ 3638498 w 12201591"/>
              <a:gd name="connsiteY143" fmla="*/ 959772 h 2317477"/>
              <a:gd name="connsiteX144" fmla="*/ 3663912 w 12201591"/>
              <a:gd name="connsiteY144" fmla="*/ 1107175 h 2317477"/>
              <a:gd name="connsiteX145" fmla="*/ 3748627 w 12201591"/>
              <a:gd name="connsiteY145" fmla="*/ 1218999 h 2317477"/>
              <a:gd name="connsiteX146" fmla="*/ 3841813 w 12201591"/>
              <a:gd name="connsiteY146" fmla="*/ 1270675 h 2317477"/>
              <a:gd name="connsiteX147" fmla="*/ 3918057 w 12201591"/>
              <a:gd name="connsiteY147" fmla="*/ 1276605 h 2317477"/>
              <a:gd name="connsiteX148" fmla="*/ 3993453 w 12201591"/>
              <a:gd name="connsiteY148" fmla="*/ 1246108 h 2317477"/>
              <a:gd name="connsiteX149" fmla="*/ 4033269 w 12201591"/>
              <a:gd name="connsiteY149" fmla="*/ 1233400 h 2317477"/>
              <a:gd name="connsiteX150" fmla="*/ 4015479 w 12201591"/>
              <a:gd name="connsiteY150" fmla="*/ 1178336 h 2317477"/>
              <a:gd name="connsiteX151" fmla="*/ 3961261 w 12201591"/>
              <a:gd name="connsiteY151" fmla="*/ 1141061 h 2317477"/>
              <a:gd name="connsiteX152" fmla="*/ 3939235 w 12201591"/>
              <a:gd name="connsiteY152" fmla="*/ 928427 h 2317477"/>
              <a:gd name="connsiteX153" fmla="*/ 4101887 w 12201591"/>
              <a:gd name="connsiteY153" fmla="*/ 802203 h 2317477"/>
              <a:gd name="connsiteX154" fmla="*/ 4161188 w 12201591"/>
              <a:gd name="connsiteY154" fmla="*/ 838630 h 2317477"/>
              <a:gd name="connsiteX155" fmla="*/ 4195074 w 12201591"/>
              <a:gd name="connsiteY155" fmla="*/ 880140 h 2317477"/>
              <a:gd name="connsiteX156" fmla="*/ 4245903 w 12201591"/>
              <a:gd name="connsiteY156" fmla="*/ 926733 h 2317477"/>
              <a:gd name="connsiteX157" fmla="*/ 4352643 w 12201591"/>
              <a:gd name="connsiteY157" fmla="*/ 1050417 h 2317477"/>
              <a:gd name="connsiteX158" fmla="*/ 4352643 w 12201591"/>
              <a:gd name="connsiteY158" fmla="*/ 1096163 h 2317477"/>
              <a:gd name="connsiteX159" fmla="*/ 4302662 w 12201591"/>
              <a:gd name="connsiteY159" fmla="*/ 1144450 h 2317477"/>
              <a:gd name="connsiteX160" fmla="*/ 4387377 w 12201591"/>
              <a:gd name="connsiteY160" fmla="*/ 1173253 h 2317477"/>
              <a:gd name="connsiteX161" fmla="*/ 4479716 w 12201591"/>
              <a:gd name="connsiteY161" fmla="*/ 1125813 h 2317477"/>
              <a:gd name="connsiteX162" fmla="*/ 4527156 w 12201591"/>
              <a:gd name="connsiteY162" fmla="*/ 1110564 h 2317477"/>
              <a:gd name="connsiteX163" fmla="*/ 4564430 w 12201591"/>
              <a:gd name="connsiteY163" fmla="*/ 1102940 h 2317477"/>
              <a:gd name="connsiteX164" fmla="*/ 4627119 w 12201591"/>
              <a:gd name="connsiteY164" fmla="*/ 1058041 h 2317477"/>
              <a:gd name="connsiteX165" fmla="*/ 4888041 w 12201591"/>
              <a:gd name="connsiteY165" fmla="*/ 761539 h 2317477"/>
              <a:gd name="connsiteX166" fmla="*/ 4911761 w 12201591"/>
              <a:gd name="connsiteY166" fmla="*/ 615830 h 2317477"/>
              <a:gd name="connsiteX167" fmla="*/ 4911761 w 12201591"/>
              <a:gd name="connsiteY167" fmla="*/ 523491 h 2317477"/>
              <a:gd name="connsiteX168" fmla="*/ 4944799 w 12201591"/>
              <a:gd name="connsiteY168" fmla="*/ 598040 h 2317477"/>
              <a:gd name="connsiteX169" fmla="*/ 4949882 w 12201591"/>
              <a:gd name="connsiteY169" fmla="*/ 624302 h 2317477"/>
              <a:gd name="connsiteX170" fmla="*/ 4975297 w 12201591"/>
              <a:gd name="connsiteY170" fmla="*/ 608206 h 2317477"/>
              <a:gd name="connsiteX171" fmla="*/ 5050693 w 12201591"/>
              <a:gd name="connsiteY171" fmla="*/ 508242 h 2317477"/>
              <a:gd name="connsiteX172" fmla="*/ 5078649 w 12201591"/>
              <a:gd name="connsiteY172" fmla="*/ 515020 h 2317477"/>
              <a:gd name="connsiteX173" fmla="*/ 5095592 w 12201591"/>
              <a:gd name="connsiteY173" fmla="*/ 525185 h 2317477"/>
              <a:gd name="connsiteX174" fmla="*/ 5127783 w 12201591"/>
              <a:gd name="connsiteY174" fmla="*/ 525185 h 2317477"/>
              <a:gd name="connsiteX175" fmla="*/ 5127783 w 12201591"/>
              <a:gd name="connsiteY175" fmla="*/ 577708 h 2317477"/>
              <a:gd name="connsiteX176" fmla="*/ 5082037 w 12201591"/>
              <a:gd name="connsiteY176" fmla="*/ 642092 h 2317477"/>
              <a:gd name="connsiteX177" fmla="*/ 5100674 w 12201591"/>
              <a:gd name="connsiteY177" fmla="*/ 672589 h 2317477"/>
              <a:gd name="connsiteX178" fmla="*/ 5111687 w 12201591"/>
              <a:gd name="connsiteY178" fmla="*/ 682754 h 2317477"/>
              <a:gd name="connsiteX179" fmla="*/ 5060011 w 12201591"/>
              <a:gd name="connsiteY179" fmla="*/ 746290 h 2317477"/>
              <a:gd name="connsiteX180" fmla="*/ 5032056 w 12201591"/>
              <a:gd name="connsiteY180" fmla="*/ 782718 h 2317477"/>
              <a:gd name="connsiteX181" fmla="*/ 4934634 w 12201591"/>
              <a:gd name="connsiteY181" fmla="*/ 904707 h 2317477"/>
              <a:gd name="connsiteX182" fmla="*/ 4997323 w 12201591"/>
              <a:gd name="connsiteY182" fmla="*/ 899625 h 2317477"/>
              <a:gd name="connsiteX183" fmla="*/ 5029514 w 12201591"/>
              <a:gd name="connsiteY183" fmla="*/ 911485 h 2317477"/>
              <a:gd name="connsiteX184" fmla="*/ 5153198 w 12201591"/>
              <a:gd name="connsiteY184" fmla="*/ 1034321 h 2317477"/>
              <a:gd name="connsiteX185" fmla="*/ 5225205 w 12201591"/>
              <a:gd name="connsiteY185" fmla="*/ 908943 h 2317477"/>
              <a:gd name="connsiteX186" fmla="*/ 5353972 w 12201591"/>
              <a:gd name="connsiteY186" fmla="*/ 727654 h 2317477"/>
              <a:gd name="connsiteX187" fmla="*/ 5422591 w 12201591"/>
              <a:gd name="connsiteY187" fmla="*/ 568390 h 2317477"/>
              <a:gd name="connsiteX188" fmla="*/ 5412425 w 12201591"/>
              <a:gd name="connsiteY188" fmla="*/ 514172 h 2317477"/>
              <a:gd name="connsiteX189" fmla="*/ 5497139 w 12201591"/>
              <a:gd name="connsiteY189" fmla="*/ 312551 h 2317477"/>
              <a:gd name="connsiteX190" fmla="*/ 5525943 w 12201591"/>
              <a:gd name="connsiteY190" fmla="*/ 265111 h 2317477"/>
              <a:gd name="connsiteX191" fmla="*/ 5603033 w 12201591"/>
              <a:gd name="connsiteY191" fmla="*/ 244779 h 2317477"/>
              <a:gd name="connsiteX192" fmla="*/ 5607269 w 12201591"/>
              <a:gd name="connsiteY192" fmla="*/ 281207 h 2317477"/>
              <a:gd name="connsiteX193" fmla="*/ 5579313 w 12201591"/>
              <a:gd name="connsiteY193" fmla="*/ 352367 h 2317477"/>
              <a:gd name="connsiteX194" fmla="*/ 5603033 w 12201591"/>
              <a:gd name="connsiteY194" fmla="*/ 330341 h 2317477"/>
              <a:gd name="connsiteX195" fmla="*/ 5633530 w 12201591"/>
              <a:gd name="connsiteY195" fmla="*/ 310010 h 2317477"/>
              <a:gd name="connsiteX196" fmla="*/ 5633530 w 12201591"/>
              <a:gd name="connsiteY196" fmla="*/ 348979 h 2317477"/>
              <a:gd name="connsiteX197" fmla="*/ 5589479 w 12201591"/>
              <a:gd name="connsiteY197" fmla="*/ 440470 h 2317477"/>
              <a:gd name="connsiteX198" fmla="*/ 5589479 w 12201591"/>
              <a:gd name="connsiteY198" fmla="*/ 465885 h 2317477"/>
              <a:gd name="connsiteX199" fmla="*/ 5613199 w 12201591"/>
              <a:gd name="connsiteY199" fmla="*/ 456566 h 2317477"/>
              <a:gd name="connsiteX200" fmla="*/ 5645390 w 12201591"/>
              <a:gd name="connsiteY200" fmla="*/ 416750 h 2317477"/>
              <a:gd name="connsiteX201" fmla="*/ 5669110 w 12201591"/>
              <a:gd name="connsiteY201" fmla="*/ 409126 h 2317477"/>
              <a:gd name="connsiteX202" fmla="*/ 5669110 w 12201591"/>
              <a:gd name="connsiteY202" fmla="*/ 435388 h 2317477"/>
              <a:gd name="connsiteX203" fmla="*/ 5639460 w 12201591"/>
              <a:gd name="connsiteY203" fmla="*/ 476898 h 2317477"/>
              <a:gd name="connsiteX204" fmla="*/ 5600492 w 12201591"/>
              <a:gd name="connsiteY204" fmla="*/ 602276 h 2317477"/>
              <a:gd name="connsiteX205" fmla="*/ 5591173 w 12201591"/>
              <a:gd name="connsiteY205" fmla="*/ 636162 h 2317477"/>
              <a:gd name="connsiteX206" fmla="*/ 5421743 w 12201591"/>
              <a:gd name="connsiteY206" fmla="*/ 936052 h 2317477"/>
              <a:gd name="connsiteX207" fmla="*/ 5281964 w 12201591"/>
              <a:gd name="connsiteY207" fmla="*/ 1255426 h 2317477"/>
              <a:gd name="connsiteX208" fmla="*/ 5270104 w 12201591"/>
              <a:gd name="connsiteY208" fmla="*/ 1359626 h 2317477"/>
              <a:gd name="connsiteX209" fmla="*/ 5404800 w 12201591"/>
              <a:gd name="connsiteY209" fmla="*/ 1669681 h 2317477"/>
              <a:gd name="connsiteX210" fmla="*/ 5438686 w 12201591"/>
              <a:gd name="connsiteY210" fmla="*/ 1679000 h 2317477"/>
              <a:gd name="connsiteX211" fmla="*/ 5476808 w 12201591"/>
              <a:gd name="connsiteY211" fmla="*/ 1654433 h 2317477"/>
              <a:gd name="connsiteX212" fmla="*/ 5513235 w 12201591"/>
              <a:gd name="connsiteY212" fmla="*/ 1563788 h 2317477"/>
              <a:gd name="connsiteX213" fmla="*/ 5466642 w 12201591"/>
              <a:gd name="connsiteY213" fmla="*/ 1433327 h 2317477"/>
              <a:gd name="connsiteX214" fmla="*/ 5452241 w 12201591"/>
              <a:gd name="connsiteY214" fmla="*/ 1317268 h 2317477"/>
              <a:gd name="connsiteX215" fmla="*/ 5459865 w 12201591"/>
              <a:gd name="connsiteY215" fmla="*/ 1206292 h 2317477"/>
              <a:gd name="connsiteX216" fmla="*/ 5725869 w 12201591"/>
              <a:gd name="connsiteY216" fmla="*/ 1068207 h 2317477"/>
              <a:gd name="connsiteX217" fmla="*/ 5735400 w 12201591"/>
              <a:gd name="connsiteY217" fmla="*/ 1069393 h 2317477"/>
              <a:gd name="connsiteX218" fmla="*/ 5870732 w 12201591"/>
              <a:gd name="connsiteY218" fmla="*/ 1255426 h 2317477"/>
              <a:gd name="connsiteX219" fmla="*/ 5876662 w 12201591"/>
              <a:gd name="connsiteY219" fmla="*/ 1315574 h 2317477"/>
              <a:gd name="connsiteX220" fmla="*/ 5852941 w 12201591"/>
              <a:gd name="connsiteY220" fmla="*/ 1438410 h 2317477"/>
              <a:gd name="connsiteX221" fmla="*/ 5796182 w 12201591"/>
              <a:gd name="connsiteY221" fmla="*/ 1590897 h 2317477"/>
              <a:gd name="connsiteX222" fmla="*/ 5814820 w 12201591"/>
              <a:gd name="connsiteY222" fmla="*/ 1630713 h 2317477"/>
              <a:gd name="connsiteX223" fmla="*/ 5899534 w 12201591"/>
              <a:gd name="connsiteY223" fmla="*/ 1683236 h 2317477"/>
              <a:gd name="connsiteX224" fmla="*/ 5977472 w 12201591"/>
              <a:gd name="connsiteY224" fmla="*/ 1649350 h 2317477"/>
              <a:gd name="connsiteX225" fmla="*/ 6129959 w 12201591"/>
              <a:gd name="connsiteY225" fmla="*/ 1404524 h 2317477"/>
              <a:gd name="connsiteX226" fmla="*/ 6099461 w 12201591"/>
              <a:gd name="connsiteY226" fmla="*/ 1304561 h 2317477"/>
              <a:gd name="connsiteX227" fmla="*/ 5992721 w 12201591"/>
              <a:gd name="connsiteY227" fmla="*/ 935205 h 2317477"/>
              <a:gd name="connsiteX228" fmla="*/ 5983402 w 12201591"/>
              <a:gd name="connsiteY228" fmla="*/ 909790 h 2317477"/>
              <a:gd name="connsiteX229" fmla="*/ 5805501 w 12201591"/>
              <a:gd name="connsiteY229" fmla="*/ 674283 h 2317477"/>
              <a:gd name="connsiteX230" fmla="*/ 5740271 w 12201591"/>
              <a:gd name="connsiteY230" fmla="*/ 605664 h 2317477"/>
              <a:gd name="connsiteX231" fmla="*/ 5740271 w 12201591"/>
              <a:gd name="connsiteY231" fmla="*/ 554836 h 2317477"/>
              <a:gd name="connsiteX232" fmla="*/ 5792794 w 12201591"/>
              <a:gd name="connsiteY232" fmla="*/ 568390 h 2317477"/>
              <a:gd name="connsiteX233" fmla="*/ 5830916 w 12201591"/>
              <a:gd name="connsiteY233" fmla="*/ 609053 h 2317477"/>
              <a:gd name="connsiteX234" fmla="*/ 5853560 w 12201591"/>
              <a:gd name="connsiteY234" fmla="*/ 619812 h 2317477"/>
              <a:gd name="connsiteX235" fmla="*/ 5883438 w 12201591"/>
              <a:gd name="connsiteY235" fmla="*/ 590416 h 2317477"/>
              <a:gd name="connsiteX236" fmla="*/ 5871578 w 12201591"/>
              <a:gd name="connsiteY236" fmla="*/ 521797 h 2317477"/>
              <a:gd name="connsiteX237" fmla="*/ 5892757 w 12201591"/>
              <a:gd name="connsiteY237" fmla="*/ 496382 h 2317477"/>
              <a:gd name="connsiteX238" fmla="*/ 5924102 w 12201591"/>
              <a:gd name="connsiteY238" fmla="*/ 458261 h 2317477"/>
              <a:gd name="connsiteX239" fmla="*/ 5947822 w 12201591"/>
              <a:gd name="connsiteY239" fmla="*/ 344743 h 2317477"/>
              <a:gd name="connsiteX240" fmla="*/ 5971542 w 12201591"/>
              <a:gd name="connsiteY240" fmla="*/ 327800 h 2317477"/>
              <a:gd name="connsiteX241" fmla="*/ 5983402 w 12201591"/>
              <a:gd name="connsiteY241" fmla="*/ 350673 h 2317477"/>
              <a:gd name="connsiteX242" fmla="*/ 6007969 w 12201591"/>
              <a:gd name="connsiteY242" fmla="*/ 435388 h 2317477"/>
              <a:gd name="connsiteX243" fmla="*/ 6019829 w 12201591"/>
              <a:gd name="connsiteY243" fmla="*/ 604817 h 2317477"/>
              <a:gd name="connsiteX244" fmla="*/ 6037619 w 12201591"/>
              <a:gd name="connsiteY244" fmla="*/ 719182 h 2317477"/>
              <a:gd name="connsiteX245" fmla="*/ 6194342 w 12201591"/>
              <a:gd name="connsiteY245" fmla="*/ 983492 h 2317477"/>
              <a:gd name="connsiteX246" fmla="*/ 6313789 w 12201591"/>
              <a:gd name="connsiteY246" fmla="*/ 1357931 h 2317477"/>
              <a:gd name="connsiteX247" fmla="*/ 6338357 w 12201591"/>
              <a:gd name="connsiteY247" fmla="*/ 1625630 h 2317477"/>
              <a:gd name="connsiteX248" fmla="*/ 6313789 w 12201591"/>
              <a:gd name="connsiteY248" fmla="*/ 1899258 h 2317477"/>
              <a:gd name="connsiteX249" fmla="*/ 6313789 w 12201591"/>
              <a:gd name="connsiteY249" fmla="*/ 2028025 h 2317477"/>
              <a:gd name="connsiteX250" fmla="*/ 6382408 w 12201591"/>
              <a:gd name="connsiteY250" fmla="*/ 1943310 h 2317477"/>
              <a:gd name="connsiteX251" fmla="*/ 6520494 w 12201591"/>
              <a:gd name="connsiteY251" fmla="*/ 1618853 h 2317477"/>
              <a:gd name="connsiteX252" fmla="*/ 6528965 w 12201591"/>
              <a:gd name="connsiteY252" fmla="*/ 1568871 h 2317477"/>
              <a:gd name="connsiteX253" fmla="*/ 6552685 w 12201591"/>
              <a:gd name="connsiteY253" fmla="*/ 1275758 h 2317477"/>
              <a:gd name="connsiteX254" fmla="*/ 6519646 w 12201591"/>
              <a:gd name="connsiteY254" fmla="*/ 1033473 h 2317477"/>
              <a:gd name="connsiteX255" fmla="*/ 6479830 w 12201591"/>
              <a:gd name="connsiteY255" fmla="*/ 831853 h 2317477"/>
              <a:gd name="connsiteX256" fmla="*/ 6501856 w 12201591"/>
              <a:gd name="connsiteY256" fmla="*/ 789495 h 2317477"/>
              <a:gd name="connsiteX257" fmla="*/ 6530659 w 12201591"/>
              <a:gd name="connsiteY257" fmla="*/ 824229 h 2317477"/>
              <a:gd name="connsiteX258" fmla="*/ 6557768 w 12201591"/>
              <a:gd name="connsiteY258" fmla="*/ 858961 h 2317477"/>
              <a:gd name="connsiteX259" fmla="*/ 6589960 w 12201591"/>
              <a:gd name="connsiteY259" fmla="*/ 793731 h 2317477"/>
              <a:gd name="connsiteX260" fmla="*/ 6612832 w 12201591"/>
              <a:gd name="connsiteY260" fmla="*/ 769164 h 2317477"/>
              <a:gd name="connsiteX261" fmla="*/ 6627234 w 12201591"/>
              <a:gd name="connsiteY261" fmla="*/ 806439 h 2317477"/>
              <a:gd name="connsiteX262" fmla="*/ 6611986 w 12201591"/>
              <a:gd name="connsiteY262" fmla="*/ 923345 h 2317477"/>
              <a:gd name="connsiteX263" fmla="*/ 6665356 w 12201591"/>
              <a:gd name="connsiteY263" fmla="*/ 872516 h 2317477"/>
              <a:gd name="connsiteX264" fmla="*/ 6705172 w 12201591"/>
              <a:gd name="connsiteY264" fmla="*/ 884376 h 2317477"/>
              <a:gd name="connsiteX265" fmla="*/ 6676368 w 12201591"/>
              <a:gd name="connsiteY265" fmla="*/ 913179 h 2317477"/>
              <a:gd name="connsiteX266" fmla="*/ 6714490 w 12201591"/>
              <a:gd name="connsiteY266" fmla="*/ 969937 h 2317477"/>
              <a:gd name="connsiteX267" fmla="*/ 6695853 w 12201591"/>
              <a:gd name="connsiteY267" fmla="*/ 1111411 h 2317477"/>
              <a:gd name="connsiteX268" fmla="*/ 6702630 w 12201591"/>
              <a:gd name="connsiteY268" fmla="*/ 1171559 h 2317477"/>
              <a:gd name="connsiteX269" fmla="*/ 6728892 w 12201591"/>
              <a:gd name="connsiteY269" fmla="*/ 1540068 h 2317477"/>
              <a:gd name="connsiteX270" fmla="*/ 6735669 w 12201591"/>
              <a:gd name="connsiteY270" fmla="*/ 1563788 h 2317477"/>
              <a:gd name="connsiteX271" fmla="*/ 6753459 w 12201591"/>
              <a:gd name="connsiteY271" fmla="*/ 1554469 h 2317477"/>
              <a:gd name="connsiteX272" fmla="*/ 6981342 w 12201591"/>
              <a:gd name="connsiteY272" fmla="*/ 1374874 h 2317477"/>
              <a:gd name="connsiteX273" fmla="*/ 6981342 w 12201591"/>
              <a:gd name="connsiteY273" fmla="*/ 1310491 h 2317477"/>
              <a:gd name="connsiteX274" fmla="*/ 6954233 w 12201591"/>
              <a:gd name="connsiteY274" fmla="*/ 1286771 h 2317477"/>
              <a:gd name="connsiteX275" fmla="*/ 6948303 w 12201591"/>
              <a:gd name="connsiteY275" fmla="*/ 1252885 h 2317477"/>
              <a:gd name="connsiteX276" fmla="*/ 6983036 w 12201591"/>
              <a:gd name="connsiteY276" fmla="*/ 1247802 h 2317477"/>
              <a:gd name="connsiteX277" fmla="*/ 7041489 w 12201591"/>
              <a:gd name="connsiteY277" fmla="*/ 1204598 h 2317477"/>
              <a:gd name="connsiteX278" fmla="*/ 7048266 w 12201591"/>
              <a:gd name="connsiteY278" fmla="*/ 1189349 h 2317477"/>
              <a:gd name="connsiteX279" fmla="*/ 7039795 w 12201591"/>
              <a:gd name="connsiteY279" fmla="*/ 1133437 h 2317477"/>
              <a:gd name="connsiteX280" fmla="*/ 6955080 w 12201591"/>
              <a:gd name="connsiteY280" fmla="*/ 1002977 h 2317477"/>
              <a:gd name="connsiteX281" fmla="*/ 6897474 w 12201591"/>
              <a:gd name="connsiteY281" fmla="*/ 887765 h 2317477"/>
              <a:gd name="connsiteX282" fmla="*/ 6897474 w 12201591"/>
              <a:gd name="connsiteY282" fmla="*/ 870821 h 2317477"/>
              <a:gd name="connsiteX283" fmla="*/ 6921194 w 12201591"/>
              <a:gd name="connsiteY283" fmla="*/ 865739 h 2317477"/>
              <a:gd name="connsiteX284" fmla="*/ 6975411 w 12201591"/>
              <a:gd name="connsiteY284" fmla="*/ 836935 h 2317477"/>
              <a:gd name="connsiteX285" fmla="*/ 6982189 w 12201591"/>
              <a:gd name="connsiteY285" fmla="*/ 825923 h 2317477"/>
              <a:gd name="connsiteX286" fmla="*/ 7005909 w 12201591"/>
              <a:gd name="connsiteY286" fmla="*/ 836935 h 2317477"/>
              <a:gd name="connsiteX287" fmla="*/ 7045725 w 12201591"/>
              <a:gd name="connsiteY287" fmla="*/ 915720 h 2317477"/>
              <a:gd name="connsiteX288" fmla="*/ 7154159 w 12201591"/>
              <a:gd name="connsiteY288" fmla="*/ 1073289 h 2317477"/>
              <a:gd name="connsiteX289" fmla="*/ 7187198 w 12201591"/>
              <a:gd name="connsiteY289" fmla="*/ 1086844 h 2317477"/>
              <a:gd name="connsiteX290" fmla="*/ 7225320 w 12201591"/>
              <a:gd name="connsiteY290" fmla="*/ 1124119 h 2317477"/>
              <a:gd name="connsiteX291" fmla="*/ 7243110 w 12201591"/>
              <a:gd name="connsiteY291" fmla="*/ 1148686 h 2317477"/>
              <a:gd name="connsiteX292" fmla="*/ 7423552 w 12201591"/>
              <a:gd name="connsiteY292" fmla="*/ 1257121 h 2317477"/>
              <a:gd name="connsiteX293" fmla="*/ 7454897 w 12201591"/>
              <a:gd name="connsiteY293" fmla="*/ 1244414 h 2317477"/>
              <a:gd name="connsiteX294" fmla="*/ 7594676 w 12201591"/>
              <a:gd name="connsiteY294" fmla="*/ 858114 h 2317477"/>
              <a:gd name="connsiteX295" fmla="*/ 7642117 w 12201591"/>
              <a:gd name="connsiteY295" fmla="*/ 688684 h 2317477"/>
              <a:gd name="connsiteX296" fmla="*/ 7661601 w 12201591"/>
              <a:gd name="connsiteY296" fmla="*/ 676824 h 2317477"/>
              <a:gd name="connsiteX297" fmla="*/ 7682780 w 12201591"/>
              <a:gd name="connsiteY297" fmla="*/ 714099 h 2317477"/>
              <a:gd name="connsiteX298" fmla="*/ 7682780 w 12201591"/>
              <a:gd name="connsiteY298" fmla="*/ 758998 h 2317477"/>
              <a:gd name="connsiteX299" fmla="*/ 7742927 w 12201591"/>
              <a:gd name="connsiteY299" fmla="*/ 679366 h 2317477"/>
              <a:gd name="connsiteX300" fmla="*/ 7762411 w 12201591"/>
              <a:gd name="connsiteY300" fmla="*/ 647174 h 2317477"/>
              <a:gd name="connsiteX301" fmla="*/ 7803075 w 12201591"/>
              <a:gd name="connsiteY301" fmla="*/ 622607 h 2317477"/>
              <a:gd name="connsiteX302" fmla="*/ 7815782 w 12201591"/>
              <a:gd name="connsiteY302" fmla="*/ 668353 h 2317477"/>
              <a:gd name="connsiteX303" fmla="*/ 7815782 w 12201591"/>
              <a:gd name="connsiteY303" fmla="*/ 736125 h 2317477"/>
              <a:gd name="connsiteX304" fmla="*/ 7799686 w 12201591"/>
              <a:gd name="connsiteY304" fmla="*/ 775941 h 2317477"/>
              <a:gd name="connsiteX305" fmla="*/ 7709889 w 12201591"/>
              <a:gd name="connsiteY305" fmla="*/ 936899 h 2317477"/>
              <a:gd name="connsiteX306" fmla="*/ 7709889 w 12201591"/>
              <a:gd name="connsiteY306" fmla="*/ 995352 h 2317477"/>
              <a:gd name="connsiteX307" fmla="*/ 7660754 w 12201591"/>
              <a:gd name="connsiteY307" fmla="*/ 1184266 h 2317477"/>
              <a:gd name="connsiteX308" fmla="*/ 7592135 w 12201591"/>
              <a:gd name="connsiteY308" fmla="*/ 1308796 h 2317477"/>
              <a:gd name="connsiteX309" fmla="*/ 7611619 w 12201591"/>
              <a:gd name="connsiteY309" fmla="*/ 1337600 h 2317477"/>
              <a:gd name="connsiteX310" fmla="*/ 7893719 w 12201591"/>
              <a:gd name="connsiteY310" fmla="*/ 1342682 h 2317477"/>
              <a:gd name="connsiteX311" fmla="*/ 8008084 w 12201591"/>
              <a:gd name="connsiteY311" fmla="*/ 1351154 h 2317477"/>
              <a:gd name="connsiteX312" fmla="*/ 8052983 w 12201591"/>
              <a:gd name="connsiteY312" fmla="*/ 1351154 h 2317477"/>
              <a:gd name="connsiteX313" fmla="*/ 8071620 w 12201591"/>
              <a:gd name="connsiteY313" fmla="*/ 1302020 h 2317477"/>
              <a:gd name="connsiteX314" fmla="*/ 7975893 w 12201591"/>
              <a:gd name="connsiteY314" fmla="*/ 1111411 h 2317477"/>
              <a:gd name="connsiteX315" fmla="*/ 7969115 w 12201591"/>
              <a:gd name="connsiteY315" fmla="*/ 1090233 h 2317477"/>
              <a:gd name="connsiteX316" fmla="*/ 7923369 w 12201591"/>
              <a:gd name="connsiteY316" fmla="*/ 909790 h 2317477"/>
              <a:gd name="connsiteX317" fmla="*/ 7923369 w 12201591"/>
              <a:gd name="connsiteY317" fmla="*/ 865739 h 2317477"/>
              <a:gd name="connsiteX318" fmla="*/ 7947937 w 12201591"/>
              <a:gd name="connsiteY318" fmla="*/ 890306 h 2317477"/>
              <a:gd name="connsiteX319" fmla="*/ 8008084 w 12201591"/>
              <a:gd name="connsiteY319" fmla="*/ 990269 h 2317477"/>
              <a:gd name="connsiteX320" fmla="*/ 8008084 w 12201591"/>
              <a:gd name="connsiteY320" fmla="*/ 956383 h 2317477"/>
              <a:gd name="connsiteX321" fmla="*/ 7960644 w 12201591"/>
              <a:gd name="connsiteY321" fmla="*/ 811521 h 2317477"/>
              <a:gd name="connsiteX322" fmla="*/ 7960644 w 12201591"/>
              <a:gd name="connsiteY322" fmla="*/ 765775 h 2317477"/>
              <a:gd name="connsiteX323" fmla="*/ 7992835 w 12201591"/>
              <a:gd name="connsiteY323" fmla="*/ 795425 h 2317477"/>
              <a:gd name="connsiteX324" fmla="*/ 8007237 w 12201591"/>
              <a:gd name="connsiteY324" fmla="*/ 812369 h 2317477"/>
              <a:gd name="connsiteX325" fmla="*/ 8001307 w 12201591"/>
              <a:gd name="connsiteY325" fmla="*/ 775094 h 2317477"/>
              <a:gd name="connsiteX326" fmla="*/ 7994530 w 12201591"/>
              <a:gd name="connsiteY326" fmla="*/ 748832 h 2317477"/>
              <a:gd name="connsiteX327" fmla="*/ 7994530 w 12201591"/>
              <a:gd name="connsiteY327" fmla="*/ 701392 h 2317477"/>
              <a:gd name="connsiteX328" fmla="*/ 8064843 w 12201591"/>
              <a:gd name="connsiteY328" fmla="*/ 719182 h 2317477"/>
              <a:gd name="connsiteX329" fmla="*/ 8126685 w 12201591"/>
              <a:gd name="connsiteY329" fmla="*/ 888611 h 2317477"/>
              <a:gd name="connsiteX330" fmla="*/ 8158876 w 12201591"/>
              <a:gd name="connsiteY330" fmla="*/ 905555 h 2317477"/>
              <a:gd name="connsiteX331" fmla="*/ 8318140 w 12201591"/>
              <a:gd name="connsiteY331" fmla="*/ 922497 h 2317477"/>
              <a:gd name="connsiteX332" fmla="*/ 8346943 w 12201591"/>
              <a:gd name="connsiteY332" fmla="*/ 994505 h 2317477"/>
              <a:gd name="connsiteX333" fmla="*/ 8360498 w 12201591"/>
              <a:gd name="connsiteY333" fmla="*/ 1067359 h 2317477"/>
              <a:gd name="connsiteX334" fmla="*/ 8387606 w 12201591"/>
              <a:gd name="connsiteY334" fmla="*/ 1205445 h 2317477"/>
              <a:gd name="connsiteX335" fmla="*/ 8374899 w 12201591"/>
              <a:gd name="connsiteY335" fmla="*/ 1315574 h 2317477"/>
              <a:gd name="connsiteX336" fmla="*/ 8400314 w 12201591"/>
              <a:gd name="connsiteY336" fmla="*/ 1329975 h 2317477"/>
              <a:gd name="connsiteX337" fmla="*/ 8427422 w 12201591"/>
              <a:gd name="connsiteY337" fmla="*/ 1338447 h 2317477"/>
              <a:gd name="connsiteX338" fmla="*/ 8501971 w 12201591"/>
              <a:gd name="connsiteY338" fmla="*/ 1321504 h 2317477"/>
              <a:gd name="connsiteX339" fmla="*/ 8620572 w 12201591"/>
              <a:gd name="connsiteY339" fmla="*/ 1327434 h 2317477"/>
              <a:gd name="connsiteX340" fmla="*/ 8642597 w 12201591"/>
              <a:gd name="connsiteY340" fmla="*/ 1285924 h 2317477"/>
              <a:gd name="connsiteX341" fmla="*/ 8613794 w 12201591"/>
              <a:gd name="connsiteY341" fmla="*/ 1165629 h 2317477"/>
              <a:gd name="connsiteX342" fmla="*/ 8624807 w 12201591"/>
              <a:gd name="connsiteY342" fmla="*/ 1067359 h 2317477"/>
              <a:gd name="connsiteX343" fmla="*/ 8634973 w 12201591"/>
              <a:gd name="connsiteY343" fmla="*/ 1006365 h 2317477"/>
              <a:gd name="connsiteX344" fmla="*/ 8640903 w 12201591"/>
              <a:gd name="connsiteY344" fmla="*/ 983492 h 2317477"/>
              <a:gd name="connsiteX345" fmla="*/ 8642512 w 12201591"/>
              <a:gd name="connsiteY345" fmla="*/ 982899 h 2317477"/>
              <a:gd name="connsiteX346" fmla="*/ 8668012 w 12201591"/>
              <a:gd name="connsiteY346" fmla="*/ 996199 h 2317477"/>
              <a:gd name="connsiteX347" fmla="*/ 8705286 w 12201591"/>
              <a:gd name="connsiteY347" fmla="*/ 1095315 h 2317477"/>
              <a:gd name="connsiteX348" fmla="*/ 8745102 w 12201591"/>
              <a:gd name="connsiteY348" fmla="*/ 1131743 h 2317477"/>
              <a:gd name="connsiteX349" fmla="*/ 8768823 w 12201591"/>
              <a:gd name="connsiteY349" fmla="*/ 1140214 h 2317477"/>
              <a:gd name="connsiteX350" fmla="*/ 8755268 w 12201591"/>
              <a:gd name="connsiteY350" fmla="*/ 1166476 h 2317477"/>
              <a:gd name="connsiteX351" fmla="*/ 8762893 w 12201591"/>
              <a:gd name="connsiteY351" fmla="*/ 1227470 h 2317477"/>
              <a:gd name="connsiteX352" fmla="*/ 8824734 w 12201591"/>
              <a:gd name="connsiteY352" fmla="*/ 1222388 h 2317477"/>
              <a:gd name="connsiteX353" fmla="*/ 8861161 w 12201591"/>
              <a:gd name="connsiteY353" fmla="*/ 1170712 h 2317477"/>
              <a:gd name="connsiteX354" fmla="*/ 8895895 w 12201591"/>
              <a:gd name="connsiteY354" fmla="*/ 1158004 h 2317477"/>
              <a:gd name="connsiteX355" fmla="*/ 8909449 w 12201591"/>
              <a:gd name="connsiteY355" fmla="*/ 1196126 h 2317477"/>
              <a:gd name="connsiteX356" fmla="*/ 8909449 w 12201591"/>
              <a:gd name="connsiteY356" fmla="*/ 1227470 h 2317477"/>
              <a:gd name="connsiteX357" fmla="*/ 8943335 w 12201591"/>
              <a:gd name="connsiteY357" fmla="*/ 1217305 h 2317477"/>
              <a:gd name="connsiteX358" fmla="*/ 9239836 w 12201591"/>
              <a:gd name="connsiteY358" fmla="*/ 972479 h 2317477"/>
              <a:gd name="connsiteX359" fmla="*/ 9355048 w 12201591"/>
              <a:gd name="connsiteY359" fmla="*/ 860656 h 2317477"/>
              <a:gd name="connsiteX360" fmla="*/ 9446540 w 12201591"/>
              <a:gd name="connsiteY360" fmla="*/ 719182 h 2317477"/>
              <a:gd name="connsiteX361" fmla="*/ 9475343 w 12201591"/>
              <a:gd name="connsiteY361" fmla="*/ 694614 h 2317477"/>
              <a:gd name="connsiteX362" fmla="*/ 9475343 w 12201591"/>
              <a:gd name="connsiteY362" fmla="*/ 734430 h 2317477"/>
              <a:gd name="connsiteX363" fmla="*/ 9466872 w 12201591"/>
              <a:gd name="connsiteY363" fmla="*/ 775941 h 2317477"/>
              <a:gd name="connsiteX364" fmla="*/ 9510076 w 12201591"/>
              <a:gd name="connsiteY364" fmla="*/ 760692 h 2317477"/>
              <a:gd name="connsiteX365" fmla="*/ 9527866 w 12201591"/>
              <a:gd name="connsiteY365" fmla="*/ 744596 h 2317477"/>
              <a:gd name="connsiteX366" fmla="*/ 9528459 w 12201591"/>
              <a:gd name="connsiteY366" fmla="*/ 744003 h 2317477"/>
              <a:gd name="connsiteX367" fmla="*/ 9552434 w 12201591"/>
              <a:gd name="connsiteY367" fmla="*/ 744596 h 2317477"/>
              <a:gd name="connsiteX368" fmla="*/ 9552434 w 12201591"/>
              <a:gd name="connsiteY368" fmla="*/ 770011 h 2317477"/>
              <a:gd name="connsiteX369" fmla="*/ 9525325 w 12201591"/>
              <a:gd name="connsiteY369" fmla="*/ 796273 h 2317477"/>
              <a:gd name="connsiteX370" fmla="*/ 9504146 w 12201591"/>
              <a:gd name="connsiteY370" fmla="*/ 869127 h 2317477"/>
              <a:gd name="connsiteX371" fmla="*/ 9493133 w 12201591"/>
              <a:gd name="connsiteY371" fmla="*/ 927580 h 2317477"/>
              <a:gd name="connsiteX372" fmla="*/ 9493133 w 12201591"/>
              <a:gd name="connsiteY372" fmla="*/ 965702 h 2317477"/>
              <a:gd name="connsiteX373" fmla="*/ 9577848 w 12201591"/>
              <a:gd name="connsiteY373" fmla="*/ 1185113 h 2317477"/>
              <a:gd name="connsiteX374" fmla="*/ 9567683 w 12201591"/>
              <a:gd name="connsiteY374" fmla="*/ 1312185 h 2317477"/>
              <a:gd name="connsiteX375" fmla="*/ 9623594 w 12201591"/>
              <a:gd name="connsiteY375" fmla="*/ 1424856 h 2317477"/>
              <a:gd name="connsiteX376" fmla="*/ 9647314 w 12201591"/>
              <a:gd name="connsiteY376" fmla="*/ 1424856 h 2317477"/>
              <a:gd name="connsiteX377" fmla="*/ 9774386 w 12201591"/>
              <a:gd name="connsiteY377" fmla="*/ 1224082 h 2317477"/>
              <a:gd name="connsiteX378" fmla="*/ 9759985 w 12201591"/>
              <a:gd name="connsiteY378" fmla="*/ 1189349 h 2317477"/>
              <a:gd name="connsiteX379" fmla="*/ 9700685 w 12201591"/>
              <a:gd name="connsiteY379" fmla="*/ 1183419 h 2317477"/>
              <a:gd name="connsiteX380" fmla="*/ 9585473 w 12201591"/>
              <a:gd name="connsiteY380" fmla="*/ 1069901 h 2317477"/>
              <a:gd name="connsiteX381" fmla="*/ 9628677 w 12201591"/>
              <a:gd name="connsiteY381" fmla="*/ 1021613 h 2317477"/>
              <a:gd name="connsiteX382" fmla="*/ 9684589 w 12201591"/>
              <a:gd name="connsiteY382" fmla="*/ 951301 h 2317477"/>
              <a:gd name="connsiteX383" fmla="*/ 9718475 w 12201591"/>
              <a:gd name="connsiteY383" fmla="*/ 880140 h 2317477"/>
              <a:gd name="connsiteX384" fmla="*/ 9786246 w 12201591"/>
              <a:gd name="connsiteY384" fmla="*/ 1042792 h 2317477"/>
              <a:gd name="connsiteX385" fmla="*/ 9793871 w 12201591"/>
              <a:gd name="connsiteY385" fmla="*/ 1067359 h 2317477"/>
              <a:gd name="connsiteX386" fmla="*/ 9831145 w 12201591"/>
              <a:gd name="connsiteY386" fmla="*/ 1097857 h 2317477"/>
              <a:gd name="connsiteX387" fmla="*/ 9850629 w 12201591"/>
              <a:gd name="connsiteY387" fmla="*/ 1061429 h 2317477"/>
              <a:gd name="connsiteX388" fmla="*/ 9831145 w 12201591"/>
              <a:gd name="connsiteY388" fmla="*/ 959772 h 2317477"/>
              <a:gd name="connsiteX389" fmla="*/ 9858254 w 12201591"/>
              <a:gd name="connsiteY389" fmla="*/ 805591 h 2317477"/>
              <a:gd name="connsiteX390" fmla="*/ 9931109 w 12201591"/>
              <a:gd name="connsiteY390" fmla="*/ 626843 h 2317477"/>
              <a:gd name="connsiteX391" fmla="*/ 9931109 w 12201591"/>
              <a:gd name="connsiteY391" fmla="*/ 578556 h 2317477"/>
              <a:gd name="connsiteX392" fmla="*/ 9928906 w 12201591"/>
              <a:gd name="connsiteY392" fmla="*/ 575082 h 2317477"/>
              <a:gd name="connsiteX393" fmla="*/ 9942121 w 12201591"/>
              <a:gd name="connsiteY393" fmla="*/ 530268 h 2317477"/>
              <a:gd name="connsiteX394" fmla="*/ 9984479 w 12201591"/>
              <a:gd name="connsiteY394" fmla="*/ 549752 h 2317477"/>
              <a:gd name="connsiteX395" fmla="*/ 10069194 w 12201591"/>
              <a:gd name="connsiteY395" fmla="*/ 668353 h 2317477"/>
              <a:gd name="connsiteX396" fmla="*/ 10081901 w 12201591"/>
              <a:gd name="connsiteY396" fmla="*/ 595498 h 2317477"/>
              <a:gd name="connsiteX397" fmla="*/ 10103926 w 12201591"/>
              <a:gd name="connsiteY397" fmla="*/ 576014 h 2317477"/>
              <a:gd name="connsiteX398" fmla="*/ 10120870 w 12201591"/>
              <a:gd name="connsiteY398" fmla="*/ 595498 h 2317477"/>
              <a:gd name="connsiteX399" fmla="*/ 10177628 w 12201591"/>
              <a:gd name="connsiteY399" fmla="*/ 815757 h 2317477"/>
              <a:gd name="connsiteX400" fmla="*/ 10253872 w 12201591"/>
              <a:gd name="connsiteY400" fmla="*/ 1046181 h 2317477"/>
              <a:gd name="connsiteX401" fmla="*/ 10320796 w 12201591"/>
              <a:gd name="connsiteY401" fmla="*/ 1152922 h 2317477"/>
              <a:gd name="connsiteX402" fmla="*/ 10398734 w 12201591"/>
              <a:gd name="connsiteY402" fmla="*/ 1072443 h 2317477"/>
              <a:gd name="connsiteX403" fmla="*/ 10483449 w 12201591"/>
              <a:gd name="connsiteY403" fmla="*/ 1004671 h 2317477"/>
              <a:gd name="connsiteX404" fmla="*/ 10527500 w 12201591"/>
              <a:gd name="connsiteY404" fmla="*/ 897083 h 2317477"/>
              <a:gd name="connsiteX405" fmla="*/ 10527500 w 12201591"/>
              <a:gd name="connsiteY405" fmla="*/ 892000 h 2317477"/>
              <a:gd name="connsiteX406" fmla="*/ 10538513 w 12201591"/>
              <a:gd name="connsiteY406" fmla="*/ 840324 h 2317477"/>
              <a:gd name="connsiteX407" fmla="*/ 10574093 w 12201591"/>
              <a:gd name="connsiteY407" fmla="*/ 892000 h 2317477"/>
              <a:gd name="connsiteX408" fmla="*/ 10574093 w 12201591"/>
              <a:gd name="connsiteY408" fmla="*/ 908096 h 2317477"/>
              <a:gd name="connsiteX409" fmla="*/ 10574093 w 12201591"/>
              <a:gd name="connsiteY409" fmla="*/ 913179 h 2317477"/>
              <a:gd name="connsiteX410" fmla="*/ 10587648 w 12201591"/>
              <a:gd name="connsiteY410" fmla="*/ 881835 h 2317477"/>
              <a:gd name="connsiteX411" fmla="*/ 10639323 w 12201591"/>
              <a:gd name="connsiteY411" fmla="*/ 594652 h 2317477"/>
              <a:gd name="connsiteX412" fmla="*/ 10852805 w 12201591"/>
              <a:gd name="connsiteY412" fmla="*/ 434540 h 2317477"/>
              <a:gd name="connsiteX413" fmla="*/ 10907022 w 12201591"/>
              <a:gd name="connsiteY413" fmla="*/ 459108 h 2317477"/>
              <a:gd name="connsiteX414" fmla="*/ 11029858 w 12201591"/>
              <a:gd name="connsiteY414" fmla="*/ 722570 h 2317477"/>
              <a:gd name="connsiteX415" fmla="*/ 11035789 w 12201591"/>
              <a:gd name="connsiteY415" fmla="*/ 807285 h 2317477"/>
              <a:gd name="connsiteX416" fmla="*/ 11086617 w 12201591"/>
              <a:gd name="connsiteY416" fmla="*/ 816604 h 2317477"/>
              <a:gd name="connsiteX417" fmla="*/ 11105254 w 12201591"/>
              <a:gd name="connsiteY417" fmla="*/ 843713 h 2317477"/>
              <a:gd name="connsiteX418" fmla="*/ 11096784 w 12201591"/>
              <a:gd name="connsiteY418" fmla="*/ 804744 h 2317477"/>
              <a:gd name="connsiteX419" fmla="*/ 11090006 w 12201591"/>
              <a:gd name="connsiteY419" fmla="*/ 777635 h 2317477"/>
              <a:gd name="connsiteX420" fmla="*/ 11095936 w 12201591"/>
              <a:gd name="connsiteY420" fmla="*/ 731889 h 2317477"/>
              <a:gd name="connsiteX421" fmla="*/ 11158625 w 12201591"/>
              <a:gd name="connsiteY421" fmla="*/ 749679 h 2317477"/>
              <a:gd name="connsiteX422" fmla="*/ 11225549 w 12201591"/>
              <a:gd name="connsiteY422" fmla="*/ 933511 h 2317477"/>
              <a:gd name="connsiteX423" fmla="*/ 11241645 w 12201591"/>
              <a:gd name="connsiteY423" fmla="*/ 964855 h 2317477"/>
              <a:gd name="connsiteX424" fmla="*/ 11267060 w 12201591"/>
              <a:gd name="connsiteY424" fmla="*/ 942829 h 2317477"/>
              <a:gd name="connsiteX425" fmla="*/ 11488165 w 12201591"/>
              <a:gd name="connsiteY425" fmla="*/ 629384 h 2317477"/>
              <a:gd name="connsiteX426" fmla="*/ 11591518 w 12201591"/>
              <a:gd name="connsiteY426" fmla="*/ 365921 h 2317477"/>
              <a:gd name="connsiteX427" fmla="*/ 11591518 w 12201591"/>
              <a:gd name="connsiteY427" fmla="*/ 324411 h 2317477"/>
              <a:gd name="connsiteX428" fmla="*/ 11591518 w 12201591"/>
              <a:gd name="connsiteY428" fmla="*/ 285443 h 2317477"/>
              <a:gd name="connsiteX429" fmla="*/ 11622862 w 12201591"/>
              <a:gd name="connsiteY429" fmla="*/ 303233 h 2317477"/>
              <a:gd name="connsiteX430" fmla="*/ 11647430 w 12201591"/>
              <a:gd name="connsiteY430" fmla="*/ 292219 h 2317477"/>
              <a:gd name="connsiteX431" fmla="*/ 11662678 w 12201591"/>
              <a:gd name="connsiteY431" fmla="*/ 207505 h 2317477"/>
              <a:gd name="connsiteX432" fmla="*/ 11682162 w 12201591"/>
              <a:gd name="connsiteY432" fmla="*/ 165995 h 2317477"/>
              <a:gd name="connsiteX433" fmla="*/ 11707576 w 12201591"/>
              <a:gd name="connsiteY433" fmla="*/ 202422 h 2317477"/>
              <a:gd name="connsiteX434" fmla="*/ 11729603 w 12201591"/>
              <a:gd name="connsiteY434" fmla="*/ 428610 h 2317477"/>
              <a:gd name="connsiteX435" fmla="*/ 11766030 w 12201591"/>
              <a:gd name="connsiteY435" fmla="*/ 215129 h 2317477"/>
              <a:gd name="connsiteX436" fmla="*/ 11781279 w 12201591"/>
              <a:gd name="connsiteY436" fmla="*/ 175313 h 2317477"/>
              <a:gd name="connsiteX437" fmla="*/ 11806692 w 12201591"/>
              <a:gd name="connsiteY437" fmla="*/ 210047 h 2317477"/>
              <a:gd name="connsiteX438" fmla="*/ 11815164 w 12201591"/>
              <a:gd name="connsiteY438" fmla="*/ 260028 h 2317477"/>
              <a:gd name="connsiteX439" fmla="*/ 11841426 w 12201591"/>
              <a:gd name="connsiteY439" fmla="*/ 175313 h 2317477"/>
              <a:gd name="connsiteX440" fmla="*/ 11855827 w 12201591"/>
              <a:gd name="connsiteY440" fmla="*/ 159217 h 2317477"/>
              <a:gd name="connsiteX441" fmla="*/ 11871076 w 12201591"/>
              <a:gd name="connsiteY441" fmla="*/ 177855 h 2317477"/>
              <a:gd name="connsiteX442" fmla="*/ 11871076 w 12201591"/>
              <a:gd name="connsiteY442" fmla="*/ 267653 h 2317477"/>
              <a:gd name="connsiteX443" fmla="*/ 11889714 w 12201591"/>
              <a:gd name="connsiteY443" fmla="*/ 226989 h 2317477"/>
              <a:gd name="connsiteX444" fmla="*/ 11911739 w 12201591"/>
              <a:gd name="connsiteY444" fmla="*/ 205811 h 2317477"/>
              <a:gd name="connsiteX445" fmla="*/ 11926987 w 12201591"/>
              <a:gd name="connsiteY445" fmla="*/ 234614 h 2317477"/>
              <a:gd name="connsiteX446" fmla="*/ 11941390 w 12201591"/>
              <a:gd name="connsiteY446" fmla="*/ 279513 h 2317477"/>
              <a:gd name="connsiteX447" fmla="*/ 11941390 w 12201591"/>
              <a:gd name="connsiteY447" fmla="*/ 348131 h 2317477"/>
              <a:gd name="connsiteX448" fmla="*/ 11877006 w 12201591"/>
              <a:gd name="connsiteY448" fmla="*/ 551447 h 2317477"/>
              <a:gd name="connsiteX449" fmla="*/ 11899879 w 12201591"/>
              <a:gd name="connsiteY449" fmla="*/ 697156 h 2317477"/>
              <a:gd name="connsiteX450" fmla="*/ 12077781 w 12201591"/>
              <a:gd name="connsiteY450" fmla="*/ 927580 h 2317477"/>
              <a:gd name="connsiteX451" fmla="*/ 12198922 w 12201591"/>
              <a:gd name="connsiteY451" fmla="*/ 1117341 h 2317477"/>
              <a:gd name="connsiteX452" fmla="*/ 12198922 w 12201591"/>
              <a:gd name="connsiteY452" fmla="*/ 1163934 h 2317477"/>
              <a:gd name="connsiteX453" fmla="*/ 12198922 w 12201591"/>
              <a:gd name="connsiteY453" fmla="*/ 2151267 h 2317477"/>
              <a:gd name="connsiteX454" fmla="*/ 12198922 w 12201591"/>
              <a:gd name="connsiteY454" fmla="*/ 2317477 h 2317477"/>
              <a:gd name="connsiteX455" fmla="*/ 6833098 w 12201591"/>
              <a:gd name="connsiteY455" fmla="*/ 2317477 h 2317477"/>
              <a:gd name="connsiteX456" fmla="*/ 6833091 w 12201591"/>
              <a:gd name="connsiteY456" fmla="*/ 2316903 h 2317477"/>
              <a:gd name="connsiteX457" fmla="*/ 6731433 w 12201591"/>
              <a:gd name="connsiteY457" fmla="*/ 2093255 h 2317477"/>
              <a:gd name="connsiteX458" fmla="*/ 6712711 w 12201591"/>
              <a:gd name="connsiteY458" fmla="*/ 2311680 h 2317477"/>
              <a:gd name="connsiteX459" fmla="*/ 6709294 w 12201591"/>
              <a:gd name="connsiteY459" fmla="*/ 2317477 h 2317477"/>
              <a:gd name="connsiteX460" fmla="*/ 1784936 w 12201591"/>
              <a:gd name="connsiteY460" fmla="*/ 2317477 h 2317477"/>
              <a:gd name="connsiteX461" fmla="*/ 1803577 w 12201591"/>
              <a:gd name="connsiteY461" fmla="*/ 2311819 h 2317477"/>
              <a:gd name="connsiteX462" fmla="*/ 1778162 w 12201591"/>
              <a:gd name="connsiteY462" fmla="*/ 2264379 h 2317477"/>
              <a:gd name="connsiteX463" fmla="*/ 1762067 w 12201591"/>
              <a:gd name="connsiteY463" fmla="*/ 2308431 h 2317477"/>
              <a:gd name="connsiteX464" fmla="*/ 1780441 w 12201591"/>
              <a:gd name="connsiteY464" fmla="*/ 2317477 h 2317477"/>
              <a:gd name="connsiteX465" fmla="*/ 1247923 w 12201591"/>
              <a:gd name="connsiteY465" fmla="*/ 2317477 h 2317477"/>
              <a:gd name="connsiteX466" fmla="*/ 1269874 w 12201591"/>
              <a:gd name="connsiteY466" fmla="*/ 2300171 h 2317477"/>
              <a:gd name="connsiteX467" fmla="*/ 1291900 w 12201591"/>
              <a:gd name="connsiteY467" fmla="*/ 2248283 h 2317477"/>
              <a:gd name="connsiteX468" fmla="*/ 1261403 w 12201591"/>
              <a:gd name="connsiteY468" fmla="*/ 2131377 h 2317477"/>
              <a:gd name="connsiteX469" fmla="*/ 1209726 w 12201591"/>
              <a:gd name="connsiteY469" fmla="*/ 2074618 h 2317477"/>
              <a:gd name="connsiteX470" fmla="*/ 1209726 w 12201591"/>
              <a:gd name="connsiteY470" fmla="*/ 2304195 h 2317477"/>
              <a:gd name="connsiteX471" fmla="*/ 1209413 w 12201591"/>
              <a:gd name="connsiteY471" fmla="*/ 2317477 h 2317477"/>
              <a:gd name="connsiteX472" fmla="*/ 0 w 12201591"/>
              <a:gd name="connsiteY472" fmla="*/ 2317477 h 2317477"/>
              <a:gd name="connsiteX473" fmla="*/ 0 w 12201591"/>
              <a:gd name="connsiteY473" fmla="*/ 662423 h 2317477"/>
              <a:gd name="connsiteX474" fmla="*/ 84715 w 12201591"/>
              <a:gd name="connsiteY474" fmla="*/ 559918 h 2317477"/>
              <a:gd name="connsiteX475" fmla="*/ 121989 w 12201591"/>
              <a:gd name="connsiteY475" fmla="*/ 503160 h 2317477"/>
              <a:gd name="connsiteX476" fmla="*/ 121989 w 12201591"/>
              <a:gd name="connsiteY476" fmla="*/ 390489 h 2317477"/>
              <a:gd name="connsiteX477" fmla="*/ 127072 w 12201591"/>
              <a:gd name="connsiteY477" fmla="*/ 258334 h 2317477"/>
              <a:gd name="connsiteX478" fmla="*/ 220258 w 12201591"/>
              <a:gd name="connsiteY478" fmla="*/ 45700 h 2317477"/>
              <a:gd name="connsiteX479" fmla="*/ 273448 w 12201591"/>
              <a:gd name="connsiteY479" fmla="*/ 618 h 2317477"/>
              <a:gd name="connsiteX480" fmla="*/ 325305 w 12201591"/>
              <a:gd name="connsiteY480" fmla="*/ 1380804 h 2317477"/>
              <a:gd name="connsiteX481" fmla="*/ 325305 w 12201591"/>
              <a:gd name="connsiteY481" fmla="*/ 1446034 h 2317477"/>
              <a:gd name="connsiteX482" fmla="*/ 325305 w 12201591"/>
              <a:gd name="connsiteY482" fmla="*/ 1380804 h 2317477"/>
              <a:gd name="connsiteX483" fmla="*/ 11688092 w 12201591"/>
              <a:gd name="connsiteY483" fmla="*/ 608206 h 2317477"/>
              <a:gd name="connsiteX484" fmla="*/ 11540688 w 12201591"/>
              <a:gd name="connsiteY484" fmla="*/ 803897 h 2317477"/>
              <a:gd name="connsiteX485" fmla="*/ 11393285 w 12201591"/>
              <a:gd name="connsiteY485" fmla="*/ 1215610 h 2317477"/>
              <a:gd name="connsiteX486" fmla="*/ 11391083 w 12201591"/>
              <a:gd name="connsiteY486" fmla="*/ 1221964 h 2317477"/>
              <a:gd name="connsiteX487" fmla="*/ 11409380 w 12201591"/>
              <a:gd name="connsiteY487" fmla="*/ 1248649 h 2317477"/>
              <a:gd name="connsiteX488" fmla="*/ 11457668 w 12201591"/>
              <a:gd name="connsiteY488" fmla="*/ 1267286 h 2317477"/>
              <a:gd name="connsiteX489" fmla="*/ 11457668 w 12201591"/>
              <a:gd name="connsiteY489" fmla="*/ 1207986 h 2317477"/>
              <a:gd name="connsiteX490" fmla="*/ 11456905 w 12201591"/>
              <a:gd name="connsiteY490" fmla="*/ 1201972 h 2317477"/>
              <a:gd name="connsiteX491" fmla="*/ 11607614 w 12201591"/>
              <a:gd name="connsiteY491" fmla="*/ 1015683 h 2317477"/>
              <a:gd name="connsiteX492" fmla="*/ 11699952 w 12201591"/>
              <a:gd name="connsiteY492" fmla="*/ 1004671 h 2317477"/>
              <a:gd name="connsiteX493" fmla="*/ 11821942 w 12201591"/>
              <a:gd name="connsiteY493" fmla="*/ 939441 h 2317477"/>
              <a:gd name="connsiteX494" fmla="*/ 11821942 w 12201591"/>
              <a:gd name="connsiteY494" fmla="*/ 936052 h 2317477"/>
              <a:gd name="connsiteX495" fmla="*/ 11829566 w 12201591"/>
              <a:gd name="connsiteY495" fmla="*/ 832700 h 2317477"/>
              <a:gd name="connsiteX496" fmla="*/ 11688092 w 12201591"/>
              <a:gd name="connsiteY496" fmla="*/ 608206 h 2317477"/>
              <a:gd name="connsiteX497" fmla="*/ 11908244 w 12201591"/>
              <a:gd name="connsiteY497" fmla="*/ 1054440 h 2317477"/>
              <a:gd name="connsiteX498" fmla="*/ 11888866 w 12201591"/>
              <a:gd name="connsiteY498" fmla="*/ 1055499 h 2317477"/>
              <a:gd name="connsiteX499" fmla="*/ 11883783 w 12201591"/>
              <a:gd name="connsiteY499" fmla="*/ 1088538 h 2317477"/>
              <a:gd name="connsiteX500" fmla="*/ 11925294 w 12201591"/>
              <a:gd name="connsiteY500" fmla="*/ 1374027 h 2317477"/>
              <a:gd name="connsiteX501" fmla="*/ 11863451 w 12201591"/>
              <a:gd name="connsiteY501" fmla="*/ 1554469 h 2317477"/>
              <a:gd name="connsiteX502" fmla="*/ 11924446 w 12201591"/>
              <a:gd name="connsiteY502" fmla="*/ 1673917 h 2317477"/>
              <a:gd name="connsiteX503" fmla="*/ 12031187 w 12201591"/>
              <a:gd name="connsiteY503" fmla="*/ 1377416 h 2317477"/>
              <a:gd name="connsiteX504" fmla="*/ 12029493 w 12201591"/>
              <a:gd name="connsiteY504" fmla="*/ 1374027 h 2317477"/>
              <a:gd name="connsiteX505" fmla="*/ 12031187 w 12201591"/>
              <a:gd name="connsiteY505" fmla="*/ 1346071 h 2317477"/>
              <a:gd name="connsiteX506" fmla="*/ 11919363 w 12201591"/>
              <a:gd name="connsiteY506" fmla="*/ 1069901 h 2317477"/>
              <a:gd name="connsiteX507" fmla="*/ 11908244 w 12201591"/>
              <a:gd name="connsiteY507" fmla="*/ 1054440 h 2317477"/>
              <a:gd name="connsiteX508" fmla="*/ 11053578 w 12201591"/>
              <a:gd name="connsiteY508" fmla="*/ 831853 h 2317477"/>
              <a:gd name="connsiteX509" fmla="*/ 11053578 w 12201591"/>
              <a:gd name="connsiteY509" fmla="*/ 931816 h 2317477"/>
              <a:gd name="connsiteX510" fmla="*/ 11077298 w 12201591"/>
              <a:gd name="connsiteY510" fmla="*/ 952995 h 2317477"/>
              <a:gd name="connsiteX511" fmla="*/ 11077298 w 12201591"/>
              <a:gd name="connsiteY511" fmla="*/ 949606 h 2317477"/>
              <a:gd name="connsiteX512" fmla="*/ 11084076 w 12201591"/>
              <a:gd name="connsiteY512" fmla="*/ 922497 h 2317477"/>
              <a:gd name="connsiteX513" fmla="*/ 11053578 w 12201591"/>
              <a:gd name="connsiteY513" fmla="*/ 831853 h 2317477"/>
              <a:gd name="connsiteX514" fmla="*/ 10013282 w 12201591"/>
              <a:gd name="connsiteY514" fmla="*/ 785260 h 2317477"/>
              <a:gd name="connsiteX515" fmla="*/ 10013282 w 12201591"/>
              <a:gd name="connsiteY515" fmla="*/ 786954 h 2317477"/>
              <a:gd name="connsiteX516" fmla="*/ 9970924 w 12201591"/>
              <a:gd name="connsiteY516" fmla="*/ 910637 h 2317477"/>
              <a:gd name="connsiteX517" fmla="*/ 10013282 w 12201591"/>
              <a:gd name="connsiteY517" fmla="*/ 785260 h 2317477"/>
              <a:gd name="connsiteX518" fmla="*/ 10058181 w 12201591"/>
              <a:gd name="connsiteY518" fmla="*/ 891153 h 2317477"/>
              <a:gd name="connsiteX519" fmla="*/ 10013282 w 12201591"/>
              <a:gd name="connsiteY519" fmla="*/ 986033 h 2317477"/>
              <a:gd name="connsiteX520" fmla="*/ 9992103 w 12201591"/>
              <a:gd name="connsiteY520" fmla="*/ 1086844 h 2317477"/>
              <a:gd name="connsiteX521" fmla="*/ 9941274 w 12201591"/>
              <a:gd name="connsiteY521" fmla="*/ 1180030 h 2317477"/>
              <a:gd name="connsiteX522" fmla="*/ 9941274 w 12201591"/>
              <a:gd name="connsiteY522" fmla="*/ 1218999 h 2317477"/>
              <a:gd name="connsiteX523" fmla="*/ 10025989 w 12201591"/>
              <a:gd name="connsiteY523" fmla="*/ 1318962 h 2317477"/>
              <a:gd name="connsiteX524" fmla="*/ 10025989 w 12201591"/>
              <a:gd name="connsiteY524" fmla="*/ 1322351 h 2317477"/>
              <a:gd name="connsiteX525" fmla="*/ 10178476 w 12201591"/>
              <a:gd name="connsiteY525" fmla="*/ 1316421 h 2317477"/>
              <a:gd name="connsiteX526" fmla="*/ 10193724 w 12201591"/>
              <a:gd name="connsiteY526" fmla="*/ 1237636 h 2317477"/>
              <a:gd name="connsiteX527" fmla="*/ 10119175 w 12201591"/>
              <a:gd name="connsiteY527" fmla="*/ 1114800 h 2317477"/>
              <a:gd name="connsiteX528" fmla="*/ 10058181 w 12201591"/>
              <a:gd name="connsiteY528" fmla="*/ 945371 h 2317477"/>
              <a:gd name="connsiteX529" fmla="*/ 10058181 w 12201591"/>
              <a:gd name="connsiteY529" fmla="*/ 891153 h 2317477"/>
              <a:gd name="connsiteX530" fmla="*/ 10477519 w 12201591"/>
              <a:gd name="connsiteY530" fmla="*/ 1291006 h 2317477"/>
              <a:gd name="connsiteX531" fmla="*/ 10462270 w 12201591"/>
              <a:gd name="connsiteY531" fmla="*/ 1322351 h 2317477"/>
              <a:gd name="connsiteX532" fmla="*/ 10431773 w 12201591"/>
              <a:gd name="connsiteY532" fmla="*/ 1340988 h 2317477"/>
              <a:gd name="connsiteX533" fmla="*/ 10441939 w 12201591"/>
              <a:gd name="connsiteY533" fmla="*/ 1357931 h 2317477"/>
              <a:gd name="connsiteX534" fmla="*/ 10462270 w 12201591"/>
              <a:gd name="connsiteY534" fmla="*/ 1322351 h 2317477"/>
              <a:gd name="connsiteX535" fmla="*/ 10477519 w 12201591"/>
              <a:gd name="connsiteY535" fmla="*/ 1291006 h 2317477"/>
              <a:gd name="connsiteX536" fmla="*/ 9864184 w 12201591"/>
              <a:gd name="connsiteY536" fmla="*/ 1335058 h 2317477"/>
              <a:gd name="connsiteX537" fmla="*/ 9836228 w 12201591"/>
              <a:gd name="connsiteY537" fmla="*/ 1451117 h 2317477"/>
              <a:gd name="connsiteX538" fmla="*/ 9836228 w 12201591"/>
              <a:gd name="connsiteY538" fmla="*/ 1452812 h 2317477"/>
              <a:gd name="connsiteX539" fmla="*/ 9864184 w 12201591"/>
              <a:gd name="connsiteY539" fmla="*/ 1335058 h 2317477"/>
              <a:gd name="connsiteX540" fmla="*/ 11373800 w 12201591"/>
              <a:gd name="connsiteY540" fmla="*/ 1432480 h 2317477"/>
              <a:gd name="connsiteX541" fmla="*/ 11458515 w 12201591"/>
              <a:gd name="connsiteY541" fmla="*/ 1686625 h 2317477"/>
              <a:gd name="connsiteX542" fmla="*/ 11458515 w 12201591"/>
              <a:gd name="connsiteY542" fmla="*/ 1683236 h 2317477"/>
              <a:gd name="connsiteX543" fmla="*/ 11542383 w 12201591"/>
              <a:gd name="connsiteY543" fmla="*/ 1612075 h 2317477"/>
              <a:gd name="connsiteX544" fmla="*/ 11504261 w 12201591"/>
              <a:gd name="connsiteY544" fmla="*/ 1469754 h 2317477"/>
              <a:gd name="connsiteX545" fmla="*/ 11489860 w 12201591"/>
              <a:gd name="connsiteY545" fmla="*/ 1460436 h 2317477"/>
              <a:gd name="connsiteX546" fmla="*/ 11373800 w 12201591"/>
              <a:gd name="connsiteY546" fmla="*/ 1432480 h 2317477"/>
              <a:gd name="connsiteX547" fmla="*/ 9409266 w 12201591"/>
              <a:gd name="connsiteY547" fmla="*/ 995352 h 2317477"/>
              <a:gd name="connsiteX548" fmla="*/ 9398253 w 12201591"/>
              <a:gd name="connsiteY548" fmla="*/ 1002129 h 2317477"/>
              <a:gd name="connsiteX549" fmla="*/ 9397406 w 12201591"/>
              <a:gd name="connsiteY549" fmla="*/ 1001282 h 2317477"/>
              <a:gd name="connsiteX550" fmla="*/ 9416890 w 12201591"/>
              <a:gd name="connsiteY550" fmla="*/ 1047875 h 2317477"/>
              <a:gd name="connsiteX551" fmla="*/ 9409266 w 12201591"/>
              <a:gd name="connsiteY551" fmla="*/ 995352 h 2317477"/>
              <a:gd name="connsiteX552" fmla="*/ 9368602 w 12201591"/>
              <a:gd name="connsiteY552" fmla="*/ 1015683 h 2317477"/>
              <a:gd name="connsiteX553" fmla="*/ 9294054 w 12201591"/>
              <a:gd name="connsiteY553" fmla="*/ 1081761 h 2317477"/>
              <a:gd name="connsiteX554" fmla="*/ 9094974 w 12201591"/>
              <a:gd name="connsiteY554" fmla="*/ 1304561 h 2317477"/>
              <a:gd name="connsiteX555" fmla="*/ 9044992 w 12201591"/>
              <a:gd name="connsiteY555" fmla="*/ 1372332 h 2317477"/>
              <a:gd name="connsiteX556" fmla="*/ 9044992 w 12201591"/>
              <a:gd name="connsiteY556" fmla="*/ 1385887 h 2317477"/>
              <a:gd name="connsiteX557" fmla="*/ 9011953 w 12201591"/>
              <a:gd name="connsiteY557" fmla="*/ 1424856 h 2317477"/>
              <a:gd name="connsiteX558" fmla="*/ 8981456 w 12201591"/>
              <a:gd name="connsiteY558" fmla="*/ 1430786 h 2317477"/>
              <a:gd name="connsiteX559" fmla="*/ 8800167 w 12201591"/>
              <a:gd name="connsiteY559" fmla="*/ 1503640 h 2317477"/>
              <a:gd name="connsiteX560" fmla="*/ 8734936 w 12201591"/>
              <a:gd name="connsiteY560" fmla="*/ 1596827 h 2317477"/>
              <a:gd name="connsiteX561" fmla="*/ 8726465 w 12201591"/>
              <a:gd name="connsiteY561" fmla="*/ 1739995 h 2317477"/>
              <a:gd name="connsiteX562" fmla="*/ 8682413 w 12201591"/>
              <a:gd name="connsiteY562" fmla="*/ 2011929 h 2317477"/>
              <a:gd name="connsiteX563" fmla="*/ 8716299 w 12201591"/>
              <a:gd name="connsiteY563" fmla="*/ 2170346 h 2317477"/>
              <a:gd name="connsiteX564" fmla="*/ 8752727 w 12201591"/>
              <a:gd name="connsiteY564" fmla="*/ 2170346 h 2317477"/>
              <a:gd name="connsiteX565" fmla="*/ 8873869 w 12201591"/>
              <a:gd name="connsiteY565" fmla="*/ 2050898 h 2317477"/>
              <a:gd name="connsiteX566" fmla="*/ 8905213 w 12201591"/>
              <a:gd name="connsiteY566" fmla="*/ 2000916 h 2317477"/>
              <a:gd name="connsiteX567" fmla="*/ 8957736 w 12201591"/>
              <a:gd name="connsiteY567" fmla="*/ 1831487 h 2317477"/>
              <a:gd name="connsiteX568" fmla="*/ 9026355 w 12201591"/>
              <a:gd name="connsiteY568" fmla="*/ 1699331 h 2317477"/>
              <a:gd name="connsiteX569" fmla="*/ 9124624 w 12201591"/>
              <a:gd name="connsiteY569" fmla="*/ 1501099 h 2317477"/>
              <a:gd name="connsiteX570" fmla="*/ 9275416 w 12201591"/>
              <a:gd name="connsiteY570" fmla="*/ 1462978 h 2317477"/>
              <a:gd name="connsiteX571" fmla="*/ 9315232 w 12201591"/>
              <a:gd name="connsiteY571" fmla="*/ 1501946 h 2317477"/>
              <a:gd name="connsiteX572" fmla="*/ 9326245 w 12201591"/>
              <a:gd name="connsiteY572" fmla="*/ 1510418 h 2317477"/>
              <a:gd name="connsiteX573" fmla="*/ 9416043 w 12201591"/>
              <a:gd name="connsiteY573" fmla="*/ 1667987 h 2317477"/>
              <a:gd name="connsiteX574" fmla="*/ 9453317 w 12201591"/>
              <a:gd name="connsiteY574" fmla="*/ 1915354 h 2317477"/>
              <a:gd name="connsiteX575" fmla="*/ 9497369 w 12201591"/>
              <a:gd name="connsiteY575" fmla="*/ 1754396 h 2317477"/>
              <a:gd name="connsiteX576" fmla="*/ 9497369 w 12201591"/>
              <a:gd name="connsiteY576" fmla="*/ 1756091 h 2317477"/>
              <a:gd name="connsiteX577" fmla="*/ 9532949 w 12201591"/>
              <a:gd name="connsiteY577" fmla="*/ 1632407 h 2317477"/>
              <a:gd name="connsiteX578" fmla="*/ 9415196 w 12201591"/>
              <a:gd name="connsiteY578" fmla="*/ 1350307 h 2317477"/>
              <a:gd name="connsiteX579" fmla="*/ 9393170 w 12201591"/>
              <a:gd name="connsiteY579" fmla="*/ 1296936 h 2317477"/>
              <a:gd name="connsiteX580" fmla="*/ 9352507 w 12201591"/>
              <a:gd name="connsiteY580" fmla="*/ 1159699 h 2317477"/>
              <a:gd name="connsiteX581" fmla="*/ 9343188 w 12201591"/>
              <a:gd name="connsiteY581" fmla="*/ 1097857 h 2317477"/>
              <a:gd name="connsiteX582" fmla="*/ 9389781 w 12201591"/>
              <a:gd name="connsiteY582" fmla="*/ 1151227 h 2317477"/>
              <a:gd name="connsiteX583" fmla="*/ 9413502 w 12201591"/>
              <a:gd name="connsiteY583" fmla="*/ 1158852 h 2317477"/>
              <a:gd name="connsiteX584" fmla="*/ 9413502 w 12201591"/>
              <a:gd name="connsiteY584" fmla="*/ 1137673 h 2317477"/>
              <a:gd name="connsiteX585" fmla="*/ 9368602 w 12201591"/>
              <a:gd name="connsiteY585" fmla="*/ 1015683 h 2317477"/>
              <a:gd name="connsiteX586" fmla="*/ 9816743 w 12201591"/>
              <a:gd name="connsiteY586" fmla="*/ 1534138 h 2317477"/>
              <a:gd name="connsiteX587" fmla="*/ 9796412 w 12201591"/>
              <a:gd name="connsiteY587" fmla="*/ 1629019 h 2317477"/>
              <a:gd name="connsiteX588" fmla="*/ 9778622 w 12201591"/>
              <a:gd name="connsiteY588" fmla="*/ 1723052 h 2317477"/>
              <a:gd name="connsiteX589" fmla="*/ 9844699 w 12201591"/>
              <a:gd name="connsiteY589" fmla="*/ 1945852 h 2317477"/>
              <a:gd name="connsiteX590" fmla="*/ 9844699 w 12201591"/>
              <a:gd name="connsiteY590" fmla="*/ 1947546 h 2317477"/>
              <a:gd name="connsiteX591" fmla="*/ 9890445 w 12201591"/>
              <a:gd name="connsiteY591" fmla="*/ 1860289 h 2317477"/>
              <a:gd name="connsiteX592" fmla="*/ 9816743 w 12201591"/>
              <a:gd name="connsiteY592" fmla="*/ 1656974 h 2317477"/>
              <a:gd name="connsiteX593" fmla="*/ 9816743 w 12201591"/>
              <a:gd name="connsiteY593" fmla="*/ 1534138 h 2317477"/>
              <a:gd name="connsiteX594" fmla="*/ 10290299 w 12201591"/>
              <a:gd name="connsiteY594" fmla="*/ 1620547 h 2317477"/>
              <a:gd name="connsiteX595" fmla="*/ 10257260 w 12201591"/>
              <a:gd name="connsiteY595" fmla="*/ 1720510 h 2317477"/>
              <a:gd name="connsiteX596" fmla="*/ 10192877 w 12201591"/>
              <a:gd name="connsiteY596" fmla="*/ 1889939 h 2317477"/>
              <a:gd name="connsiteX597" fmla="*/ 10229304 w 12201591"/>
              <a:gd name="connsiteY597" fmla="*/ 1933144 h 2317477"/>
              <a:gd name="connsiteX598" fmla="*/ 10244553 w 12201591"/>
              <a:gd name="connsiteY598" fmla="*/ 1933144 h 2317477"/>
              <a:gd name="connsiteX599" fmla="*/ 10290299 w 12201591"/>
              <a:gd name="connsiteY599" fmla="*/ 1839958 h 2317477"/>
              <a:gd name="connsiteX600" fmla="*/ 10321643 w 12201591"/>
              <a:gd name="connsiteY600" fmla="*/ 1755243 h 2317477"/>
              <a:gd name="connsiteX601" fmla="*/ 10321643 w 12201591"/>
              <a:gd name="connsiteY601" fmla="*/ 1756937 h 2317477"/>
              <a:gd name="connsiteX602" fmla="*/ 10326726 w 12201591"/>
              <a:gd name="connsiteY602" fmla="*/ 1718816 h 2317477"/>
              <a:gd name="connsiteX603" fmla="*/ 10290299 w 12201591"/>
              <a:gd name="connsiteY603" fmla="*/ 1620547 h 2317477"/>
              <a:gd name="connsiteX604" fmla="*/ 10713873 w 12201591"/>
              <a:gd name="connsiteY604" fmla="*/ 1932191 h 2317477"/>
              <a:gd name="connsiteX605" fmla="*/ 10687611 w 12201591"/>
              <a:gd name="connsiteY605" fmla="*/ 1934839 h 2317477"/>
              <a:gd name="connsiteX606" fmla="*/ 10679139 w 12201591"/>
              <a:gd name="connsiteY606" fmla="*/ 1955170 h 2317477"/>
              <a:gd name="connsiteX607" fmla="*/ 10716414 w 12201591"/>
              <a:gd name="connsiteY607" fmla="*/ 2169498 h 2317477"/>
              <a:gd name="connsiteX608" fmla="*/ 10773173 w 12201591"/>
              <a:gd name="connsiteY608" fmla="*/ 2098338 h 2317477"/>
              <a:gd name="connsiteX609" fmla="*/ 10735051 w 12201591"/>
              <a:gd name="connsiteY609" fmla="*/ 1949240 h 2317477"/>
              <a:gd name="connsiteX610" fmla="*/ 10713873 w 12201591"/>
              <a:gd name="connsiteY610" fmla="*/ 1932191 h 2317477"/>
              <a:gd name="connsiteX611" fmla="*/ 7203572 w 12201591"/>
              <a:gd name="connsiteY611" fmla="*/ 1302880 h 2317477"/>
              <a:gd name="connsiteX612" fmla="*/ 7174491 w 12201591"/>
              <a:gd name="connsiteY612" fmla="*/ 1306255 h 2317477"/>
              <a:gd name="connsiteX613" fmla="*/ 7301564 w 12201591"/>
              <a:gd name="connsiteY613" fmla="*/ 1445187 h 2317477"/>
              <a:gd name="connsiteX614" fmla="*/ 7349851 w 12201591"/>
              <a:gd name="connsiteY614" fmla="*/ 1437563 h 2317477"/>
              <a:gd name="connsiteX615" fmla="*/ 7349004 w 12201591"/>
              <a:gd name="connsiteY615" fmla="*/ 1436716 h 2317477"/>
              <a:gd name="connsiteX616" fmla="*/ 7337991 w 12201591"/>
              <a:gd name="connsiteY616" fmla="*/ 1385887 h 2317477"/>
              <a:gd name="connsiteX617" fmla="*/ 7266830 w 12201591"/>
              <a:gd name="connsiteY617" fmla="*/ 1334211 h 2317477"/>
              <a:gd name="connsiteX618" fmla="*/ 7203572 w 12201591"/>
              <a:gd name="connsiteY618" fmla="*/ 1302880 h 2317477"/>
              <a:gd name="connsiteX619" fmla="*/ 7090412 w 12201591"/>
              <a:gd name="connsiteY619" fmla="*/ 1424326 h 2317477"/>
              <a:gd name="connsiteX620" fmla="*/ 7079611 w 12201591"/>
              <a:gd name="connsiteY620" fmla="*/ 1431633 h 2317477"/>
              <a:gd name="connsiteX621" fmla="*/ 6977953 w 12201591"/>
              <a:gd name="connsiteY621" fmla="*/ 1525666 h 2317477"/>
              <a:gd name="connsiteX622" fmla="*/ 6748376 w 12201591"/>
              <a:gd name="connsiteY622" fmla="*/ 1807767 h 2317477"/>
              <a:gd name="connsiteX623" fmla="*/ 6717879 w 12201591"/>
              <a:gd name="connsiteY623" fmla="*/ 1858595 h 2317477"/>
              <a:gd name="connsiteX624" fmla="*/ 6731433 w 12201591"/>
              <a:gd name="connsiteY624" fmla="*/ 2043274 h 2317477"/>
              <a:gd name="connsiteX625" fmla="*/ 6748376 w 12201591"/>
              <a:gd name="connsiteY625" fmla="*/ 1915354 h 2317477"/>
              <a:gd name="connsiteX626" fmla="*/ 6847493 w 12201591"/>
              <a:gd name="connsiteY626" fmla="*/ 1764562 h 2317477"/>
              <a:gd name="connsiteX627" fmla="*/ 7186351 w 12201591"/>
              <a:gd name="connsiteY627" fmla="*/ 1823015 h 2317477"/>
              <a:gd name="connsiteX628" fmla="*/ 7217696 w 12201591"/>
              <a:gd name="connsiteY628" fmla="*/ 1738301 h 2317477"/>
              <a:gd name="connsiteX629" fmla="*/ 7216849 w 12201591"/>
              <a:gd name="connsiteY629" fmla="*/ 1737453 h 2317477"/>
              <a:gd name="connsiteX630" fmla="*/ 7214307 w 12201591"/>
              <a:gd name="connsiteY630" fmla="*/ 1535832 h 2317477"/>
              <a:gd name="connsiteX631" fmla="*/ 7099942 w 12201591"/>
              <a:gd name="connsiteY631" fmla="*/ 1426550 h 2317477"/>
              <a:gd name="connsiteX632" fmla="*/ 7090412 w 12201591"/>
              <a:gd name="connsiteY632" fmla="*/ 1424326 h 2317477"/>
              <a:gd name="connsiteX633" fmla="*/ 7539506 w 12201591"/>
              <a:gd name="connsiteY633" fmla="*/ 1524819 h 2317477"/>
              <a:gd name="connsiteX634" fmla="*/ 7525210 w 12201591"/>
              <a:gd name="connsiteY634" fmla="*/ 1545151 h 2317477"/>
              <a:gd name="connsiteX635" fmla="*/ 7508267 w 12201591"/>
              <a:gd name="connsiteY635" fmla="*/ 1629865 h 2317477"/>
              <a:gd name="connsiteX636" fmla="*/ 7493018 w 12201591"/>
              <a:gd name="connsiteY636" fmla="*/ 1745925 h 2317477"/>
              <a:gd name="connsiteX637" fmla="*/ 7572244 w 12201591"/>
              <a:gd name="connsiteY637" fmla="*/ 2011454 h 2317477"/>
              <a:gd name="connsiteX638" fmla="*/ 7583516 w 12201591"/>
              <a:gd name="connsiteY638" fmla="*/ 2102234 h 2317477"/>
              <a:gd name="connsiteX639" fmla="*/ 7582816 w 12201591"/>
              <a:gd name="connsiteY639" fmla="*/ 2102574 h 2317477"/>
              <a:gd name="connsiteX640" fmla="*/ 7583663 w 12201591"/>
              <a:gd name="connsiteY640" fmla="*/ 2103421 h 2317477"/>
              <a:gd name="connsiteX641" fmla="*/ 7583516 w 12201591"/>
              <a:gd name="connsiteY641" fmla="*/ 2102234 h 2317477"/>
              <a:gd name="connsiteX642" fmla="*/ 7609144 w 12201591"/>
              <a:gd name="connsiteY642" fmla="*/ 2089761 h 2317477"/>
              <a:gd name="connsiteX643" fmla="*/ 7651435 w 12201591"/>
              <a:gd name="connsiteY643" fmla="*/ 2044968 h 2317477"/>
              <a:gd name="connsiteX644" fmla="*/ 7590440 w 12201591"/>
              <a:gd name="connsiteY644" fmla="*/ 1875538 h 2317477"/>
              <a:gd name="connsiteX645" fmla="*/ 7559096 w 12201591"/>
              <a:gd name="connsiteY645" fmla="*/ 1805225 h 2317477"/>
              <a:gd name="connsiteX646" fmla="*/ 7583663 w 12201591"/>
              <a:gd name="connsiteY646" fmla="*/ 1562941 h 2317477"/>
              <a:gd name="connsiteX647" fmla="*/ 7565873 w 12201591"/>
              <a:gd name="connsiteY647" fmla="*/ 1527360 h 2317477"/>
              <a:gd name="connsiteX648" fmla="*/ 7539506 w 12201591"/>
              <a:gd name="connsiteY648" fmla="*/ 1524819 h 2317477"/>
              <a:gd name="connsiteX649" fmla="*/ 8584144 w 12201591"/>
              <a:gd name="connsiteY649" fmla="*/ 1590897 h 2317477"/>
              <a:gd name="connsiteX650" fmla="*/ 8567201 w 12201591"/>
              <a:gd name="connsiteY650" fmla="*/ 1630713 h 2317477"/>
              <a:gd name="connsiteX651" fmla="*/ 8551952 w 12201591"/>
              <a:gd name="connsiteY651" fmla="*/ 1679847 h 2317477"/>
              <a:gd name="connsiteX652" fmla="*/ 8567201 w 12201591"/>
              <a:gd name="connsiteY652" fmla="*/ 1630713 h 2317477"/>
              <a:gd name="connsiteX653" fmla="*/ 8584144 w 12201591"/>
              <a:gd name="connsiteY653" fmla="*/ 1590897 h 2317477"/>
              <a:gd name="connsiteX654" fmla="*/ 4921926 w 12201591"/>
              <a:gd name="connsiteY654" fmla="*/ 927580 h 2317477"/>
              <a:gd name="connsiteX655" fmla="*/ 4850766 w 12201591"/>
              <a:gd name="connsiteY655" fmla="*/ 1051264 h 2317477"/>
              <a:gd name="connsiteX656" fmla="*/ 4825352 w 12201591"/>
              <a:gd name="connsiteY656" fmla="*/ 1129201 h 2317477"/>
              <a:gd name="connsiteX657" fmla="*/ 4825470 w 12201591"/>
              <a:gd name="connsiteY657" fmla="*/ 1130049 h 2317477"/>
              <a:gd name="connsiteX658" fmla="*/ 4789772 w 12201591"/>
              <a:gd name="connsiteY658" fmla="*/ 1176642 h 2317477"/>
              <a:gd name="connsiteX659" fmla="*/ 4765204 w 12201591"/>
              <a:gd name="connsiteY659" fmla="*/ 1202056 h 2317477"/>
              <a:gd name="connsiteX660" fmla="*/ 4801632 w 12201591"/>
              <a:gd name="connsiteY660" fmla="*/ 1417232 h 2317477"/>
              <a:gd name="connsiteX661" fmla="*/ 5017654 w 12201591"/>
              <a:gd name="connsiteY661" fmla="*/ 1851818 h 2317477"/>
              <a:gd name="connsiteX662" fmla="*/ 5051540 w 12201591"/>
              <a:gd name="connsiteY662" fmla="*/ 1367250 h 2317477"/>
              <a:gd name="connsiteX663" fmla="*/ 5050693 w 12201591"/>
              <a:gd name="connsiteY663" fmla="*/ 1366402 h 2317477"/>
              <a:gd name="connsiteX664" fmla="*/ 5026973 w 12201591"/>
              <a:gd name="connsiteY664" fmla="*/ 1230859 h 2317477"/>
              <a:gd name="connsiteX665" fmla="*/ 4984615 w 12201591"/>
              <a:gd name="connsiteY665" fmla="*/ 1130049 h 2317477"/>
              <a:gd name="connsiteX666" fmla="*/ 4961742 w 12201591"/>
              <a:gd name="connsiteY666" fmla="*/ 1100398 h 2317477"/>
              <a:gd name="connsiteX667" fmla="*/ 4949035 w 12201591"/>
              <a:gd name="connsiteY667" fmla="*/ 1051264 h 2317477"/>
              <a:gd name="connsiteX668" fmla="*/ 4929551 w 12201591"/>
              <a:gd name="connsiteY668" fmla="*/ 1051264 h 2317477"/>
              <a:gd name="connsiteX669" fmla="*/ 4899054 w 12201591"/>
              <a:gd name="connsiteY669" fmla="*/ 1040251 h 2317477"/>
              <a:gd name="connsiteX670" fmla="*/ 4926162 w 12201591"/>
              <a:gd name="connsiteY670" fmla="*/ 1022461 h 2317477"/>
              <a:gd name="connsiteX671" fmla="*/ 5032056 w 12201591"/>
              <a:gd name="connsiteY671" fmla="*/ 1022461 h 2317477"/>
              <a:gd name="connsiteX672" fmla="*/ 4921926 w 12201591"/>
              <a:gd name="connsiteY672" fmla="*/ 927580 h 2317477"/>
              <a:gd name="connsiteX673" fmla="*/ 4654201 w 12201591"/>
              <a:gd name="connsiteY673" fmla="*/ 1286202 h 2317477"/>
              <a:gd name="connsiteX674" fmla="*/ 4637285 w 12201591"/>
              <a:gd name="connsiteY674" fmla="*/ 1290160 h 2317477"/>
              <a:gd name="connsiteX675" fmla="*/ 4520379 w 12201591"/>
              <a:gd name="connsiteY675" fmla="*/ 1442646 h 2317477"/>
              <a:gd name="connsiteX676" fmla="*/ 4504283 w 12201591"/>
              <a:gd name="connsiteY676" fmla="*/ 1490086 h 2317477"/>
              <a:gd name="connsiteX677" fmla="*/ 4481410 w 12201591"/>
              <a:gd name="connsiteY677" fmla="*/ 1593438 h 2317477"/>
              <a:gd name="connsiteX678" fmla="*/ 4516143 w 12201591"/>
              <a:gd name="connsiteY678" fmla="*/ 1847582 h 2317477"/>
              <a:gd name="connsiteX679" fmla="*/ 4556806 w 12201591"/>
              <a:gd name="connsiteY679" fmla="*/ 1886551 h 2317477"/>
              <a:gd name="connsiteX680" fmla="*/ 4756733 w 12201591"/>
              <a:gd name="connsiteY680" fmla="*/ 2027178 h 2317477"/>
              <a:gd name="connsiteX681" fmla="*/ 4841448 w 12201591"/>
              <a:gd name="connsiteY681" fmla="*/ 2071229 h 2317477"/>
              <a:gd name="connsiteX682" fmla="*/ 4840600 w 12201591"/>
              <a:gd name="connsiteY682" fmla="*/ 2070382 h 2317477"/>
              <a:gd name="connsiteX683" fmla="*/ 4870251 w 12201591"/>
              <a:gd name="connsiteY683" fmla="*/ 2035649 h 2317477"/>
              <a:gd name="connsiteX684" fmla="*/ 4817727 w 12201591"/>
              <a:gd name="connsiteY684" fmla="*/ 1764562 h 2317477"/>
              <a:gd name="connsiteX685" fmla="*/ 4733012 w 12201591"/>
              <a:gd name="connsiteY685" fmla="*/ 1548539 h 2317477"/>
              <a:gd name="connsiteX686" fmla="*/ 4683878 w 12201591"/>
              <a:gd name="connsiteY686" fmla="*/ 1408760 h 2317477"/>
              <a:gd name="connsiteX687" fmla="*/ 4675406 w 12201591"/>
              <a:gd name="connsiteY687" fmla="*/ 1311338 h 2317477"/>
              <a:gd name="connsiteX688" fmla="*/ 4654201 w 12201591"/>
              <a:gd name="connsiteY688" fmla="*/ 1286202 h 2317477"/>
              <a:gd name="connsiteX689" fmla="*/ 3904502 w 12201591"/>
              <a:gd name="connsiteY689" fmla="*/ 1476532 h 2317477"/>
              <a:gd name="connsiteX690" fmla="*/ 3901817 w 12201591"/>
              <a:gd name="connsiteY690" fmla="*/ 1476616 h 2317477"/>
              <a:gd name="connsiteX691" fmla="*/ 3890101 w 12201591"/>
              <a:gd name="connsiteY691" fmla="*/ 1491780 h 2317477"/>
              <a:gd name="connsiteX692" fmla="*/ 3879935 w 12201591"/>
              <a:gd name="connsiteY692" fmla="*/ 1643420 h 2317477"/>
              <a:gd name="connsiteX693" fmla="*/ 3932458 w 12201591"/>
              <a:gd name="connsiteY693" fmla="*/ 1928909 h 2317477"/>
              <a:gd name="connsiteX694" fmla="*/ 3954484 w 12201591"/>
              <a:gd name="connsiteY694" fmla="*/ 2098338 h 2317477"/>
              <a:gd name="connsiteX695" fmla="*/ 4012937 w 12201591"/>
              <a:gd name="connsiteY695" fmla="*/ 1956864 h 2317477"/>
              <a:gd name="connsiteX696" fmla="*/ 4012090 w 12201591"/>
              <a:gd name="connsiteY696" fmla="*/ 1956018 h 2317477"/>
              <a:gd name="connsiteX697" fmla="*/ 4017173 w 12201591"/>
              <a:gd name="connsiteY697" fmla="*/ 1767103 h 2317477"/>
              <a:gd name="connsiteX698" fmla="*/ 3922292 w 12201591"/>
              <a:gd name="connsiteY698" fmla="*/ 1488392 h 2317477"/>
              <a:gd name="connsiteX699" fmla="*/ 3904502 w 12201591"/>
              <a:gd name="connsiteY699" fmla="*/ 1476532 h 2317477"/>
              <a:gd name="connsiteX700" fmla="*/ 2372013 w 12201591"/>
              <a:gd name="connsiteY700" fmla="*/ 823381 h 2317477"/>
              <a:gd name="connsiteX701" fmla="*/ 2380484 w 12201591"/>
              <a:gd name="connsiteY701" fmla="*/ 964007 h 2317477"/>
              <a:gd name="connsiteX702" fmla="*/ 2395733 w 12201591"/>
              <a:gd name="connsiteY702" fmla="*/ 1013142 h 2317477"/>
              <a:gd name="connsiteX703" fmla="*/ 2403357 w 12201591"/>
              <a:gd name="connsiteY703" fmla="*/ 1089385 h 2317477"/>
              <a:gd name="connsiteX704" fmla="*/ 2409287 w 12201591"/>
              <a:gd name="connsiteY704" fmla="*/ 1104634 h 2317477"/>
              <a:gd name="connsiteX705" fmla="*/ 2423689 w 12201591"/>
              <a:gd name="connsiteY705" fmla="*/ 1104634 h 2317477"/>
              <a:gd name="connsiteX706" fmla="*/ 2445715 w 12201591"/>
              <a:gd name="connsiteY706" fmla="*/ 1040251 h 2317477"/>
              <a:gd name="connsiteX707" fmla="*/ 2372013 w 12201591"/>
              <a:gd name="connsiteY707" fmla="*/ 823381 h 2317477"/>
              <a:gd name="connsiteX708" fmla="*/ 1388792 w 12201591"/>
              <a:gd name="connsiteY708" fmla="*/ 898777 h 2317477"/>
              <a:gd name="connsiteX709" fmla="*/ 1384239 w 12201591"/>
              <a:gd name="connsiteY709" fmla="*/ 905555 h 2317477"/>
              <a:gd name="connsiteX710" fmla="*/ 1380003 w 12201591"/>
              <a:gd name="connsiteY710" fmla="*/ 905555 h 2317477"/>
              <a:gd name="connsiteX711" fmla="*/ 1406265 w 12201591"/>
              <a:gd name="connsiteY711" fmla="*/ 932663 h 2317477"/>
              <a:gd name="connsiteX712" fmla="*/ 1420666 w 12201591"/>
              <a:gd name="connsiteY712" fmla="*/ 925039 h 2317477"/>
              <a:gd name="connsiteX713" fmla="*/ 1397793 w 12201591"/>
              <a:gd name="connsiteY713" fmla="*/ 899625 h 2317477"/>
              <a:gd name="connsiteX714" fmla="*/ 1388792 w 12201591"/>
              <a:gd name="connsiteY714" fmla="*/ 898777 h 2317477"/>
              <a:gd name="connsiteX715" fmla="*/ 1381697 w 12201591"/>
              <a:gd name="connsiteY715" fmla="*/ 974173 h 2317477"/>
              <a:gd name="connsiteX716" fmla="*/ 1420666 w 12201591"/>
              <a:gd name="connsiteY716" fmla="*/ 1005518 h 2317477"/>
              <a:gd name="connsiteX717" fmla="*/ 1384239 w 12201591"/>
              <a:gd name="connsiteY717" fmla="*/ 974173 h 2317477"/>
              <a:gd name="connsiteX718" fmla="*/ 1381697 w 12201591"/>
              <a:gd name="connsiteY718" fmla="*/ 974173 h 2317477"/>
              <a:gd name="connsiteX719" fmla="*/ 1403723 w 12201591"/>
              <a:gd name="connsiteY719" fmla="*/ 1086844 h 2317477"/>
              <a:gd name="connsiteX720" fmla="*/ 1417278 w 12201591"/>
              <a:gd name="connsiteY720" fmla="*/ 1121577 h 2317477"/>
              <a:gd name="connsiteX721" fmla="*/ 1426596 w 12201591"/>
              <a:gd name="connsiteY721" fmla="*/ 1115647 h 2317477"/>
              <a:gd name="connsiteX722" fmla="*/ 1424055 w 12201591"/>
              <a:gd name="connsiteY722" fmla="*/ 1115647 h 2317477"/>
              <a:gd name="connsiteX723" fmla="*/ 1403723 w 12201591"/>
              <a:gd name="connsiteY723" fmla="*/ 1086844 h 2317477"/>
              <a:gd name="connsiteX724" fmla="*/ 1444638 w 12201591"/>
              <a:gd name="connsiteY724" fmla="*/ 1196603 h 2317477"/>
              <a:gd name="connsiteX725" fmla="*/ 1422361 w 12201591"/>
              <a:gd name="connsiteY725" fmla="*/ 1211375 h 2317477"/>
              <a:gd name="connsiteX726" fmla="*/ 1324091 w 12201591"/>
              <a:gd name="connsiteY726" fmla="*/ 1303714 h 2317477"/>
              <a:gd name="connsiteX727" fmla="*/ 1324091 w 12201591"/>
              <a:gd name="connsiteY727" fmla="*/ 1339294 h 2317477"/>
              <a:gd name="connsiteX728" fmla="*/ 1416430 w 12201591"/>
              <a:gd name="connsiteY728" fmla="*/ 1424008 h 2317477"/>
              <a:gd name="connsiteX729" fmla="*/ 1439303 w 12201591"/>
              <a:gd name="connsiteY729" fmla="*/ 1435022 h 2317477"/>
              <a:gd name="connsiteX730" fmla="*/ 1488438 w 12201591"/>
              <a:gd name="connsiteY730" fmla="*/ 1404524 h 2317477"/>
              <a:gd name="connsiteX731" fmla="*/ 1545197 w 12201591"/>
              <a:gd name="connsiteY731" fmla="*/ 1344377 h 2317477"/>
              <a:gd name="connsiteX732" fmla="*/ 1558751 w 12201591"/>
              <a:gd name="connsiteY732" fmla="*/ 1291854 h 2317477"/>
              <a:gd name="connsiteX733" fmla="*/ 1454552 w 12201591"/>
              <a:gd name="connsiteY733" fmla="*/ 1200362 h 2317477"/>
              <a:gd name="connsiteX734" fmla="*/ 1444638 w 12201591"/>
              <a:gd name="connsiteY734" fmla="*/ 1196603 h 2317477"/>
              <a:gd name="connsiteX735" fmla="*/ 3049731 w 12201591"/>
              <a:gd name="connsiteY735" fmla="*/ 1401983 h 2317477"/>
              <a:gd name="connsiteX736" fmla="*/ 3002290 w 12201591"/>
              <a:gd name="connsiteY736" fmla="*/ 1529055 h 2317477"/>
              <a:gd name="connsiteX737" fmla="*/ 2965016 w 12201591"/>
              <a:gd name="connsiteY737" fmla="*/ 1705261 h 2317477"/>
              <a:gd name="connsiteX738" fmla="*/ 2954850 w 12201591"/>
              <a:gd name="connsiteY738" fmla="*/ 1730676 h 2317477"/>
              <a:gd name="connsiteX739" fmla="*/ 2920117 w 12201591"/>
              <a:gd name="connsiteY739" fmla="*/ 1845888 h 2317477"/>
              <a:gd name="connsiteX740" fmla="*/ 2942143 w 12201591"/>
              <a:gd name="connsiteY740" fmla="*/ 1911118 h 2317477"/>
              <a:gd name="connsiteX741" fmla="*/ 3014998 w 12201591"/>
              <a:gd name="connsiteY741" fmla="*/ 1959406 h 2317477"/>
              <a:gd name="connsiteX742" fmla="*/ 3049731 w 12201591"/>
              <a:gd name="connsiteY742" fmla="*/ 1951782 h 2317477"/>
              <a:gd name="connsiteX743" fmla="*/ 3182733 w 12201591"/>
              <a:gd name="connsiteY743" fmla="*/ 1840805 h 2317477"/>
              <a:gd name="connsiteX744" fmla="*/ 3181886 w 12201591"/>
              <a:gd name="connsiteY744" fmla="*/ 1839958 h 2317477"/>
              <a:gd name="connsiteX745" fmla="*/ 3200523 w 12201591"/>
              <a:gd name="connsiteY745" fmla="*/ 1801837 h 2317477"/>
              <a:gd name="connsiteX746" fmla="*/ 3049731 w 12201591"/>
              <a:gd name="connsiteY746" fmla="*/ 1401983 h 2317477"/>
              <a:gd name="connsiteX747" fmla="*/ 2507556 w 12201591"/>
              <a:gd name="connsiteY747" fmla="*/ 1406218 h 2317477"/>
              <a:gd name="connsiteX748" fmla="*/ 2532971 w 12201591"/>
              <a:gd name="connsiteY748" fmla="*/ 1437563 h 2317477"/>
              <a:gd name="connsiteX749" fmla="*/ 2532124 w 12201591"/>
              <a:gd name="connsiteY749" fmla="*/ 1436716 h 2317477"/>
              <a:gd name="connsiteX750" fmla="*/ 2507556 w 12201591"/>
              <a:gd name="connsiteY750" fmla="*/ 1406218 h 2317477"/>
              <a:gd name="connsiteX751" fmla="*/ 1260555 w 12201591"/>
              <a:gd name="connsiteY751" fmla="*/ 1466366 h 2317477"/>
              <a:gd name="connsiteX752" fmla="*/ 1199561 w 12201591"/>
              <a:gd name="connsiteY752" fmla="*/ 1767951 h 2317477"/>
              <a:gd name="connsiteX753" fmla="*/ 1193631 w 12201591"/>
              <a:gd name="connsiteY753" fmla="*/ 1817932 h 2317477"/>
              <a:gd name="connsiteX754" fmla="*/ 1208879 w 12201591"/>
              <a:gd name="connsiteY754" fmla="*/ 1780658 h 2317477"/>
              <a:gd name="connsiteX755" fmla="*/ 1395252 w 12201591"/>
              <a:gd name="connsiteY755" fmla="*/ 1626477 h 2317477"/>
              <a:gd name="connsiteX756" fmla="*/ 1260555 w 12201591"/>
              <a:gd name="connsiteY756" fmla="*/ 1466366 h 2317477"/>
              <a:gd name="connsiteX757" fmla="*/ 1654479 w 12201591"/>
              <a:gd name="connsiteY757" fmla="*/ 1530749 h 2317477"/>
              <a:gd name="connsiteX758" fmla="*/ 1507075 w 12201591"/>
              <a:gd name="connsiteY758" fmla="*/ 1608687 h 2317477"/>
              <a:gd name="connsiteX759" fmla="*/ 1459635 w 12201591"/>
              <a:gd name="connsiteY759" fmla="*/ 1619700 h 2317477"/>
              <a:gd name="connsiteX760" fmla="*/ 1558751 w 12201591"/>
              <a:gd name="connsiteY760" fmla="*/ 1619700 h 2317477"/>
              <a:gd name="connsiteX761" fmla="*/ 1654479 w 12201591"/>
              <a:gd name="connsiteY761" fmla="*/ 1530749 h 2317477"/>
              <a:gd name="connsiteX762" fmla="*/ 2425383 w 12201591"/>
              <a:gd name="connsiteY762" fmla="*/ 1634101 h 2317477"/>
              <a:gd name="connsiteX763" fmla="*/ 2414370 w 12201591"/>
              <a:gd name="connsiteY763" fmla="*/ 1643420 h 2317477"/>
              <a:gd name="connsiteX764" fmla="*/ 2389803 w 12201591"/>
              <a:gd name="connsiteY764" fmla="*/ 1728135 h 2317477"/>
              <a:gd name="connsiteX765" fmla="*/ 2442326 w 12201591"/>
              <a:gd name="connsiteY765" fmla="*/ 1836569 h 2317477"/>
              <a:gd name="connsiteX766" fmla="*/ 2456727 w 12201591"/>
              <a:gd name="connsiteY766" fmla="*/ 1830639 h 2317477"/>
              <a:gd name="connsiteX767" fmla="*/ 2469435 w 12201591"/>
              <a:gd name="connsiteY767" fmla="*/ 1712886 h 2317477"/>
              <a:gd name="connsiteX768" fmla="*/ 2425383 w 12201591"/>
              <a:gd name="connsiteY768" fmla="*/ 1634101 h 2317477"/>
              <a:gd name="connsiteX769" fmla="*/ 1787481 w 12201591"/>
              <a:gd name="connsiteY769" fmla="*/ 1638337 h 2317477"/>
              <a:gd name="connsiteX770" fmla="*/ 1806118 w 12201591"/>
              <a:gd name="connsiteY770" fmla="*/ 1749313 h 2317477"/>
              <a:gd name="connsiteX771" fmla="*/ 1806118 w 12201591"/>
              <a:gd name="connsiteY771" fmla="*/ 1745925 h 2317477"/>
              <a:gd name="connsiteX772" fmla="*/ 1787481 w 12201591"/>
              <a:gd name="connsiteY772" fmla="*/ 1638337 h 231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Lst>
            <a:rect l="l" t="t" r="r" b="b"/>
            <a:pathLst>
              <a:path w="12201591" h="2317477">
                <a:moveTo>
                  <a:pt x="273448" y="618"/>
                </a:moveTo>
                <a:cubicBezTo>
                  <a:pt x="280218" y="-471"/>
                  <a:pt x="287180" y="-136"/>
                  <a:pt x="294238" y="1741"/>
                </a:cubicBezTo>
                <a:cubicBezTo>
                  <a:pt x="303650" y="4243"/>
                  <a:pt x="313233" y="9484"/>
                  <a:pt x="322763" y="17744"/>
                </a:cubicBezTo>
                <a:cubicBezTo>
                  <a:pt x="338012" y="30451"/>
                  <a:pt x="328693" y="46547"/>
                  <a:pt x="322763" y="60949"/>
                </a:cubicBezTo>
                <a:cubicBezTo>
                  <a:pt x="306878" y="90683"/>
                  <a:pt x="295731" y="122705"/>
                  <a:pt x="289724" y="155829"/>
                </a:cubicBezTo>
                <a:cubicBezTo>
                  <a:pt x="307515" y="149899"/>
                  <a:pt x="307515" y="138039"/>
                  <a:pt x="318527" y="123637"/>
                </a:cubicBezTo>
                <a:cubicBezTo>
                  <a:pt x="329540" y="109236"/>
                  <a:pt x="331235" y="74503"/>
                  <a:pt x="360885" y="88905"/>
                </a:cubicBezTo>
                <a:cubicBezTo>
                  <a:pt x="390535" y="103306"/>
                  <a:pt x="368509" y="124485"/>
                  <a:pt x="360885" y="141427"/>
                </a:cubicBezTo>
                <a:cubicBezTo>
                  <a:pt x="341982" y="176753"/>
                  <a:pt x="326112" y="213605"/>
                  <a:pt x="313445" y="251557"/>
                </a:cubicBezTo>
                <a:cubicBezTo>
                  <a:pt x="313445" y="261723"/>
                  <a:pt x="300737" y="272735"/>
                  <a:pt x="313445" y="278665"/>
                </a:cubicBezTo>
                <a:cubicBezTo>
                  <a:pt x="326152" y="284595"/>
                  <a:pt x="327846" y="284595"/>
                  <a:pt x="341400" y="267653"/>
                </a:cubicBezTo>
                <a:cubicBezTo>
                  <a:pt x="354955" y="250709"/>
                  <a:pt x="366815" y="232072"/>
                  <a:pt x="380369" y="215129"/>
                </a:cubicBezTo>
                <a:cubicBezTo>
                  <a:pt x="380679" y="214536"/>
                  <a:pt x="381021" y="213943"/>
                  <a:pt x="381394" y="213350"/>
                </a:cubicBezTo>
                <a:cubicBezTo>
                  <a:pt x="387221" y="204286"/>
                  <a:pt x="399278" y="201660"/>
                  <a:pt x="408325" y="207505"/>
                </a:cubicBezTo>
                <a:cubicBezTo>
                  <a:pt x="423574" y="216823"/>
                  <a:pt x="408325" y="226142"/>
                  <a:pt x="408325" y="234614"/>
                </a:cubicBezTo>
                <a:cubicBezTo>
                  <a:pt x="400621" y="251387"/>
                  <a:pt x="391555" y="267568"/>
                  <a:pt x="381216" y="282901"/>
                </a:cubicBezTo>
                <a:cubicBezTo>
                  <a:pt x="345734" y="331951"/>
                  <a:pt x="328912" y="392013"/>
                  <a:pt x="333776" y="452331"/>
                </a:cubicBezTo>
                <a:cubicBezTo>
                  <a:pt x="336379" y="475797"/>
                  <a:pt x="327557" y="499178"/>
                  <a:pt x="310056" y="515020"/>
                </a:cubicBezTo>
                <a:cubicBezTo>
                  <a:pt x="202468" y="609900"/>
                  <a:pt x="174512" y="737819"/>
                  <a:pt x="140626" y="864044"/>
                </a:cubicBezTo>
                <a:cubicBezTo>
                  <a:pt x="138753" y="874633"/>
                  <a:pt x="140867" y="885477"/>
                  <a:pt x="146557" y="894541"/>
                </a:cubicBezTo>
                <a:cubicBezTo>
                  <a:pt x="181345" y="947488"/>
                  <a:pt x="209779" y="1004332"/>
                  <a:pt x="231271" y="1063971"/>
                </a:cubicBezTo>
                <a:cubicBezTo>
                  <a:pt x="254144" y="1041945"/>
                  <a:pt x="241437" y="1017378"/>
                  <a:pt x="241437" y="1000435"/>
                </a:cubicBezTo>
                <a:cubicBezTo>
                  <a:pt x="243131" y="846254"/>
                  <a:pt x="303279" y="821687"/>
                  <a:pt x="428657" y="788648"/>
                </a:cubicBezTo>
                <a:cubicBezTo>
                  <a:pt x="451853" y="782125"/>
                  <a:pt x="475943" y="779329"/>
                  <a:pt x="500016" y="780430"/>
                </a:cubicBezTo>
                <a:cubicBezTo>
                  <a:pt x="624810" y="786022"/>
                  <a:pt x="721438" y="891746"/>
                  <a:pt x="715840" y="1016531"/>
                </a:cubicBezTo>
                <a:cubicBezTo>
                  <a:pt x="709910" y="1074984"/>
                  <a:pt x="739560" y="1133437"/>
                  <a:pt x="715840" y="1191890"/>
                </a:cubicBezTo>
                <a:cubicBezTo>
                  <a:pt x="711604" y="1202903"/>
                  <a:pt x="712451" y="1218999"/>
                  <a:pt x="704827" y="1226624"/>
                </a:cubicBezTo>
                <a:cubicBezTo>
                  <a:pt x="654845" y="1280841"/>
                  <a:pt x="669246" y="1354542"/>
                  <a:pt x="644679" y="1415537"/>
                </a:cubicBezTo>
                <a:cubicBezTo>
                  <a:pt x="637902" y="1433327"/>
                  <a:pt x="649762" y="1445187"/>
                  <a:pt x="662469" y="1456200"/>
                </a:cubicBezTo>
                <a:cubicBezTo>
                  <a:pt x="715763" y="1498049"/>
                  <a:pt x="772433" y="1535493"/>
                  <a:pt x="831899" y="1568024"/>
                </a:cubicBezTo>
                <a:cubicBezTo>
                  <a:pt x="845453" y="1575648"/>
                  <a:pt x="853077" y="1578189"/>
                  <a:pt x="864090" y="1560399"/>
                </a:cubicBezTo>
                <a:cubicBezTo>
                  <a:pt x="913826" y="1487629"/>
                  <a:pt x="968755" y="1418587"/>
                  <a:pt x="1028437" y="1353696"/>
                </a:cubicBezTo>
                <a:cubicBezTo>
                  <a:pt x="1052157" y="1329975"/>
                  <a:pt x="1028437" y="1304561"/>
                  <a:pt x="1028437" y="1279146"/>
                </a:cubicBezTo>
                <a:cubicBezTo>
                  <a:pt x="1028666" y="1276520"/>
                  <a:pt x="1028640" y="1273810"/>
                  <a:pt x="1028361" y="1271098"/>
                </a:cubicBezTo>
                <a:cubicBezTo>
                  <a:pt x="1025938" y="1247887"/>
                  <a:pt x="1005115" y="1230944"/>
                  <a:pt x="981844" y="1233400"/>
                </a:cubicBezTo>
                <a:cubicBezTo>
                  <a:pt x="941181" y="1231706"/>
                  <a:pt x="897129" y="1120730"/>
                  <a:pt x="920849" y="1088538"/>
                </a:cubicBezTo>
                <a:cubicBezTo>
                  <a:pt x="931888" y="1076763"/>
                  <a:pt x="948737" y="1072527"/>
                  <a:pt x="964054" y="1077525"/>
                </a:cubicBezTo>
                <a:cubicBezTo>
                  <a:pt x="1009800" y="1087691"/>
                  <a:pt x="1009800" y="1052111"/>
                  <a:pt x="1009800" y="1026697"/>
                </a:cubicBezTo>
                <a:cubicBezTo>
                  <a:pt x="1003590" y="946387"/>
                  <a:pt x="1001608" y="865823"/>
                  <a:pt x="1003870" y="785260"/>
                </a:cubicBezTo>
                <a:cubicBezTo>
                  <a:pt x="1005886" y="766538"/>
                  <a:pt x="999354" y="747816"/>
                  <a:pt x="986080" y="734430"/>
                </a:cubicBezTo>
                <a:cubicBezTo>
                  <a:pt x="964655" y="711812"/>
                  <a:pt x="948204" y="684957"/>
                  <a:pt x="937792" y="655646"/>
                </a:cubicBezTo>
                <a:cubicBezTo>
                  <a:pt x="916207" y="608121"/>
                  <a:pt x="900831" y="557970"/>
                  <a:pt x="892046" y="506548"/>
                </a:cubicBezTo>
                <a:cubicBezTo>
                  <a:pt x="886370" y="453602"/>
                  <a:pt x="860227" y="404975"/>
                  <a:pt x="819192" y="371004"/>
                </a:cubicBezTo>
                <a:cubicBezTo>
                  <a:pt x="803943" y="359991"/>
                  <a:pt x="803096" y="325259"/>
                  <a:pt x="798860" y="301538"/>
                </a:cubicBezTo>
                <a:cubicBezTo>
                  <a:pt x="798573" y="288492"/>
                  <a:pt x="806822" y="276801"/>
                  <a:pt x="819192" y="272735"/>
                </a:cubicBezTo>
                <a:cubicBezTo>
                  <a:pt x="832176" y="265873"/>
                  <a:pt x="848232" y="269940"/>
                  <a:pt x="856466" y="282054"/>
                </a:cubicBezTo>
                <a:cubicBezTo>
                  <a:pt x="874256" y="307468"/>
                  <a:pt x="883575" y="326953"/>
                  <a:pt x="907295" y="359991"/>
                </a:cubicBezTo>
                <a:cubicBezTo>
                  <a:pt x="931015" y="393030"/>
                  <a:pt x="963207" y="390489"/>
                  <a:pt x="975914" y="352367"/>
                </a:cubicBezTo>
                <a:cubicBezTo>
                  <a:pt x="980997" y="328647"/>
                  <a:pt x="1016577" y="309163"/>
                  <a:pt x="980997" y="273583"/>
                </a:cubicBezTo>
                <a:cubicBezTo>
                  <a:pt x="959818" y="251557"/>
                  <a:pt x="996245" y="245627"/>
                  <a:pt x="1014883" y="245627"/>
                </a:cubicBezTo>
                <a:cubicBezTo>
                  <a:pt x="1047074" y="254098"/>
                  <a:pt x="1053004" y="239697"/>
                  <a:pt x="1061476" y="212588"/>
                </a:cubicBezTo>
                <a:cubicBezTo>
                  <a:pt x="1072870" y="167519"/>
                  <a:pt x="1092702" y="124908"/>
                  <a:pt x="1119929" y="87210"/>
                </a:cubicBezTo>
                <a:cubicBezTo>
                  <a:pt x="1127553" y="75350"/>
                  <a:pt x="1142802" y="67726"/>
                  <a:pt x="1152121" y="75350"/>
                </a:cubicBezTo>
                <a:cubicBezTo>
                  <a:pt x="1161439" y="82975"/>
                  <a:pt x="1152121" y="93140"/>
                  <a:pt x="1152121" y="104153"/>
                </a:cubicBezTo>
                <a:cubicBezTo>
                  <a:pt x="1145547" y="139564"/>
                  <a:pt x="1148469" y="176076"/>
                  <a:pt x="1160592" y="210047"/>
                </a:cubicBezTo>
                <a:cubicBezTo>
                  <a:pt x="1174697" y="251387"/>
                  <a:pt x="1172274" y="296625"/>
                  <a:pt x="1153815" y="336271"/>
                </a:cubicBezTo>
                <a:cubicBezTo>
                  <a:pt x="1134330" y="373546"/>
                  <a:pt x="1122470" y="429458"/>
                  <a:pt x="1107222" y="458261"/>
                </a:cubicBezTo>
                <a:cubicBezTo>
                  <a:pt x="1091973" y="487064"/>
                  <a:pt x="1108069" y="516714"/>
                  <a:pt x="1115693" y="542976"/>
                </a:cubicBezTo>
                <a:cubicBezTo>
                  <a:pt x="1143649" y="637009"/>
                  <a:pt x="1173299" y="729348"/>
                  <a:pt x="1207185" y="820840"/>
                </a:cubicBezTo>
                <a:cubicBezTo>
                  <a:pt x="1226669" y="873363"/>
                  <a:pt x="1229211" y="928427"/>
                  <a:pt x="1243612" y="980951"/>
                </a:cubicBezTo>
                <a:cubicBezTo>
                  <a:pt x="1246154" y="989422"/>
                  <a:pt x="1243612" y="1004671"/>
                  <a:pt x="1262250" y="1004671"/>
                </a:cubicBezTo>
                <a:cubicBezTo>
                  <a:pt x="1265638" y="946217"/>
                  <a:pt x="1341882" y="930122"/>
                  <a:pt x="1341882" y="867433"/>
                </a:cubicBezTo>
                <a:cubicBezTo>
                  <a:pt x="1341882" y="856420"/>
                  <a:pt x="1354589" y="856420"/>
                  <a:pt x="1363907" y="856420"/>
                </a:cubicBezTo>
                <a:cubicBezTo>
                  <a:pt x="1383519" y="859978"/>
                  <a:pt x="1403749" y="856928"/>
                  <a:pt x="1421513" y="847949"/>
                </a:cubicBezTo>
                <a:cubicBezTo>
                  <a:pt x="1439964" y="842781"/>
                  <a:pt x="1459618" y="850321"/>
                  <a:pt x="1469801" y="866586"/>
                </a:cubicBezTo>
                <a:cubicBezTo>
                  <a:pt x="1509617" y="918262"/>
                  <a:pt x="1553668" y="969091"/>
                  <a:pt x="1594331" y="1021613"/>
                </a:cubicBezTo>
                <a:cubicBezTo>
                  <a:pt x="1613960" y="1054483"/>
                  <a:pt x="1620601" y="1093451"/>
                  <a:pt x="1612969" y="1130895"/>
                </a:cubicBezTo>
                <a:cubicBezTo>
                  <a:pt x="1611359" y="1151142"/>
                  <a:pt x="1617069" y="1171305"/>
                  <a:pt x="1629064" y="1187655"/>
                </a:cubicBezTo>
                <a:cubicBezTo>
                  <a:pt x="1646007" y="1209680"/>
                  <a:pt x="1658715" y="1226624"/>
                  <a:pt x="1680740" y="1187655"/>
                </a:cubicBezTo>
                <a:cubicBezTo>
                  <a:pt x="1702766" y="1148686"/>
                  <a:pt x="1745124" y="1126660"/>
                  <a:pt x="1760372" y="1079219"/>
                </a:cubicBezTo>
                <a:cubicBezTo>
                  <a:pt x="1760372" y="1069054"/>
                  <a:pt x="1814590" y="1052111"/>
                  <a:pt x="1845087" y="1052111"/>
                </a:cubicBezTo>
                <a:cubicBezTo>
                  <a:pt x="1889139" y="1049569"/>
                  <a:pt x="1902693" y="1022461"/>
                  <a:pt x="1909470" y="987728"/>
                </a:cubicBezTo>
                <a:cubicBezTo>
                  <a:pt x="1928955" y="877599"/>
                  <a:pt x="1945050" y="767469"/>
                  <a:pt x="1967923" y="658188"/>
                </a:cubicBezTo>
                <a:cubicBezTo>
                  <a:pt x="1984434" y="553480"/>
                  <a:pt x="2079205" y="479440"/>
                  <a:pt x="2184793" y="488758"/>
                </a:cubicBezTo>
                <a:cubicBezTo>
                  <a:pt x="2215290" y="489605"/>
                  <a:pt x="2220373" y="504006"/>
                  <a:pt x="2239011" y="512478"/>
                </a:cubicBezTo>
                <a:cubicBezTo>
                  <a:pt x="2284469" y="539672"/>
                  <a:pt x="2318947" y="581944"/>
                  <a:pt x="2336433" y="631926"/>
                </a:cubicBezTo>
                <a:cubicBezTo>
                  <a:pt x="2351681" y="618372"/>
                  <a:pt x="2330503" y="598040"/>
                  <a:pt x="2351681" y="592110"/>
                </a:cubicBezTo>
                <a:cubicBezTo>
                  <a:pt x="2360551" y="589230"/>
                  <a:pt x="2370174" y="593635"/>
                  <a:pt x="2373707" y="602276"/>
                </a:cubicBezTo>
                <a:cubicBezTo>
                  <a:pt x="2382179" y="616677"/>
                  <a:pt x="2383026" y="636162"/>
                  <a:pt x="2406746" y="649716"/>
                </a:cubicBezTo>
                <a:cubicBezTo>
                  <a:pt x="2404281" y="623200"/>
                  <a:pt x="2400036" y="596854"/>
                  <a:pt x="2394039" y="570931"/>
                </a:cubicBezTo>
                <a:cubicBezTo>
                  <a:pt x="2388956" y="553141"/>
                  <a:pt x="2385567" y="539587"/>
                  <a:pt x="2406746" y="533657"/>
                </a:cubicBezTo>
                <a:cubicBezTo>
                  <a:pt x="2427924" y="527727"/>
                  <a:pt x="2432160" y="548058"/>
                  <a:pt x="2436396" y="560766"/>
                </a:cubicBezTo>
                <a:cubicBezTo>
                  <a:pt x="2440632" y="573473"/>
                  <a:pt x="2444020" y="587027"/>
                  <a:pt x="2448256" y="599734"/>
                </a:cubicBezTo>
                <a:cubicBezTo>
                  <a:pt x="2445621" y="613543"/>
                  <a:pt x="2450450" y="627690"/>
                  <a:pt x="2460963" y="637009"/>
                </a:cubicBezTo>
                <a:cubicBezTo>
                  <a:pt x="2468571" y="624471"/>
                  <a:pt x="2465250" y="608206"/>
                  <a:pt x="2453339" y="599734"/>
                </a:cubicBezTo>
                <a:cubicBezTo>
                  <a:pt x="2460116" y="579403"/>
                  <a:pt x="2449103" y="542976"/>
                  <a:pt x="2479600" y="542976"/>
                </a:cubicBezTo>
                <a:cubicBezTo>
                  <a:pt x="2510098" y="542976"/>
                  <a:pt x="2503321" y="579403"/>
                  <a:pt x="2510098" y="602276"/>
                </a:cubicBezTo>
                <a:cubicBezTo>
                  <a:pt x="2519238" y="659712"/>
                  <a:pt x="2532835" y="716386"/>
                  <a:pt x="2550761" y="771705"/>
                </a:cubicBezTo>
                <a:cubicBezTo>
                  <a:pt x="2561155" y="789156"/>
                  <a:pt x="2572761" y="805845"/>
                  <a:pt x="2585494" y="821687"/>
                </a:cubicBezTo>
                <a:lnTo>
                  <a:pt x="2599048" y="821687"/>
                </a:lnTo>
                <a:cubicBezTo>
                  <a:pt x="2599048" y="784412"/>
                  <a:pt x="2599048" y="747138"/>
                  <a:pt x="2599048" y="709016"/>
                </a:cubicBezTo>
                <a:cubicBezTo>
                  <a:pt x="2598320" y="706220"/>
                  <a:pt x="2598049" y="703340"/>
                  <a:pt x="2598226" y="700460"/>
                </a:cubicBezTo>
                <a:cubicBezTo>
                  <a:pt x="2599175" y="685550"/>
                  <a:pt x="2612060" y="674198"/>
                  <a:pt x="2627004" y="675130"/>
                </a:cubicBezTo>
                <a:cubicBezTo>
                  <a:pt x="2649030" y="672589"/>
                  <a:pt x="2649030" y="691226"/>
                  <a:pt x="2649030" y="703933"/>
                </a:cubicBezTo>
                <a:cubicBezTo>
                  <a:pt x="2673191" y="801525"/>
                  <a:pt x="2668184" y="904029"/>
                  <a:pt x="2634628" y="998741"/>
                </a:cubicBezTo>
                <a:cubicBezTo>
                  <a:pt x="2614763" y="1053890"/>
                  <a:pt x="2588010" y="1106243"/>
                  <a:pt x="2554997" y="1154616"/>
                </a:cubicBezTo>
                <a:cubicBezTo>
                  <a:pt x="2538901" y="1175794"/>
                  <a:pt x="2534665" y="1173253"/>
                  <a:pt x="2562621" y="1202903"/>
                </a:cubicBezTo>
                <a:cubicBezTo>
                  <a:pt x="2590577" y="1232554"/>
                  <a:pt x="2635476" y="1230012"/>
                  <a:pt x="2657501" y="1264745"/>
                </a:cubicBezTo>
                <a:cubicBezTo>
                  <a:pt x="2664279" y="1269828"/>
                  <a:pt x="2676139" y="1264745"/>
                  <a:pt x="2687999" y="1264745"/>
                </a:cubicBezTo>
                <a:cubicBezTo>
                  <a:pt x="2757177" y="1252122"/>
                  <a:pt x="2828540" y="1260340"/>
                  <a:pt x="2893008" y="1288465"/>
                </a:cubicBezTo>
                <a:cubicBezTo>
                  <a:pt x="2893991" y="1289143"/>
                  <a:pt x="2895016" y="1289736"/>
                  <a:pt x="2896083" y="1290244"/>
                </a:cubicBezTo>
                <a:cubicBezTo>
                  <a:pt x="2907884" y="1295920"/>
                  <a:pt x="2922066" y="1290922"/>
                  <a:pt x="2927742" y="1279146"/>
                </a:cubicBezTo>
                <a:cubicBezTo>
                  <a:pt x="2937907" y="1265592"/>
                  <a:pt x="2949767" y="1253732"/>
                  <a:pt x="2960780" y="1241025"/>
                </a:cubicBezTo>
                <a:cubicBezTo>
                  <a:pt x="2980798" y="1218745"/>
                  <a:pt x="2983560" y="1185876"/>
                  <a:pt x="2967557" y="1160546"/>
                </a:cubicBezTo>
                <a:cubicBezTo>
                  <a:pt x="2935976" y="1089724"/>
                  <a:pt x="2893051" y="1024409"/>
                  <a:pt x="2840485" y="967396"/>
                </a:cubicBezTo>
                <a:cubicBezTo>
                  <a:pt x="2791605" y="903267"/>
                  <a:pt x="2750383" y="833547"/>
                  <a:pt x="2717649" y="759845"/>
                </a:cubicBezTo>
                <a:cubicBezTo>
                  <a:pt x="2710601" y="749425"/>
                  <a:pt x="2705179" y="737988"/>
                  <a:pt x="2701553" y="725959"/>
                </a:cubicBezTo>
                <a:cubicBezTo>
                  <a:pt x="2698165" y="713252"/>
                  <a:pt x="2687999" y="699698"/>
                  <a:pt x="2708330" y="688684"/>
                </a:cubicBezTo>
                <a:cubicBezTo>
                  <a:pt x="2728662" y="677672"/>
                  <a:pt x="2729509" y="698850"/>
                  <a:pt x="2736286" y="709016"/>
                </a:cubicBezTo>
                <a:cubicBezTo>
                  <a:pt x="2741267" y="717403"/>
                  <a:pt x="2748256" y="724350"/>
                  <a:pt x="2756618" y="729348"/>
                </a:cubicBezTo>
                <a:cubicBezTo>
                  <a:pt x="2748146" y="674876"/>
                  <a:pt x="2748146" y="619473"/>
                  <a:pt x="2756618" y="565001"/>
                </a:cubicBezTo>
                <a:cubicBezTo>
                  <a:pt x="2759159" y="525185"/>
                  <a:pt x="2781185" y="492146"/>
                  <a:pt x="2781185" y="453178"/>
                </a:cubicBezTo>
                <a:cubicBezTo>
                  <a:pt x="2783294" y="441487"/>
                  <a:pt x="2794477" y="433694"/>
                  <a:pt x="2806176" y="435812"/>
                </a:cubicBezTo>
                <a:cubicBezTo>
                  <a:pt x="2817875" y="437929"/>
                  <a:pt x="2825652" y="449112"/>
                  <a:pt x="2823542" y="460802"/>
                </a:cubicBezTo>
                <a:cubicBezTo>
                  <a:pt x="2825118" y="504769"/>
                  <a:pt x="2833700" y="548228"/>
                  <a:pt x="2848957" y="589568"/>
                </a:cubicBezTo>
                <a:cubicBezTo>
                  <a:pt x="2867594" y="586180"/>
                  <a:pt x="2866747" y="570084"/>
                  <a:pt x="2877760" y="563307"/>
                </a:cubicBezTo>
                <a:cubicBezTo>
                  <a:pt x="2885926" y="558817"/>
                  <a:pt x="2895855" y="558817"/>
                  <a:pt x="2904021" y="563307"/>
                </a:cubicBezTo>
                <a:cubicBezTo>
                  <a:pt x="2909951" y="569237"/>
                  <a:pt x="2909951" y="578556"/>
                  <a:pt x="2909951" y="587874"/>
                </a:cubicBezTo>
                <a:cubicBezTo>
                  <a:pt x="2888493" y="691056"/>
                  <a:pt x="2912578" y="798475"/>
                  <a:pt x="2976029" y="882681"/>
                </a:cubicBezTo>
                <a:cubicBezTo>
                  <a:pt x="3016692" y="945371"/>
                  <a:pt x="3056508" y="1008059"/>
                  <a:pt x="3094629" y="1068207"/>
                </a:cubicBezTo>
                <a:cubicBezTo>
                  <a:pt x="3149364" y="1014582"/>
                  <a:pt x="3193356" y="951046"/>
                  <a:pt x="3224243" y="880987"/>
                </a:cubicBezTo>
                <a:cubicBezTo>
                  <a:pt x="3233561" y="864044"/>
                  <a:pt x="3239492" y="832700"/>
                  <a:pt x="3229326" y="822534"/>
                </a:cubicBezTo>
                <a:cubicBezTo>
                  <a:pt x="3219160" y="812369"/>
                  <a:pt x="3231867" y="803050"/>
                  <a:pt x="3239492" y="803050"/>
                </a:cubicBezTo>
                <a:cubicBezTo>
                  <a:pt x="3247116" y="803050"/>
                  <a:pt x="3258129" y="785260"/>
                  <a:pt x="3261517" y="803050"/>
                </a:cubicBezTo>
                <a:cubicBezTo>
                  <a:pt x="3264906" y="820840"/>
                  <a:pt x="3297098" y="831853"/>
                  <a:pt x="3275919" y="858114"/>
                </a:cubicBezTo>
                <a:cubicBezTo>
                  <a:pt x="3269091" y="871584"/>
                  <a:pt x="3265059" y="886239"/>
                  <a:pt x="3264059" y="901319"/>
                </a:cubicBezTo>
                <a:cubicBezTo>
                  <a:pt x="3258976" y="921650"/>
                  <a:pt x="3265753" y="934357"/>
                  <a:pt x="3289473" y="934357"/>
                </a:cubicBezTo>
                <a:cubicBezTo>
                  <a:pt x="3301884" y="935205"/>
                  <a:pt x="3314337" y="935205"/>
                  <a:pt x="3326748" y="934357"/>
                </a:cubicBezTo>
                <a:cubicBezTo>
                  <a:pt x="3356398" y="926733"/>
                  <a:pt x="3366564" y="932663"/>
                  <a:pt x="3371647" y="967396"/>
                </a:cubicBezTo>
                <a:cubicBezTo>
                  <a:pt x="3375035" y="1002637"/>
                  <a:pt x="3375035" y="1038048"/>
                  <a:pt x="3371647" y="1073289"/>
                </a:cubicBezTo>
                <a:cubicBezTo>
                  <a:pt x="3370800" y="1090233"/>
                  <a:pt x="3359787" y="1090233"/>
                  <a:pt x="3349621" y="1090233"/>
                </a:cubicBezTo>
                <a:cubicBezTo>
                  <a:pt x="3317904" y="1094807"/>
                  <a:pt x="3286500" y="1101245"/>
                  <a:pt x="3255587" y="1109717"/>
                </a:cubicBezTo>
                <a:cubicBezTo>
                  <a:pt x="3189510" y="1137673"/>
                  <a:pt x="3174261" y="1174100"/>
                  <a:pt x="3215771" y="1228318"/>
                </a:cubicBezTo>
                <a:cubicBezTo>
                  <a:pt x="3296462" y="1336922"/>
                  <a:pt x="3364658" y="1454336"/>
                  <a:pt x="3419087" y="1578189"/>
                </a:cubicBezTo>
                <a:cubicBezTo>
                  <a:pt x="3430947" y="1602757"/>
                  <a:pt x="3443654" y="1619700"/>
                  <a:pt x="3470763" y="1610381"/>
                </a:cubicBezTo>
                <a:cubicBezTo>
                  <a:pt x="3567211" y="1573615"/>
                  <a:pt x="3676213" y="1595302"/>
                  <a:pt x="3751169" y="1666293"/>
                </a:cubicBezTo>
                <a:cubicBezTo>
                  <a:pt x="3739885" y="1603689"/>
                  <a:pt x="3735903" y="1540068"/>
                  <a:pt x="3739309" y="1476532"/>
                </a:cubicBezTo>
                <a:cubicBezTo>
                  <a:pt x="3741850" y="1442646"/>
                  <a:pt x="3704576" y="1422314"/>
                  <a:pt x="3691868" y="1391817"/>
                </a:cubicBezTo>
                <a:cubicBezTo>
                  <a:pt x="3658101" y="1314812"/>
                  <a:pt x="3629789" y="1235603"/>
                  <a:pt x="3607154" y="1154616"/>
                </a:cubicBezTo>
                <a:cubicBezTo>
                  <a:pt x="3596988" y="1110564"/>
                  <a:pt x="3552089" y="1081761"/>
                  <a:pt x="3552089" y="1035168"/>
                </a:cubicBezTo>
                <a:cubicBezTo>
                  <a:pt x="3555478" y="1025002"/>
                  <a:pt x="3547006" y="1011448"/>
                  <a:pt x="3561408" y="1005518"/>
                </a:cubicBezTo>
                <a:cubicBezTo>
                  <a:pt x="3584281" y="1018225"/>
                  <a:pt x="3606306" y="1052958"/>
                  <a:pt x="3626638" y="1040251"/>
                </a:cubicBezTo>
                <a:cubicBezTo>
                  <a:pt x="3646969" y="1027543"/>
                  <a:pt x="3626638" y="997893"/>
                  <a:pt x="3626638" y="975868"/>
                </a:cubicBezTo>
                <a:cubicBezTo>
                  <a:pt x="3626638" y="970785"/>
                  <a:pt x="3630874" y="965702"/>
                  <a:pt x="3638498" y="959772"/>
                </a:cubicBezTo>
                <a:cubicBezTo>
                  <a:pt x="3655136" y="1007127"/>
                  <a:pt x="3663726" y="1056939"/>
                  <a:pt x="3663912" y="1107175"/>
                </a:cubicBezTo>
                <a:cubicBezTo>
                  <a:pt x="3661685" y="1159953"/>
                  <a:pt x="3697231" y="1206885"/>
                  <a:pt x="3748627" y="1218999"/>
                </a:cubicBezTo>
                <a:cubicBezTo>
                  <a:pt x="3784589" y="1225353"/>
                  <a:pt x="3817390" y="1243566"/>
                  <a:pt x="3841813" y="1270675"/>
                </a:cubicBezTo>
                <a:cubicBezTo>
                  <a:pt x="3868075" y="1294395"/>
                  <a:pt x="3889254" y="1302020"/>
                  <a:pt x="3918057" y="1276605"/>
                </a:cubicBezTo>
                <a:cubicBezTo>
                  <a:pt x="3937406" y="1255765"/>
                  <a:pt x="3965039" y="1244583"/>
                  <a:pt x="3993453" y="1246108"/>
                </a:cubicBezTo>
                <a:cubicBezTo>
                  <a:pt x="4006160" y="1247802"/>
                  <a:pt x="4026491" y="1259662"/>
                  <a:pt x="4033269" y="1233400"/>
                </a:cubicBezTo>
                <a:cubicBezTo>
                  <a:pt x="4040046" y="1207139"/>
                  <a:pt x="4040893" y="1191890"/>
                  <a:pt x="4015479" y="1178336"/>
                </a:cubicBezTo>
                <a:cubicBezTo>
                  <a:pt x="3996240" y="1167662"/>
                  <a:pt x="3978085" y="1155209"/>
                  <a:pt x="3961261" y="1141061"/>
                </a:cubicBezTo>
                <a:cubicBezTo>
                  <a:pt x="3899614" y="1086759"/>
                  <a:pt x="3890025" y="994251"/>
                  <a:pt x="3939235" y="928427"/>
                </a:cubicBezTo>
                <a:cubicBezTo>
                  <a:pt x="3980746" y="867433"/>
                  <a:pt x="4053600" y="851337"/>
                  <a:pt x="4101887" y="802203"/>
                </a:cubicBezTo>
                <a:cubicBezTo>
                  <a:pt x="4120525" y="782718"/>
                  <a:pt x="4161188" y="809827"/>
                  <a:pt x="4161188" y="838630"/>
                </a:cubicBezTo>
                <a:cubicBezTo>
                  <a:pt x="4161188" y="867433"/>
                  <a:pt x="4173048" y="869975"/>
                  <a:pt x="4195074" y="880140"/>
                </a:cubicBezTo>
                <a:cubicBezTo>
                  <a:pt x="4217100" y="890306"/>
                  <a:pt x="4250986" y="887765"/>
                  <a:pt x="4245903" y="926733"/>
                </a:cubicBezTo>
                <a:cubicBezTo>
                  <a:pt x="4327229" y="928427"/>
                  <a:pt x="4308592" y="1016531"/>
                  <a:pt x="4352643" y="1050417"/>
                </a:cubicBezTo>
                <a:cubicBezTo>
                  <a:pt x="4379752" y="1069054"/>
                  <a:pt x="4373822" y="1080914"/>
                  <a:pt x="4352643" y="1096163"/>
                </a:cubicBezTo>
                <a:cubicBezTo>
                  <a:pt x="4334345" y="1110479"/>
                  <a:pt x="4317597" y="1126660"/>
                  <a:pt x="4302662" y="1144450"/>
                </a:cubicBezTo>
                <a:cubicBezTo>
                  <a:pt x="4338242" y="1143603"/>
                  <a:pt x="4348408" y="1175794"/>
                  <a:pt x="4387377" y="1173253"/>
                </a:cubicBezTo>
                <a:cubicBezTo>
                  <a:pt x="4426345" y="1170712"/>
                  <a:pt x="4461078" y="1166476"/>
                  <a:pt x="4479716" y="1125813"/>
                </a:cubicBezTo>
                <a:cubicBezTo>
                  <a:pt x="4487340" y="1110564"/>
                  <a:pt x="4499200" y="1081761"/>
                  <a:pt x="4527156" y="1110564"/>
                </a:cubicBezTo>
                <a:cubicBezTo>
                  <a:pt x="4529697" y="1112258"/>
                  <a:pt x="4549182" y="1124965"/>
                  <a:pt x="4564430" y="1102940"/>
                </a:cubicBezTo>
                <a:cubicBezTo>
                  <a:pt x="4579679" y="1080914"/>
                  <a:pt x="4588150" y="1048722"/>
                  <a:pt x="4627119" y="1058041"/>
                </a:cubicBezTo>
                <a:cubicBezTo>
                  <a:pt x="4723135" y="967565"/>
                  <a:pt x="4810493" y="868280"/>
                  <a:pt x="4888041" y="761539"/>
                </a:cubicBezTo>
                <a:cubicBezTo>
                  <a:pt x="4916844" y="715793"/>
                  <a:pt x="4898206" y="663270"/>
                  <a:pt x="4911761" y="615830"/>
                </a:cubicBezTo>
                <a:cubicBezTo>
                  <a:pt x="4924535" y="586349"/>
                  <a:pt x="4924535" y="552972"/>
                  <a:pt x="4911761" y="523491"/>
                </a:cubicBezTo>
                <a:cubicBezTo>
                  <a:pt x="4938624" y="537808"/>
                  <a:pt x="4952263" y="568559"/>
                  <a:pt x="4944799" y="598040"/>
                </a:cubicBezTo>
                <a:cubicBezTo>
                  <a:pt x="4942258" y="608206"/>
                  <a:pt x="4937175" y="620066"/>
                  <a:pt x="4949882" y="624302"/>
                </a:cubicBezTo>
                <a:cubicBezTo>
                  <a:pt x="4962590" y="628537"/>
                  <a:pt x="4969367" y="617524"/>
                  <a:pt x="4975297" y="608206"/>
                </a:cubicBezTo>
                <a:cubicBezTo>
                  <a:pt x="4994002" y="570508"/>
                  <a:pt x="5019569" y="536622"/>
                  <a:pt x="5050693" y="508242"/>
                </a:cubicBezTo>
                <a:cubicBezTo>
                  <a:pt x="5063400" y="498924"/>
                  <a:pt x="5078649" y="482828"/>
                  <a:pt x="5078649" y="515020"/>
                </a:cubicBezTo>
                <a:cubicBezTo>
                  <a:pt x="5079496" y="525185"/>
                  <a:pt x="5083731" y="531116"/>
                  <a:pt x="5095592" y="525185"/>
                </a:cubicBezTo>
                <a:cubicBezTo>
                  <a:pt x="5107452" y="519255"/>
                  <a:pt x="5122700" y="508242"/>
                  <a:pt x="5127783" y="525185"/>
                </a:cubicBezTo>
                <a:cubicBezTo>
                  <a:pt x="5132866" y="542128"/>
                  <a:pt x="5143879" y="557377"/>
                  <a:pt x="5127783" y="577708"/>
                </a:cubicBezTo>
                <a:cubicBezTo>
                  <a:pt x="5111687" y="598040"/>
                  <a:pt x="5105757" y="611594"/>
                  <a:pt x="5082037" y="642092"/>
                </a:cubicBezTo>
                <a:cubicBezTo>
                  <a:pt x="5058317" y="672589"/>
                  <a:pt x="5073566" y="672589"/>
                  <a:pt x="5100674" y="672589"/>
                </a:cubicBezTo>
                <a:lnTo>
                  <a:pt x="5111687" y="682754"/>
                </a:lnTo>
                <a:cubicBezTo>
                  <a:pt x="5088933" y="698766"/>
                  <a:pt x="5071050" y="720792"/>
                  <a:pt x="5060011" y="746290"/>
                </a:cubicBezTo>
                <a:cubicBezTo>
                  <a:pt x="5053878" y="760608"/>
                  <a:pt x="5044263" y="773060"/>
                  <a:pt x="5032056" y="782718"/>
                </a:cubicBezTo>
                <a:cubicBezTo>
                  <a:pt x="4982277" y="805845"/>
                  <a:pt x="4946214" y="850998"/>
                  <a:pt x="4934634" y="904707"/>
                </a:cubicBezTo>
                <a:cubicBezTo>
                  <a:pt x="4950729" y="899625"/>
                  <a:pt x="4973602" y="936899"/>
                  <a:pt x="4997323" y="899625"/>
                </a:cubicBezTo>
                <a:cubicBezTo>
                  <a:pt x="5002405" y="891153"/>
                  <a:pt x="5018501" y="906401"/>
                  <a:pt x="5029514" y="911485"/>
                </a:cubicBezTo>
                <a:cubicBezTo>
                  <a:pt x="5082249" y="938932"/>
                  <a:pt x="5125377" y="981798"/>
                  <a:pt x="5153198" y="1034321"/>
                </a:cubicBezTo>
                <a:cubicBezTo>
                  <a:pt x="5182848" y="993658"/>
                  <a:pt x="5198097" y="947065"/>
                  <a:pt x="5225205" y="908943"/>
                </a:cubicBezTo>
                <a:cubicBezTo>
                  <a:pt x="5269257" y="847949"/>
                  <a:pt x="5310767" y="787801"/>
                  <a:pt x="5353972" y="727654"/>
                </a:cubicBezTo>
                <a:cubicBezTo>
                  <a:pt x="5387010" y="681060"/>
                  <a:pt x="5436145" y="637009"/>
                  <a:pt x="5422591" y="568390"/>
                </a:cubicBezTo>
                <a:cubicBezTo>
                  <a:pt x="5419202" y="550600"/>
                  <a:pt x="5412425" y="534504"/>
                  <a:pt x="5412425" y="514172"/>
                </a:cubicBezTo>
                <a:cubicBezTo>
                  <a:pt x="5429884" y="442928"/>
                  <a:pt x="5458467" y="374901"/>
                  <a:pt x="5497139" y="312551"/>
                </a:cubicBezTo>
                <a:cubicBezTo>
                  <a:pt x="5508144" y="297641"/>
                  <a:pt x="5517784" y="281800"/>
                  <a:pt x="5525943" y="265111"/>
                </a:cubicBezTo>
                <a:cubicBezTo>
                  <a:pt x="5541191" y="215129"/>
                  <a:pt x="5586090" y="240544"/>
                  <a:pt x="5603033" y="244779"/>
                </a:cubicBezTo>
                <a:cubicBezTo>
                  <a:pt x="5619976" y="249015"/>
                  <a:pt x="5612352" y="268499"/>
                  <a:pt x="5607269" y="281207"/>
                </a:cubicBezTo>
                <a:cubicBezTo>
                  <a:pt x="5593774" y="303063"/>
                  <a:pt x="5584311" y="327207"/>
                  <a:pt x="5579313" y="352367"/>
                </a:cubicBezTo>
                <a:cubicBezTo>
                  <a:pt x="5596256" y="352367"/>
                  <a:pt x="5594562" y="340507"/>
                  <a:pt x="5603033" y="330341"/>
                </a:cubicBezTo>
                <a:cubicBezTo>
                  <a:pt x="5611504" y="320175"/>
                  <a:pt x="5619976" y="301538"/>
                  <a:pt x="5633530" y="310010"/>
                </a:cubicBezTo>
                <a:cubicBezTo>
                  <a:pt x="5647085" y="318481"/>
                  <a:pt x="5639460" y="336271"/>
                  <a:pt x="5633530" y="348979"/>
                </a:cubicBezTo>
                <a:cubicBezTo>
                  <a:pt x="5619129" y="379476"/>
                  <a:pt x="5604728" y="409973"/>
                  <a:pt x="5589479" y="440470"/>
                </a:cubicBezTo>
                <a:cubicBezTo>
                  <a:pt x="5589479" y="448942"/>
                  <a:pt x="5579313" y="459108"/>
                  <a:pt x="5589479" y="465885"/>
                </a:cubicBezTo>
                <a:cubicBezTo>
                  <a:pt x="5599644" y="472662"/>
                  <a:pt x="5602186" y="469274"/>
                  <a:pt x="5613199" y="456566"/>
                </a:cubicBezTo>
                <a:cubicBezTo>
                  <a:pt x="5624212" y="443859"/>
                  <a:pt x="5639460" y="424375"/>
                  <a:pt x="5645390" y="416750"/>
                </a:cubicBezTo>
                <a:cubicBezTo>
                  <a:pt x="5651320" y="409126"/>
                  <a:pt x="5658945" y="400655"/>
                  <a:pt x="5669110" y="409126"/>
                </a:cubicBezTo>
                <a:cubicBezTo>
                  <a:pt x="5675896" y="416581"/>
                  <a:pt x="5675896" y="427933"/>
                  <a:pt x="5669110" y="435388"/>
                </a:cubicBezTo>
                <a:cubicBezTo>
                  <a:pt x="5660486" y="450044"/>
                  <a:pt x="5650567" y="463936"/>
                  <a:pt x="5639460" y="476898"/>
                </a:cubicBezTo>
                <a:cubicBezTo>
                  <a:pt x="5608540" y="510868"/>
                  <a:pt x="5594273" y="556784"/>
                  <a:pt x="5600492" y="602276"/>
                </a:cubicBezTo>
                <a:cubicBezTo>
                  <a:pt x="5603397" y="614390"/>
                  <a:pt x="5599881" y="627182"/>
                  <a:pt x="5591173" y="636162"/>
                </a:cubicBezTo>
                <a:cubicBezTo>
                  <a:pt x="5510414" y="720283"/>
                  <a:pt x="5452148" y="823466"/>
                  <a:pt x="5421743" y="936052"/>
                </a:cubicBezTo>
                <a:cubicBezTo>
                  <a:pt x="5386426" y="1047113"/>
                  <a:pt x="5339579" y="1154108"/>
                  <a:pt x="5281964" y="1255426"/>
                </a:cubicBezTo>
                <a:cubicBezTo>
                  <a:pt x="5264284" y="1287194"/>
                  <a:pt x="5260014" y="1324723"/>
                  <a:pt x="5270104" y="1359626"/>
                </a:cubicBezTo>
                <a:cubicBezTo>
                  <a:pt x="5304845" y="1467128"/>
                  <a:pt x="5349956" y="1570904"/>
                  <a:pt x="5404800" y="1669681"/>
                </a:cubicBezTo>
                <a:cubicBezTo>
                  <a:pt x="5413272" y="1689166"/>
                  <a:pt x="5427673" y="1691707"/>
                  <a:pt x="5438686" y="1679000"/>
                </a:cubicBezTo>
                <a:cubicBezTo>
                  <a:pt x="5449699" y="1666293"/>
                  <a:pt x="5464948" y="1663751"/>
                  <a:pt x="5476808" y="1654433"/>
                </a:cubicBezTo>
                <a:cubicBezTo>
                  <a:pt x="5510109" y="1637744"/>
                  <a:pt x="5525739" y="1598860"/>
                  <a:pt x="5513235" y="1563788"/>
                </a:cubicBezTo>
                <a:cubicBezTo>
                  <a:pt x="5501520" y="1519058"/>
                  <a:pt x="5485923" y="1475346"/>
                  <a:pt x="5466642" y="1433327"/>
                </a:cubicBezTo>
                <a:cubicBezTo>
                  <a:pt x="5444659" y="1398764"/>
                  <a:pt x="5439372" y="1356152"/>
                  <a:pt x="5452241" y="1317268"/>
                </a:cubicBezTo>
                <a:cubicBezTo>
                  <a:pt x="5465795" y="1280841"/>
                  <a:pt x="5449699" y="1245260"/>
                  <a:pt x="5459865" y="1206292"/>
                </a:cubicBezTo>
                <a:cubicBezTo>
                  <a:pt x="5497351" y="1096501"/>
                  <a:pt x="5614546" y="1035676"/>
                  <a:pt x="5725869" y="1068207"/>
                </a:cubicBezTo>
                <a:cubicBezTo>
                  <a:pt x="5729055" y="1068545"/>
                  <a:pt x="5732240" y="1068885"/>
                  <a:pt x="5735400" y="1069393"/>
                </a:cubicBezTo>
                <a:cubicBezTo>
                  <a:pt x="5824138" y="1083455"/>
                  <a:pt x="5884727" y="1166730"/>
                  <a:pt x="5870732" y="1255426"/>
                </a:cubicBezTo>
                <a:cubicBezTo>
                  <a:pt x="5870604" y="1275588"/>
                  <a:pt x="5872595" y="1295750"/>
                  <a:pt x="5876662" y="1315574"/>
                </a:cubicBezTo>
                <a:cubicBezTo>
                  <a:pt x="5887632" y="1358016"/>
                  <a:pt x="5878915" y="1403084"/>
                  <a:pt x="5852941" y="1438410"/>
                </a:cubicBezTo>
                <a:cubicBezTo>
                  <a:pt x="5827323" y="1486528"/>
                  <a:pt x="5808238" y="1537780"/>
                  <a:pt x="5796182" y="1590897"/>
                </a:cubicBezTo>
                <a:cubicBezTo>
                  <a:pt x="5788558" y="1607840"/>
                  <a:pt x="5802112" y="1621394"/>
                  <a:pt x="5814820" y="1630713"/>
                </a:cubicBezTo>
                <a:cubicBezTo>
                  <a:pt x="5840412" y="1652145"/>
                  <a:pt x="5868936" y="1669851"/>
                  <a:pt x="5899534" y="1683236"/>
                </a:cubicBezTo>
                <a:cubicBezTo>
                  <a:pt x="5929184" y="1694249"/>
                  <a:pt x="5950363" y="1659516"/>
                  <a:pt x="5977472" y="1649350"/>
                </a:cubicBezTo>
                <a:cubicBezTo>
                  <a:pt x="6089295" y="1606145"/>
                  <a:pt x="6106239" y="1501099"/>
                  <a:pt x="6129959" y="1404524"/>
                </a:cubicBezTo>
                <a:cubicBezTo>
                  <a:pt x="6137583" y="1375721"/>
                  <a:pt x="6111321" y="1337600"/>
                  <a:pt x="6099461" y="1304561"/>
                </a:cubicBezTo>
                <a:cubicBezTo>
                  <a:pt x="6054605" y="1184351"/>
                  <a:pt x="6018923" y="1060837"/>
                  <a:pt x="5992721" y="935205"/>
                </a:cubicBezTo>
                <a:cubicBezTo>
                  <a:pt x="5991026" y="925886"/>
                  <a:pt x="5989332" y="909790"/>
                  <a:pt x="5983402" y="909790"/>
                </a:cubicBezTo>
                <a:cubicBezTo>
                  <a:pt x="5890216" y="858961"/>
                  <a:pt x="5867343" y="750526"/>
                  <a:pt x="5805501" y="674283"/>
                </a:cubicBezTo>
                <a:cubicBezTo>
                  <a:pt x="5785170" y="648869"/>
                  <a:pt x="5752978" y="637856"/>
                  <a:pt x="5740271" y="605664"/>
                </a:cubicBezTo>
                <a:cubicBezTo>
                  <a:pt x="5733494" y="587027"/>
                  <a:pt x="5719939" y="570931"/>
                  <a:pt x="5740271" y="554836"/>
                </a:cubicBezTo>
                <a:cubicBezTo>
                  <a:pt x="5760602" y="538740"/>
                  <a:pt x="5780087" y="554836"/>
                  <a:pt x="5792794" y="568390"/>
                </a:cubicBezTo>
                <a:cubicBezTo>
                  <a:pt x="5805501" y="581944"/>
                  <a:pt x="5817361" y="597193"/>
                  <a:pt x="5830916" y="609053"/>
                </a:cubicBezTo>
                <a:cubicBezTo>
                  <a:pt x="5836498" y="615830"/>
                  <a:pt x="5844792" y="619727"/>
                  <a:pt x="5853560" y="619812"/>
                </a:cubicBezTo>
                <a:cubicBezTo>
                  <a:pt x="5869935" y="619981"/>
                  <a:pt x="5883312" y="606766"/>
                  <a:pt x="5883438" y="590416"/>
                </a:cubicBezTo>
                <a:cubicBezTo>
                  <a:pt x="5885133" y="568390"/>
                  <a:pt x="5905464" y="543822"/>
                  <a:pt x="5871578" y="521797"/>
                </a:cubicBezTo>
                <a:cubicBezTo>
                  <a:pt x="5853788" y="509937"/>
                  <a:pt x="5877508" y="496382"/>
                  <a:pt x="5892757" y="496382"/>
                </a:cubicBezTo>
                <a:cubicBezTo>
                  <a:pt x="5924102" y="499771"/>
                  <a:pt x="5924102" y="478592"/>
                  <a:pt x="5924102" y="458261"/>
                </a:cubicBezTo>
                <a:cubicBezTo>
                  <a:pt x="5924373" y="419207"/>
                  <a:pt x="5932437" y="380662"/>
                  <a:pt x="5947822" y="344743"/>
                </a:cubicBezTo>
                <a:cubicBezTo>
                  <a:pt x="5952904" y="334577"/>
                  <a:pt x="5957988" y="327800"/>
                  <a:pt x="5971542" y="327800"/>
                </a:cubicBezTo>
                <a:cubicBezTo>
                  <a:pt x="5980979" y="331019"/>
                  <a:pt x="5986206" y="341100"/>
                  <a:pt x="5983402" y="350673"/>
                </a:cubicBezTo>
                <a:cubicBezTo>
                  <a:pt x="5982352" y="380831"/>
                  <a:pt x="5990959" y="410481"/>
                  <a:pt x="6007969" y="435388"/>
                </a:cubicBezTo>
                <a:cubicBezTo>
                  <a:pt x="6034697" y="487911"/>
                  <a:pt x="6038975" y="549075"/>
                  <a:pt x="6019829" y="604817"/>
                </a:cubicBezTo>
                <a:cubicBezTo>
                  <a:pt x="6010019" y="643786"/>
                  <a:pt x="6016441" y="685042"/>
                  <a:pt x="6037619" y="719182"/>
                </a:cubicBezTo>
                <a:cubicBezTo>
                  <a:pt x="6087601" y="808133"/>
                  <a:pt x="6150290" y="889459"/>
                  <a:pt x="6194342" y="983492"/>
                </a:cubicBezTo>
                <a:cubicBezTo>
                  <a:pt x="6250719" y="1102431"/>
                  <a:pt x="6290900" y="1228318"/>
                  <a:pt x="6313789" y="1357931"/>
                </a:cubicBezTo>
                <a:cubicBezTo>
                  <a:pt x="6329945" y="1446288"/>
                  <a:pt x="6338162" y="1535832"/>
                  <a:pt x="6338357" y="1625630"/>
                </a:cubicBezTo>
                <a:cubicBezTo>
                  <a:pt x="6338357" y="1717122"/>
                  <a:pt x="6322261" y="1808613"/>
                  <a:pt x="6313789" y="1899258"/>
                </a:cubicBezTo>
                <a:cubicBezTo>
                  <a:pt x="6307470" y="1941955"/>
                  <a:pt x="6307470" y="1985328"/>
                  <a:pt x="6313789" y="2028025"/>
                </a:cubicBezTo>
                <a:cubicBezTo>
                  <a:pt x="6340983" y="2003542"/>
                  <a:pt x="6364135" y="1974994"/>
                  <a:pt x="6382408" y="1943310"/>
                </a:cubicBezTo>
                <a:cubicBezTo>
                  <a:pt x="6435779" y="1837417"/>
                  <a:pt x="6444250" y="1714580"/>
                  <a:pt x="6520494" y="1618853"/>
                </a:cubicBezTo>
                <a:cubicBezTo>
                  <a:pt x="6529592" y="1603858"/>
                  <a:pt x="6532624" y="1585983"/>
                  <a:pt x="6528965" y="1568871"/>
                </a:cubicBezTo>
                <a:cubicBezTo>
                  <a:pt x="6528406" y="1470686"/>
                  <a:pt x="6536343" y="1372587"/>
                  <a:pt x="6552685" y="1275758"/>
                </a:cubicBezTo>
                <a:cubicBezTo>
                  <a:pt x="6571720" y="1193670"/>
                  <a:pt x="6559962" y="1107429"/>
                  <a:pt x="6519646" y="1033473"/>
                </a:cubicBezTo>
                <a:cubicBezTo>
                  <a:pt x="6484642" y="972479"/>
                  <a:pt x="6470656" y="901573"/>
                  <a:pt x="6479830" y="831853"/>
                </a:cubicBezTo>
                <a:cubicBezTo>
                  <a:pt x="6480678" y="814910"/>
                  <a:pt x="6486608" y="792037"/>
                  <a:pt x="6501856" y="789495"/>
                </a:cubicBezTo>
                <a:cubicBezTo>
                  <a:pt x="6517105" y="786954"/>
                  <a:pt x="6530659" y="805591"/>
                  <a:pt x="6530659" y="824229"/>
                </a:cubicBezTo>
                <a:cubicBezTo>
                  <a:pt x="6530659" y="842865"/>
                  <a:pt x="6557768" y="842865"/>
                  <a:pt x="6557768" y="858961"/>
                </a:cubicBezTo>
                <a:cubicBezTo>
                  <a:pt x="6572813" y="839647"/>
                  <a:pt x="6583767" y="817451"/>
                  <a:pt x="6589960" y="793731"/>
                </a:cubicBezTo>
                <a:cubicBezTo>
                  <a:pt x="6594195" y="781871"/>
                  <a:pt x="6589112" y="763234"/>
                  <a:pt x="6612832" y="769164"/>
                </a:cubicBezTo>
                <a:cubicBezTo>
                  <a:pt x="6636552" y="775094"/>
                  <a:pt x="6627234" y="792037"/>
                  <a:pt x="6627234" y="806439"/>
                </a:cubicBezTo>
                <a:cubicBezTo>
                  <a:pt x="6613976" y="843882"/>
                  <a:pt x="6608775" y="883698"/>
                  <a:pt x="6611986" y="923345"/>
                </a:cubicBezTo>
                <a:cubicBezTo>
                  <a:pt x="6629776" y="898777"/>
                  <a:pt x="6649260" y="875905"/>
                  <a:pt x="6665356" y="872516"/>
                </a:cubicBezTo>
                <a:cubicBezTo>
                  <a:pt x="6681452" y="869127"/>
                  <a:pt x="6698394" y="864891"/>
                  <a:pt x="6705172" y="884376"/>
                </a:cubicBezTo>
                <a:cubicBezTo>
                  <a:pt x="6711949" y="903860"/>
                  <a:pt x="6688228" y="902166"/>
                  <a:pt x="6676368" y="913179"/>
                </a:cubicBezTo>
                <a:cubicBezTo>
                  <a:pt x="6714490" y="919109"/>
                  <a:pt x="6722962" y="923345"/>
                  <a:pt x="6714490" y="969937"/>
                </a:cubicBezTo>
                <a:cubicBezTo>
                  <a:pt x="6706019" y="1016531"/>
                  <a:pt x="6719573" y="1065665"/>
                  <a:pt x="6695853" y="1111411"/>
                </a:cubicBezTo>
                <a:cubicBezTo>
                  <a:pt x="6686534" y="1130049"/>
                  <a:pt x="6702630" y="1151227"/>
                  <a:pt x="6702630" y="1171559"/>
                </a:cubicBezTo>
                <a:cubicBezTo>
                  <a:pt x="6726613" y="1292870"/>
                  <a:pt x="6735432" y="1416638"/>
                  <a:pt x="6728892" y="1540068"/>
                </a:cubicBezTo>
                <a:cubicBezTo>
                  <a:pt x="6728044" y="1548539"/>
                  <a:pt x="6727198" y="1561247"/>
                  <a:pt x="6735669" y="1563788"/>
                </a:cubicBezTo>
                <a:cubicBezTo>
                  <a:pt x="6744140" y="1566329"/>
                  <a:pt x="6747529" y="1560399"/>
                  <a:pt x="6753459" y="1554469"/>
                </a:cubicBezTo>
                <a:cubicBezTo>
                  <a:pt x="6823773" y="1487544"/>
                  <a:pt x="6905099" y="1434174"/>
                  <a:pt x="6981342" y="1374874"/>
                </a:cubicBezTo>
                <a:cubicBezTo>
                  <a:pt x="7013533" y="1352848"/>
                  <a:pt x="7010992" y="1330822"/>
                  <a:pt x="6981342" y="1310491"/>
                </a:cubicBezTo>
                <a:cubicBezTo>
                  <a:pt x="6971718" y="1303290"/>
                  <a:pt x="6962654" y="1295327"/>
                  <a:pt x="6954233" y="1286771"/>
                </a:cubicBezTo>
                <a:cubicBezTo>
                  <a:pt x="6943356" y="1278977"/>
                  <a:pt x="6940721" y="1263898"/>
                  <a:pt x="6948303" y="1252885"/>
                </a:cubicBezTo>
                <a:cubicBezTo>
                  <a:pt x="6956775" y="1241872"/>
                  <a:pt x="6970329" y="1243566"/>
                  <a:pt x="6983036" y="1247802"/>
                </a:cubicBezTo>
                <a:cubicBezTo>
                  <a:pt x="7018616" y="1261356"/>
                  <a:pt x="7041489" y="1247802"/>
                  <a:pt x="7041489" y="1204598"/>
                </a:cubicBezTo>
                <a:cubicBezTo>
                  <a:pt x="7042336" y="1197820"/>
                  <a:pt x="7043183" y="1189349"/>
                  <a:pt x="7048266" y="1189349"/>
                </a:cubicBezTo>
                <a:cubicBezTo>
                  <a:pt x="7098248" y="1161393"/>
                  <a:pt x="7066903" y="1151227"/>
                  <a:pt x="7039795" y="1133437"/>
                </a:cubicBezTo>
                <a:cubicBezTo>
                  <a:pt x="6995743" y="1102940"/>
                  <a:pt x="6943220" y="1065665"/>
                  <a:pt x="6955080" y="1002977"/>
                </a:cubicBezTo>
                <a:cubicBezTo>
                  <a:pt x="6964755" y="955875"/>
                  <a:pt x="6940958" y="908265"/>
                  <a:pt x="6897474" y="887765"/>
                </a:cubicBezTo>
                <a:cubicBezTo>
                  <a:pt x="6889850" y="881835"/>
                  <a:pt x="6889850" y="875905"/>
                  <a:pt x="6897474" y="870821"/>
                </a:cubicBezTo>
                <a:cubicBezTo>
                  <a:pt x="6905099" y="865739"/>
                  <a:pt x="6904251" y="852184"/>
                  <a:pt x="6921194" y="865739"/>
                </a:cubicBezTo>
                <a:cubicBezTo>
                  <a:pt x="6961010" y="897930"/>
                  <a:pt x="6966940" y="892847"/>
                  <a:pt x="6975411" y="836935"/>
                </a:cubicBezTo>
                <a:cubicBezTo>
                  <a:pt x="6976259" y="832700"/>
                  <a:pt x="6982189" y="825923"/>
                  <a:pt x="6982189" y="825923"/>
                </a:cubicBezTo>
                <a:cubicBezTo>
                  <a:pt x="6991651" y="823974"/>
                  <a:pt x="7001275" y="828464"/>
                  <a:pt x="7005909" y="836935"/>
                </a:cubicBezTo>
                <a:cubicBezTo>
                  <a:pt x="7020522" y="862519"/>
                  <a:pt x="7033814" y="888781"/>
                  <a:pt x="7045725" y="915720"/>
                </a:cubicBezTo>
                <a:cubicBezTo>
                  <a:pt x="7069445" y="975868"/>
                  <a:pt x="7124509" y="1015683"/>
                  <a:pt x="7154159" y="1073289"/>
                </a:cubicBezTo>
                <a:cubicBezTo>
                  <a:pt x="7158395" y="1081761"/>
                  <a:pt x="7166019" y="1085149"/>
                  <a:pt x="7187198" y="1086844"/>
                </a:cubicBezTo>
                <a:cubicBezTo>
                  <a:pt x="7208377" y="1088538"/>
                  <a:pt x="7231250" y="1092774"/>
                  <a:pt x="7225320" y="1124119"/>
                </a:cubicBezTo>
                <a:cubicBezTo>
                  <a:pt x="7222779" y="1138520"/>
                  <a:pt x="7234639" y="1142756"/>
                  <a:pt x="7243110" y="1148686"/>
                </a:cubicBezTo>
                <a:cubicBezTo>
                  <a:pt x="7303258" y="1184266"/>
                  <a:pt x="7364252" y="1219846"/>
                  <a:pt x="7423552" y="1257121"/>
                </a:cubicBezTo>
                <a:cubicBezTo>
                  <a:pt x="7442190" y="1268134"/>
                  <a:pt x="7448120" y="1257121"/>
                  <a:pt x="7454897" y="1244414"/>
                </a:cubicBezTo>
                <a:cubicBezTo>
                  <a:pt x="7535961" y="1130895"/>
                  <a:pt x="7584308" y="997216"/>
                  <a:pt x="7594676" y="858114"/>
                </a:cubicBezTo>
                <a:cubicBezTo>
                  <a:pt x="7603063" y="799831"/>
                  <a:pt x="7619007" y="742902"/>
                  <a:pt x="7642117" y="688684"/>
                </a:cubicBezTo>
                <a:cubicBezTo>
                  <a:pt x="7643811" y="676824"/>
                  <a:pt x="7649741" y="670894"/>
                  <a:pt x="7661601" y="676824"/>
                </a:cubicBezTo>
                <a:cubicBezTo>
                  <a:pt x="7675638" y="683686"/>
                  <a:pt x="7684034" y="698512"/>
                  <a:pt x="7682780" y="714099"/>
                </a:cubicBezTo>
                <a:cubicBezTo>
                  <a:pt x="7679815" y="728924"/>
                  <a:pt x="7679815" y="744173"/>
                  <a:pt x="7682780" y="758998"/>
                </a:cubicBezTo>
                <a:lnTo>
                  <a:pt x="7742927" y="679366"/>
                </a:lnTo>
                <a:cubicBezTo>
                  <a:pt x="7750204" y="669116"/>
                  <a:pt x="7756718" y="658357"/>
                  <a:pt x="7762411" y="647174"/>
                </a:cubicBezTo>
                <a:cubicBezTo>
                  <a:pt x="7771730" y="631078"/>
                  <a:pt x="7784437" y="615830"/>
                  <a:pt x="7803075" y="622607"/>
                </a:cubicBezTo>
                <a:cubicBezTo>
                  <a:pt x="7821712" y="629384"/>
                  <a:pt x="7822559" y="645480"/>
                  <a:pt x="7815782" y="668353"/>
                </a:cubicBezTo>
                <a:cubicBezTo>
                  <a:pt x="7809005" y="691226"/>
                  <a:pt x="7787826" y="711558"/>
                  <a:pt x="7815782" y="736125"/>
                </a:cubicBezTo>
                <a:cubicBezTo>
                  <a:pt x="7825101" y="743749"/>
                  <a:pt x="7809852" y="763234"/>
                  <a:pt x="7799686" y="775941"/>
                </a:cubicBezTo>
                <a:cubicBezTo>
                  <a:pt x="7758506" y="822534"/>
                  <a:pt x="7727873" y="877429"/>
                  <a:pt x="7709889" y="936899"/>
                </a:cubicBezTo>
                <a:cubicBezTo>
                  <a:pt x="7706940" y="956299"/>
                  <a:pt x="7706940" y="975953"/>
                  <a:pt x="7709889" y="995352"/>
                </a:cubicBezTo>
                <a:cubicBezTo>
                  <a:pt x="7719995" y="1062361"/>
                  <a:pt x="7702247" y="1130641"/>
                  <a:pt x="7660754" y="1184266"/>
                </a:cubicBezTo>
                <a:cubicBezTo>
                  <a:pt x="7633095" y="1222981"/>
                  <a:pt x="7610069" y="1264745"/>
                  <a:pt x="7592135" y="1308796"/>
                </a:cubicBezTo>
                <a:cubicBezTo>
                  <a:pt x="7581122" y="1329975"/>
                  <a:pt x="7593829" y="1337600"/>
                  <a:pt x="7611619" y="1337600"/>
                </a:cubicBezTo>
                <a:cubicBezTo>
                  <a:pt x="7704805" y="1335906"/>
                  <a:pt x="7797145" y="1373180"/>
                  <a:pt x="7893719" y="1342682"/>
                </a:cubicBezTo>
                <a:cubicBezTo>
                  <a:pt x="7931883" y="1334720"/>
                  <a:pt x="7971513" y="1337684"/>
                  <a:pt x="8008084" y="1351154"/>
                </a:cubicBezTo>
                <a:cubicBezTo>
                  <a:pt x="8022613" y="1356237"/>
                  <a:pt x="8038454" y="1356237"/>
                  <a:pt x="8052983" y="1351154"/>
                </a:cubicBezTo>
                <a:cubicBezTo>
                  <a:pt x="8080092" y="1340988"/>
                  <a:pt x="8088564" y="1332517"/>
                  <a:pt x="8071620" y="1302020"/>
                </a:cubicBezTo>
                <a:cubicBezTo>
                  <a:pt x="8036040" y="1240178"/>
                  <a:pt x="8007237" y="1174948"/>
                  <a:pt x="7975893" y="1111411"/>
                </a:cubicBezTo>
                <a:cubicBezTo>
                  <a:pt x="7969115" y="1104634"/>
                  <a:pt x="7969115" y="1095315"/>
                  <a:pt x="7969115" y="1090233"/>
                </a:cubicBezTo>
                <a:cubicBezTo>
                  <a:pt x="8003001" y="1017378"/>
                  <a:pt x="7945395" y="967396"/>
                  <a:pt x="7923369" y="909790"/>
                </a:cubicBezTo>
                <a:cubicBezTo>
                  <a:pt x="7914051" y="892000"/>
                  <a:pt x="7898802" y="876751"/>
                  <a:pt x="7923369" y="865739"/>
                </a:cubicBezTo>
                <a:cubicBezTo>
                  <a:pt x="7947937" y="854726"/>
                  <a:pt x="7941159" y="880987"/>
                  <a:pt x="7947937" y="890306"/>
                </a:cubicBezTo>
                <a:cubicBezTo>
                  <a:pt x="7968268" y="922497"/>
                  <a:pt x="7987753" y="956383"/>
                  <a:pt x="8008084" y="990269"/>
                </a:cubicBezTo>
                <a:cubicBezTo>
                  <a:pt x="8017403" y="978409"/>
                  <a:pt x="8008084" y="966549"/>
                  <a:pt x="8008084" y="956383"/>
                </a:cubicBezTo>
                <a:cubicBezTo>
                  <a:pt x="7992835" y="908096"/>
                  <a:pt x="7975893" y="859809"/>
                  <a:pt x="7960644" y="811521"/>
                </a:cubicBezTo>
                <a:cubicBezTo>
                  <a:pt x="7954714" y="796273"/>
                  <a:pt x="7937771" y="775941"/>
                  <a:pt x="7960644" y="765775"/>
                </a:cubicBezTo>
                <a:cubicBezTo>
                  <a:pt x="7983517" y="755609"/>
                  <a:pt x="7990294" y="786954"/>
                  <a:pt x="7992835" y="795425"/>
                </a:cubicBezTo>
                <a:cubicBezTo>
                  <a:pt x="7995377" y="803897"/>
                  <a:pt x="7997071" y="822534"/>
                  <a:pt x="8007237" y="812369"/>
                </a:cubicBezTo>
                <a:cubicBezTo>
                  <a:pt x="8017403" y="802203"/>
                  <a:pt x="8011473" y="786954"/>
                  <a:pt x="8001307" y="775094"/>
                </a:cubicBezTo>
                <a:cubicBezTo>
                  <a:pt x="7998554" y="766453"/>
                  <a:pt x="7996292" y="757727"/>
                  <a:pt x="7994530" y="748832"/>
                </a:cubicBezTo>
                <a:cubicBezTo>
                  <a:pt x="7986058" y="731889"/>
                  <a:pt x="7974198" y="703933"/>
                  <a:pt x="7994530" y="701392"/>
                </a:cubicBezTo>
                <a:cubicBezTo>
                  <a:pt x="8014861" y="698850"/>
                  <a:pt x="8049594" y="670894"/>
                  <a:pt x="8064843" y="719182"/>
                </a:cubicBezTo>
                <a:cubicBezTo>
                  <a:pt x="8092087" y="772976"/>
                  <a:pt x="8112851" y="829904"/>
                  <a:pt x="8126685" y="888611"/>
                </a:cubicBezTo>
                <a:cubicBezTo>
                  <a:pt x="8128379" y="911485"/>
                  <a:pt x="8141086" y="913179"/>
                  <a:pt x="8158876" y="905555"/>
                </a:cubicBezTo>
                <a:cubicBezTo>
                  <a:pt x="8214788" y="881835"/>
                  <a:pt x="8266464" y="912332"/>
                  <a:pt x="8318140" y="922497"/>
                </a:cubicBezTo>
                <a:cubicBezTo>
                  <a:pt x="8346943" y="927580"/>
                  <a:pt x="8346943" y="965702"/>
                  <a:pt x="8346943" y="994505"/>
                </a:cubicBezTo>
                <a:cubicBezTo>
                  <a:pt x="8350103" y="1018987"/>
                  <a:pt x="8354627" y="1043385"/>
                  <a:pt x="8360498" y="1067359"/>
                </a:cubicBezTo>
                <a:cubicBezTo>
                  <a:pt x="8361344" y="1120730"/>
                  <a:pt x="8393536" y="1169018"/>
                  <a:pt x="8387606" y="1205445"/>
                </a:cubicBezTo>
                <a:cubicBezTo>
                  <a:pt x="8381676" y="1241872"/>
                  <a:pt x="8374899" y="1279146"/>
                  <a:pt x="8374899" y="1315574"/>
                </a:cubicBezTo>
                <a:cubicBezTo>
                  <a:pt x="8372358" y="1339294"/>
                  <a:pt x="8390148" y="1332517"/>
                  <a:pt x="8400314" y="1329975"/>
                </a:cubicBezTo>
                <a:cubicBezTo>
                  <a:pt x="8410479" y="1327434"/>
                  <a:pt x="8409632" y="1363014"/>
                  <a:pt x="8427422" y="1338447"/>
                </a:cubicBezTo>
                <a:cubicBezTo>
                  <a:pt x="8450380" y="1326417"/>
                  <a:pt x="8476048" y="1320572"/>
                  <a:pt x="8501971" y="1321504"/>
                </a:cubicBezTo>
                <a:cubicBezTo>
                  <a:pt x="8540940" y="1327434"/>
                  <a:pt x="8579061" y="1310491"/>
                  <a:pt x="8620572" y="1327434"/>
                </a:cubicBezTo>
                <a:cubicBezTo>
                  <a:pt x="8648527" y="1338447"/>
                  <a:pt x="8642597" y="1305408"/>
                  <a:pt x="8642597" y="1285924"/>
                </a:cubicBezTo>
                <a:cubicBezTo>
                  <a:pt x="8635481" y="1245260"/>
                  <a:pt x="8625908" y="1205106"/>
                  <a:pt x="8613794" y="1165629"/>
                </a:cubicBezTo>
                <a:cubicBezTo>
                  <a:pt x="8604984" y="1132675"/>
                  <a:pt x="8608881" y="1097518"/>
                  <a:pt x="8624807" y="1067359"/>
                </a:cubicBezTo>
                <a:cubicBezTo>
                  <a:pt x="8634888" y="1048722"/>
                  <a:pt x="8638531" y="1027289"/>
                  <a:pt x="8634973" y="1006365"/>
                </a:cubicBezTo>
                <a:cubicBezTo>
                  <a:pt x="8632432" y="997047"/>
                  <a:pt x="8627348" y="983492"/>
                  <a:pt x="8640903" y="983492"/>
                </a:cubicBezTo>
                <a:cubicBezTo>
                  <a:pt x="8641411" y="983238"/>
                  <a:pt x="8642004" y="983069"/>
                  <a:pt x="8642512" y="982899"/>
                </a:cubicBezTo>
                <a:cubicBezTo>
                  <a:pt x="8653186" y="979511"/>
                  <a:pt x="8664623" y="985525"/>
                  <a:pt x="8668012" y="996199"/>
                </a:cubicBezTo>
                <a:cubicBezTo>
                  <a:pt x="8686226" y="1026781"/>
                  <a:pt x="8698848" y="1060328"/>
                  <a:pt x="8705286" y="1095315"/>
                </a:cubicBezTo>
                <a:cubicBezTo>
                  <a:pt x="8709522" y="1118188"/>
                  <a:pt x="8712910" y="1138520"/>
                  <a:pt x="8745102" y="1131743"/>
                </a:cubicBezTo>
                <a:cubicBezTo>
                  <a:pt x="8752727" y="1130049"/>
                  <a:pt x="8764587" y="1128354"/>
                  <a:pt x="8768823" y="1140214"/>
                </a:cubicBezTo>
                <a:cubicBezTo>
                  <a:pt x="8773058" y="1152074"/>
                  <a:pt x="8764587" y="1159699"/>
                  <a:pt x="8755268" y="1166476"/>
                </a:cubicBezTo>
                <a:cubicBezTo>
                  <a:pt x="8723924" y="1190196"/>
                  <a:pt x="8744255" y="1209680"/>
                  <a:pt x="8762893" y="1227470"/>
                </a:cubicBezTo>
                <a:cubicBezTo>
                  <a:pt x="8781530" y="1245260"/>
                  <a:pt x="8806097" y="1256274"/>
                  <a:pt x="8824734" y="1222388"/>
                </a:cubicBezTo>
                <a:cubicBezTo>
                  <a:pt x="8832782" y="1202564"/>
                  <a:pt x="8845235" y="1184944"/>
                  <a:pt x="8861161" y="1170712"/>
                </a:cubicBezTo>
                <a:cubicBezTo>
                  <a:pt x="8870480" y="1163934"/>
                  <a:pt x="8882340" y="1148686"/>
                  <a:pt x="8895895" y="1158004"/>
                </a:cubicBezTo>
                <a:cubicBezTo>
                  <a:pt x="8909449" y="1167323"/>
                  <a:pt x="8909449" y="1185960"/>
                  <a:pt x="8909449" y="1196126"/>
                </a:cubicBezTo>
                <a:cubicBezTo>
                  <a:pt x="8909449" y="1206292"/>
                  <a:pt x="8895895" y="1220694"/>
                  <a:pt x="8909449" y="1227470"/>
                </a:cubicBezTo>
                <a:cubicBezTo>
                  <a:pt x="8923003" y="1234248"/>
                  <a:pt x="8933169" y="1224082"/>
                  <a:pt x="8943335" y="1217305"/>
                </a:cubicBezTo>
                <a:cubicBezTo>
                  <a:pt x="9053209" y="1150041"/>
                  <a:pt x="9153004" y="1067613"/>
                  <a:pt x="9239836" y="972479"/>
                </a:cubicBezTo>
                <a:cubicBezTo>
                  <a:pt x="9270334" y="930122"/>
                  <a:pt x="9320315" y="905555"/>
                  <a:pt x="9355048" y="860656"/>
                </a:cubicBezTo>
                <a:cubicBezTo>
                  <a:pt x="9389781" y="815757"/>
                  <a:pt x="9414348" y="764928"/>
                  <a:pt x="9446540" y="719182"/>
                </a:cubicBezTo>
                <a:cubicBezTo>
                  <a:pt x="9454164" y="707322"/>
                  <a:pt x="9458400" y="686143"/>
                  <a:pt x="9475343" y="694614"/>
                </a:cubicBezTo>
                <a:cubicBezTo>
                  <a:pt x="9492286" y="703086"/>
                  <a:pt x="9483814" y="721724"/>
                  <a:pt x="9475343" y="734430"/>
                </a:cubicBezTo>
                <a:cubicBezTo>
                  <a:pt x="9466872" y="747138"/>
                  <a:pt x="9449929" y="761539"/>
                  <a:pt x="9466872" y="775941"/>
                </a:cubicBezTo>
                <a:cubicBezTo>
                  <a:pt x="9483814" y="790342"/>
                  <a:pt x="9503299" y="763234"/>
                  <a:pt x="9510076" y="760692"/>
                </a:cubicBezTo>
                <a:cubicBezTo>
                  <a:pt x="9516853" y="758150"/>
                  <a:pt x="9521936" y="749679"/>
                  <a:pt x="9527866" y="744596"/>
                </a:cubicBezTo>
                <a:cubicBezTo>
                  <a:pt x="9528036" y="744427"/>
                  <a:pt x="9528290" y="744173"/>
                  <a:pt x="9528459" y="744003"/>
                </a:cubicBezTo>
                <a:cubicBezTo>
                  <a:pt x="9535236" y="737565"/>
                  <a:pt x="9545995" y="737819"/>
                  <a:pt x="9552434" y="744596"/>
                </a:cubicBezTo>
                <a:cubicBezTo>
                  <a:pt x="9563447" y="753068"/>
                  <a:pt x="9558364" y="762386"/>
                  <a:pt x="9552434" y="770011"/>
                </a:cubicBezTo>
                <a:cubicBezTo>
                  <a:pt x="9544894" y="780176"/>
                  <a:pt x="9535745" y="789072"/>
                  <a:pt x="9525325" y="796273"/>
                </a:cubicBezTo>
                <a:cubicBezTo>
                  <a:pt x="9493133" y="814063"/>
                  <a:pt x="9477038" y="833547"/>
                  <a:pt x="9504146" y="869127"/>
                </a:cubicBezTo>
                <a:cubicBezTo>
                  <a:pt x="9519395" y="890306"/>
                  <a:pt x="9502452" y="910637"/>
                  <a:pt x="9493133" y="927580"/>
                </a:cubicBezTo>
                <a:cubicBezTo>
                  <a:pt x="9483814" y="944523"/>
                  <a:pt x="9482120" y="949606"/>
                  <a:pt x="9493133" y="965702"/>
                </a:cubicBezTo>
                <a:cubicBezTo>
                  <a:pt x="9531340" y="1034575"/>
                  <a:pt x="9559889" y="1108446"/>
                  <a:pt x="9577848" y="1185113"/>
                </a:cubicBezTo>
                <a:cubicBezTo>
                  <a:pt x="9590555" y="1227470"/>
                  <a:pt x="9567683" y="1268981"/>
                  <a:pt x="9567683" y="1312185"/>
                </a:cubicBezTo>
                <a:cubicBezTo>
                  <a:pt x="9575053" y="1354373"/>
                  <a:pt x="9594452" y="1393511"/>
                  <a:pt x="9623594" y="1424856"/>
                </a:cubicBezTo>
                <a:cubicBezTo>
                  <a:pt x="9632065" y="1439257"/>
                  <a:pt x="9637995" y="1437563"/>
                  <a:pt x="9647314" y="1424856"/>
                </a:cubicBezTo>
                <a:cubicBezTo>
                  <a:pt x="9693229" y="1360218"/>
                  <a:pt x="9735587" y="1293209"/>
                  <a:pt x="9774386" y="1224082"/>
                </a:cubicBezTo>
                <a:cubicBezTo>
                  <a:pt x="9784552" y="1207986"/>
                  <a:pt x="9779469" y="1197820"/>
                  <a:pt x="9759985" y="1189349"/>
                </a:cubicBezTo>
                <a:cubicBezTo>
                  <a:pt x="9740924" y="1182826"/>
                  <a:pt x="9720677" y="1180793"/>
                  <a:pt x="9700685" y="1183419"/>
                </a:cubicBezTo>
                <a:cubicBezTo>
                  <a:pt x="9623594" y="1182572"/>
                  <a:pt x="9585473" y="1147839"/>
                  <a:pt x="9585473" y="1069901"/>
                </a:cubicBezTo>
                <a:cubicBezTo>
                  <a:pt x="9583778" y="1036862"/>
                  <a:pt x="9592250" y="1021613"/>
                  <a:pt x="9628677" y="1021613"/>
                </a:cubicBezTo>
                <a:cubicBezTo>
                  <a:pt x="9695601" y="1021613"/>
                  <a:pt x="9695601" y="1019919"/>
                  <a:pt x="9684589" y="951301"/>
                </a:cubicBezTo>
                <a:cubicBezTo>
                  <a:pt x="9679506" y="919956"/>
                  <a:pt x="9684589" y="906401"/>
                  <a:pt x="9718475" y="880140"/>
                </a:cubicBezTo>
                <a:cubicBezTo>
                  <a:pt x="9706953" y="942999"/>
                  <a:pt x="9733554" y="1006704"/>
                  <a:pt x="9786246" y="1042792"/>
                </a:cubicBezTo>
                <a:cubicBezTo>
                  <a:pt x="9792007" y="1049654"/>
                  <a:pt x="9794718" y="1058465"/>
                  <a:pt x="9793871" y="1067359"/>
                </a:cubicBezTo>
                <a:cubicBezTo>
                  <a:pt x="9797175" y="1085234"/>
                  <a:pt x="9812931" y="1098195"/>
                  <a:pt x="9831145" y="1097857"/>
                </a:cubicBezTo>
                <a:cubicBezTo>
                  <a:pt x="9850629" y="1097857"/>
                  <a:pt x="9850629" y="1077525"/>
                  <a:pt x="9850629" y="1061429"/>
                </a:cubicBezTo>
                <a:cubicBezTo>
                  <a:pt x="9845885" y="1027205"/>
                  <a:pt x="9839363" y="993319"/>
                  <a:pt x="9831145" y="959772"/>
                </a:cubicBezTo>
                <a:cubicBezTo>
                  <a:pt x="9815049" y="903013"/>
                  <a:pt x="9845547" y="855573"/>
                  <a:pt x="9858254" y="805591"/>
                </a:cubicBezTo>
                <a:cubicBezTo>
                  <a:pt x="9874519" y="743072"/>
                  <a:pt x="9899001" y="682924"/>
                  <a:pt x="9931109" y="626843"/>
                </a:cubicBezTo>
                <a:cubicBezTo>
                  <a:pt x="9939580" y="611848"/>
                  <a:pt x="9939580" y="593550"/>
                  <a:pt x="9931109" y="578556"/>
                </a:cubicBezTo>
                <a:cubicBezTo>
                  <a:pt x="9930346" y="577454"/>
                  <a:pt x="9929583" y="576268"/>
                  <a:pt x="9928906" y="575082"/>
                </a:cubicBezTo>
                <a:cubicBezTo>
                  <a:pt x="9920180" y="559071"/>
                  <a:pt x="9926110" y="538994"/>
                  <a:pt x="9942121" y="530268"/>
                </a:cubicBezTo>
                <a:cubicBezTo>
                  <a:pt x="9959912" y="520102"/>
                  <a:pt x="9973466" y="534504"/>
                  <a:pt x="9984479" y="549752"/>
                </a:cubicBezTo>
                <a:cubicBezTo>
                  <a:pt x="10010740" y="588721"/>
                  <a:pt x="10039544" y="626843"/>
                  <a:pt x="10069194" y="668353"/>
                </a:cubicBezTo>
                <a:cubicBezTo>
                  <a:pt x="10081901" y="642939"/>
                  <a:pt x="10064958" y="616677"/>
                  <a:pt x="10081901" y="595498"/>
                </a:cubicBezTo>
                <a:cubicBezTo>
                  <a:pt x="10087831" y="587027"/>
                  <a:pt x="10093761" y="575167"/>
                  <a:pt x="10103926" y="576014"/>
                </a:cubicBezTo>
                <a:cubicBezTo>
                  <a:pt x="10114092" y="576861"/>
                  <a:pt x="10120870" y="586180"/>
                  <a:pt x="10120870" y="595498"/>
                </a:cubicBezTo>
                <a:cubicBezTo>
                  <a:pt x="10147640" y="666659"/>
                  <a:pt x="10166616" y="740530"/>
                  <a:pt x="10177628" y="815757"/>
                </a:cubicBezTo>
                <a:cubicBezTo>
                  <a:pt x="10183558" y="897676"/>
                  <a:pt x="10209820" y="976884"/>
                  <a:pt x="10253872" y="1046181"/>
                </a:cubicBezTo>
                <a:cubicBezTo>
                  <a:pt x="10274203" y="1084303"/>
                  <a:pt x="10287758" y="1142756"/>
                  <a:pt x="10320796" y="1152922"/>
                </a:cubicBezTo>
                <a:cubicBezTo>
                  <a:pt x="10353835" y="1163088"/>
                  <a:pt x="10372473" y="1101245"/>
                  <a:pt x="10398734" y="1072443"/>
                </a:cubicBezTo>
                <a:cubicBezTo>
                  <a:pt x="10423301" y="1045673"/>
                  <a:pt x="10451935" y="1022799"/>
                  <a:pt x="10483449" y="1004671"/>
                </a:cubicBezTo>
                <a:cubicBezTo>
                  <a:pt x="10514793" y="981798"/>
                  <a:pt x="10517335" y="935205"/>
                  <a:pt x="10527500" y="897083"/>
                </a:cubicBezTo>
                <a:cubicBezTo>
                  <a:pt x="10527500" y="892000"/>
                  <a:pt x="10527500" y="892000"/>
                  <a:pt x="10527500" y="892000"/>
                </a:cubicBezTo>
                <a:cubicBezTo>
                  <a:pt x="10532583" y="874210"/>
                  <a:pt x="10510557" y="843713"/>
                  <a:pt x="10538513" y="840324"/>
                </a:cubicBezTo>
                <a:cubicBezTo>
                  <a:pt x="10566469" y="836935"/>
                  <a:pt x="10567316" y="870821"/>
                  <a:pt x="10574093" y="892000"/>
                </a:cubicBezTo>
                <a:lnTo>
                  <a:pt x="10574093" y="908096"/>
                </a:lnTo>
                <a:lnTo>
                  <a:pt x="10574093" y="913179"/>
                </a:lnTo>
                <a:cubicBezTo>
                  <a:pt x="10582565" y="904707"/>
                  <a:pt x="10587648" y="896236"/>
                  <a:pt x="10587648" y="881835"/>
                </a:cubicBezTo>
                <a:cubicBezTo>
                  <a:pt x="10604591" y="786107"/>
                  <a:pt x="10618145" y="689532"/>
                  <a:pt x="10639323" y="594652"/>
                </a:cubicBezTo>
                <a:cubicBezTo>
                  <a:pt x="10664738" y="484522"/>
                  <a:pt x="10735051" y="443012"/>
                  <a:pt x="10852805" y="434540"/>
                </a:cubicBezTo>
                <a:cubicBezTo>
                  <a:pt x="10887538" y="431999"/>
                  <a:pt x="10889232" y="449789"/>
                  <a:pt x="10907022" y="459108"/>
                </a:cubicBezTo>
                <a:cubicBezTo>
                  <a:pt x="11013762" y="517561"/>
                  <a:pt x="11014610" y="623454"/>
                  <a:pt x="11029858" y="722570"/>
                </a:cubicBezTo>
                <a:cubicBezTo>
                  <a:pt x="11039008" y="749848"/>
                  <a:pt x="11041041" y="778990"/>
                  <a:pt x="11035789" y="807285"/>
                </a:cubicBezTo>
                <a:cubicBezTo>
                  <a:pt x="11067133" y="773399"/>
                  <a:pt x="11084076" y="806439"/>
                  <a:pt x="11086617" y="816604"/>
                </a:cubicBezTo>
                <a:cubicBezTo>
                  <a:pt x="11089158" y="826770"/>
                  <a:pt x="11088312" y="843713"/>
                  <a:pt x="11105254" y="843713"/>
                </a:cubicBezTo>
                <a:cubicBezTo>
                  <a:pt x="11109576" y="830159"/>
                  <a:pt x="11106356" y="815249"/>
                  <a:pt x="11096784" y="804744"/>
                </a:cubicBezTo>
                <a:cubicBezTo>
                  <a:pt x="11090006" y="795425"/>
                  <a:pt x="11093394" y="793731"/>
                  <a:pt x="11090006" y="777635"/>
                </a:cubicBezTo>
                <a:cubicBezTo>
                  <a:pt x="11086617" y="761539"/>
                  <a:pt x="11076452" y="736125"/>
                  <a:pt x="11095936" y="731889"/>
                </a:cubicBezTo>
                <a:cubicBezTo>
                  <a:pt x="11115421" y="727654"/>
                  <a:pt x="11142529" y="714946"/>
                  <a:pt x="11158625" y="749679"/>
                </a:cubicBezTo>
                <a:cubicBezTo>
                  <a:pt x="11189631" y="807455"/>
                  <a:pt x="11212165" y="869381"/>
                  <a:pt x="11225549" y="933511"/>
                </a:cubicBezTo>
                <a:cubicBezTo>
                  <a:pt x="11227244" y="945371"/>
                  <a:pt x="11226397" y="959772"/>
                  <a:pt x="11241645" y="964855"/>
                </a:cubicBezTo>
                <a:cubicBezTo>
                  <a:pt x="11256895" y="969937"/>
                  <a:pt x="11260283" y="952995"/>
                  <a:pt x="11267060" y="942829"/>
                </a:cubicBezTo>
                <a:cubicBezTo>
                  <a:pt x="11341609" y="839477"/>
                  <a:pt x="11423783" y="740360"/>
                  <a:pt x="11488165" y="629384"/>
                </a:cubicBezTo>
                <a:cubicBezTo>
                  <a:pt x="11536452" y="547211"/>
                  <a:pt x="11605072" y="472662"/>
                  <a:pt x="11591518" y="365921"/>
                </a:cubicBezTo>
                <a:cubicBezTo>
                  <a:pt x="11591518" y="352367"/>
                  <a:pt x="11591518" y="337965"/>
                  <a:pt x="11591518" y="324411"/>
                </a:cubicBezTo>
                <a:cubicBezTo>
                  <a:pt x="11591518" y="310857"/>
                  <a:pt x="11574575" y="296455"/>
                  <a:pt x="11591518" y="285443"/>
                </a:cubicBezTo>
                <a:cubicBezTo>
                  <a:pt x="11608460" y="274429"/>
                  <a:pt x="11607614" y="290525"/>
                  <a:pt x="11622862" y="303233"/>
                </a:cubicBezTo>
                <a:cubicBezTo>
                  <a:pt x="11638111" y="315940"/>
                  <a:pt x="11647430" y="307468"/>
                  <a:pt x="11647430" y="292219"/>
                </a:cubicBezTo>
                <a:cubicBezTo>
                  <a:pt x="11655647" y="264603"/>
                  <a:pt x="11660730" y="236223"/>
                  <a:pt x="11662678" y="207505"/>
                </a:cubicBezTo>
                <a:cubicBezTo>
                  <a:pt x="11660983" y="192257"/>
                  <a:pt x="11661831" y="168536"/>
                  <a:pt x="11682162" y="165995"/>
                </a:cubicBezTo>
                <a:cubicBezTo>
                  <a:pt x="11702494" y="163453"/>
                  <a:pt x="11703340" y="185479"/>
                  <a:pt x="11707576" y="202422"/>
                </a:cubicBezTo>
                <a:cubicBezTo>
                  <a:pt x="11721724" y="276971"/>
                  <a:pt x="11729094" y="352706"/>
                  <a:pt x="11729603" y="428610"/>
                </a:cubicBezTo>
                <a:cubicBezTo>
                  <a:pt x="11760608" y="362025"/>
                  <a:pt x="11773231" y="288238"/>
                  <a:pt x="11766030" y="215129"/>
                </a:cubicBezTo>
                <a:cubicBezTo>
                  <a:pt x="11766030" y="200728"/>
                  <a:pt x="11755864" y="178702"/>
                  <a:pt x="11781279" y="175313"/>
                </a:cubicBezTo>
                <a:cubicBezTo>
                  <a:pt x="11806692" y="171925"/>
                  <a:pt x="11798222" y="193951"/>
                  <a:pt x="11806692" y="210047"/>
                </a:cubicBezTo>
                <a:cubicBezTo>
                  <a:pt x="11815164" y="226142"/>
                  <a:pt x="11801610" y="243932"/>
                  <a:pt x="11815164" y="260028"/>
                </a:cubicBezTo>
                <a:cubicBezTo>
                  <a:pt x="11837190" y="234614"/>
                  <a:pt x="11830412" y="202422"/>
                  <a:pt x="11841426" y="175313"/>
                </a:cubicBezTo>
                <a:cubicBezTo>
                  <a:pt x="11844815" y="168536"/>
                  <a:pt x="11840579" y="160065"/>
                  <a:pt x="11855827" y="159217"/>
                </a:cubicBezTo>
                <a:cubicBezTo>
                  <a:pt x="11871076" y="158371"/>
                  <a:pt x="11871076" y="170231"/>
                  <a:pt x="11871076" y="177855"/>
                </a:cubicBezTo>
                <a:cubicBezTo>
                  <a:pt x="11882936" y="207505"/>
                  <a:pt x="11857522" y="237155"/>
                  <a:pt x="11871076" y="267653"/>
                </a:cubicBezTo>
                <a:cubicBezTo>
                  <a:pt x="11889714" y="256639"/>
                  <a:pt x="11885478" y="237155"/>
                  <a:pt x="11889714" y="226989"/>
                </a:cubicBezTo>
                <a:cubicBezTo>
                  <a:pt x="11893948" y="216823"/>
                  <a:pt x="11892255" y="204963"/>
                  <a:pt x="11911739" y="205811"/>
                </a:cubicBezTo>
                <a:cubicBezTo>
                  <a:pt x="11931223" y="206658"/>
                  <a:pt x="11930376" y="215977"/>
                  <a:pt x="11926987" y="234614"/>
                </a:cubicBezTo>
                <a:cubicBezTo>
                  <a:pt x="11923599" y="253251"/>
                  <a:pt x="11930376" y="270194"/>
                  <a:pt x="11941390" y="279513"/>
                </a:cubicBezTo>
                <a:cubicBezTo>
                  <a:pt x="11952402" y="288831"/>
                  <a:pt x="11953250" y="322717"/>
                  <a:pt x="11941390" y="348131"/>
                </a:cubicBezTo>
                <a:cubicBezTo>
                  <a:pt x="11908180" y="411583"/>
                  <a:pt x="11886410" y="480456"/>
                  <a:pt x="11877006" y="551447"/>
                </a:cubicBezTo>
                <a:cubicBezTo>
                  <a:pt x="11865484" y="601174"/>
                  <a:pt x="11873702" y="653358"/>
                  <a:pt x="11899879" y="697156"/>
                </a:cubicBezTo>
                <a:cubicBezTo>
                  <a:pt x="11956638" y="775941"/>
                  <a:pt x="12021021" y="848796"/>
                  <a:pt x="12077781" y="927580"/>
                </a:cubicBezTo>
                <a:cubicBezTo>
                  <a:pt x="12121831" y="988575"/>
                  <a:pt x="12160801" y="1052958"/>
                  <a:pt x="12198922" y="1117341"/>
                </a:cubicBezTo>
                <a:cubicBezTo>
                  <a:pt x="12202481" y="1132675"/>
                  <a:pt x="12202481" y="1148601"/>
                  <a:pt x="12198922" y="1163934"/>
                </a:cubicBezTo>
                <a:cubicBezTo>
                  <a:pt x="12198922" y="1396238"/>
                  <a:pt x="12198922" y="1767484"/>
                  <a:pt x="12198922" y="2151267"/>
                </a:cubicBezTo>
                <a:lnTo>
                  <a:pt x="12198922" y="2317477"/>
                </a:lnTo>
                <a:lnTo>
                  <a:pt x="6833098" y="2317477"/>
                </a:lnTo>
                <a:lnTo>
                  <a:pt x="6833091" y="2316903"/>
                </a:lnTo>
                <a:cubicBezTo>
                  <a:pt x="6819130" y="2234814"/>
                  <a:pt x="6784101" y="2157723"/>
                  <a:pt x="6731433" y="2093255"/>
                </a:cubicBezTo>
                <a:cubicBezTo>
                  <a:pt x="6750138" y="2166766"/>
                  <a:pt x="6743073" y="2243708"/>
                  <a:pt x="6712711" y="2311680"/>
                </a:cubicBezTo>
                <a:lnTo>
                  <a:pt x="6709294" y="2317477"/>
                </a:lnTo>
                <a:lnTo>
                  <a:pt x="1784936" y="2317477"/>
                </a:lnTo>
                <a:lnTo>
                  <a:pt x="1803577" y="2311819"/>
                </a:lnTo>
                <a:cubicBezTo>
                  <a:pt x="1799443" y="2294029"/>
                  <a:pt x="1790675" y="2277679"/>
                  <a:pt x="1778162" y="2264379"/>
                </a:cubicBezTo>
                <a:cubicBezTo>
                  <a:pt x="1767150" y="2277933"/>
                  <a:pt x="1751901" y="2292335"/>
                  <a:pt x="1762067" y="2308431"/>
                </a:cubicBezTo>
                <a:lnTo>
                  <a:pt x="1780441" y="2317477"/>
                </a:lnTo>
                <a:lnTo>
                  <a:pt x="1247923" y="2317477"/>
                </a:lnTo>
                <a:lnTo>
                  <a:pt x="1269874" y="2300171"/>
                </a:lnTo>
                <a:cubicBezTo>
                  <a:pt x="1285123" y="2283863"/>
                  <a:pt x="1295712" y="2263108"/>
                  <a:pt x="1291900" y="2248283"/>
                </a:cubicBezTo>
                <a:cubicBezTo>
                  <a:pt x="1278871" y="2210076"/>
                  <a:pt x="1268671" y="2171023"/>
                  <a:pt x="1261403" y="2131377"/>
                </a:cubicBezTo>
                <a:cubicBezTo>
                  <a:pt x="1261521" y="2101896"/>
                  <a:pt x="1239072" y="2077244"/>
                  <a:pt x="1209726" y="2074618"/>
                </a:cubicBezTo>
                <a:cubicBezTo>
                  <a:pt x="1209726" y="2152556"/>
                  <a:pt x="1209726" y="2227952"/>
                  <a:pt x="1209726" y="2304195"/>
                </a:cubicBezTo>
                <a:lnTo>
                  <a:pt x="1209413" y="2317477"/>
                </a:lnTo>
                <a:lnTo>
                  <a:pt x="0" y="2317477"/>
                </a:lnTo>
                <a:lnTo>
                  <a:pt x="0" y="662423"/>
                </a:lnTo>
                <a:cubicBezTo>
                  <a:pt x="37185" y="636754"/>
                  <a:pt x="66513" y="601259"/>
                  <a:pt x="84715" y="559918"/>
                </a:cubicBezTo>
                <a:cubicBezTo>
                  <a:pt x="98115" y="541620"/>
                  <a:pt x="110557" y="522728"/>
                  <a:pt x="121989" y="503160"/>
                </a:cubicBezTo>
                <a:cubicBezTo>
                  <a:pt x="135563" y="466817"/>
                  <a:pt x="135563" y="426832"/>
                  <a:pt x="121989" y="390489"/>
                </a:cubicBezTo>
                <a:cubicBezTo>
                  <a:pt x="106280" y="347453"/>
                  <a:pt x="108104" y="300013"/>
                  <a:pt x="127072" y="258334"/>
                </a:cubicBezTo>
                <a:cubicBezTo>
                  <a:pt x="153570" y="185564"/>
                  <a:pt x="184696" y="114488"/>
                  <a:pt x="220258" y="45700"/>
                </a:cubicBezTo>
                <a:cubicBezTo>
                  <a:pt x="234554" y="19968"/>
                  <a:pt x="253139" y="3885"/>
                  <a:pt x="273448" y="618"/>
                </a:cubicBezTo>
                <a:close/>
                <a:moveTo>
                  <a:pt x="325305" y="1380804"/>
                </a:moveTo>
                <a:cubicBezTo>
                  <a:pt x="316598" y="1401644"/>
                  <a:pt x="316598" y="1425194"/>
                  <a:pt x="325305" y="1446034"/>
                </a:cubicBezTo>
                <a:cubicBezTo>
                  <a:pt x="348178" y="1418078"/>
                  <a:pt x="328693" y="1400288"/>
                  <a:pt x="325305" y="1380804"/>
                </a:cubicBezTo>
                <a:close/>
                <a:moveTo>
                  <a:pt x="11688092" y="608206"/>
                </a:moveTo>
                <a:cubicBezTo>
                  <a:pt x="11628454" y="664795"/>
                  <a:pt x="11578640" y="730957"/>
                  <a:pt x="11540688" y="803897"/>
                </a:cubicBezTo>
                <a:cubicBezTo>
                  <a:pt x="11465292" y="931816"/>
                  <a:pt x="11451737" y="1081761"/>
                  <a:pt x="11393285" y="1215610"/>
                </a:cubicBezTo>
                <a:cubicBezTo>
                  <a:pt x="11392268" y="1217644"/>
                  <a:pt x="11391505" y="1219762"/>
                  <a:pt x="11391083" y="1221964"/>
                </a:cubicBezTo>
                <a:cubicBezTo>
                  <a:pt x="11388795" y="1234417"/>
                  <a:pt x="11396928" y="1246362"/>
                  <a:pt x="11409380" y="1248649"/>
                </a:cubicBezTo>
                <a:cubicBezTo>
                  <a:pt x="11425476" y="1251191"/>
                  <a:pt x="11436489" y="1262204"/>
                  <a:pt x="11457668" y="1267286"/>
                </a:cubicBezTo>
                <a:cubicBezTo>
                  <a:pt x="11457668" y="1245260"/>
                  <a:pt x="11457668" y="1226624"/>
                  <a:pt x="11457668" y="1207986"/>
                </a:cubicBezTo>
                <a:cubicBezTo>
                  <a:pt x="11457413" y="1205953"/>
                  <a:pt x="11457160" y="1204004"/>
                  <a:pt x="11456905" y="1201972"/>
                </a:cubicBezTo>
                <a:cubicBezTo>
                  <a:pt x="11447079" y="1108955"/>
                  <a:pt x="11514596" y="1025511"/>
                  <a:pt x="11607614" y="1015683"/>
                </a:cubicBezTo>
                <a:cubicBezTo>
                  <a:pt x="11637010" y="1004586"/>
                  <a:pt x="11668778" y="1000774"/>
                  <a:pt x="11699952" y="1004671"/>
                </a:cubicBezTo>
                <a:cubicBezTo>
                  <a:pt x="11763488" y="1024155"/>
                  <a:pt x="11792291" y="980951"/>
                  <a:pt x="11821942" y="939441"/>
                </a:cubicBezTo>
                <a:lnTo>
                  <a:pt x="11821942" y="936052"/>
                </a:lnTo>
                <a:cubicBezTo>
                  <a:pt x="11845662" y="906487"/>
                  <a:pt x="11848627" y="865400"/>
                  <a:pt x="11829566" y="832700"/>
                </a:cubicBezTo>
                <a:cubicBezTo>
                  <a:pt x="11777806" y="760862"/>
                  <a:pt x="11730619" y="685889"/>
                  <a:pt x="11688092" y="608206"/>
                </a:cubicBezTo>
                <a:close/>
                <a:moveTo>
                  <a:pt x="11908244" y="1054440"/>
                </a:moveTo>
                <a:cubicBezTo>
                  <a:pt x="11903691" y="1051687"/>
                  <a:pt x="11897761" y="1051687"/>
                  <a:pt x="11888866" y="1055499"/>
                </a:cubicBezTo>
                <a:cubicBezTo>
                  <a:pt x="11871076" y="1063124"/>
                  <a:pt x="11874464" y="1074137"/>
                  <a:pt x="11883783" y="1088538"/>
                </a:cubicBezTo>
                <a:cubicBezTo>
                  <a:pt x="11930630" y="1175880"/>
                  <a:pt x="11945286" y="1276944"/>
                  <a:pt x="11925294" y="1374027"/>
                </a:cubicBezTo>
                <a:cubicBezTo>
                  <a:pt x="11919363" y="1436716"/>
                  <a:pt x="11872770" y="1479073"/>
                  <a:pt x="11863451" y="1554469"/>
                </a:cubicBezTo>
                <a:cubicBezTo>
                  <a:pt x="11854132" y="1629865"/>
                  <a:pt x="11849050" y="1632407"/>
                  <a:pt x="11924446" y="1673917"/>
                </a:cubicBezTo>
                <a:cubicBezTo>
                  <a:pt x="11950454" y="1571921"/>
                  <a:pt x="11986203" y="1472635"/>
                  <a:pt x="12031187" y="1377416"/>
                </a:cubicBezTo>
                <a:lnTo>
                  <a:pt x="12029493" y="1374027"/>
                </a:lnTo>
                <a:cubicBezTo>
                  <a:pt x="12034067" y="1365386"/>
                  <a:pt x="12034661" y="1355220"/>
                  <a:pt x="12031187" y="1346071"/>
                </a:cubicBezTo>
                <a:cubicBezTo>
                  <a:pt x="11993912" y="1254579"/>
                  <a:pt x="11955791" y="1162240"/>
                  <a:pt x="11919363" y="1069901"/>
                </a:cubicBezTo>
                <a:cubicBezTo>
                  <a:pt x="11915975" y="1062700"/>
                  <a:pt x="11912798" y="1057194"/>
                  <a:pt x="11908244" y="1054440"/>
                </a:cubicBezTo>
                <a:close/>
                <a:moveTo>
                  <a:pt x="11053578" y="831853"/>
                </a:moveTo>
                <a:cubicBezTo>
                  <a:pt x="11041296" y="864044"/>
                  <a:pt x="11041296" y="899625"/>
                  <a:pt x="11053578" y="931816"/>
                </a:cubicBezTo>
                <a:cubicBezTo>
                  <a:pt x="11059509" y="941135"/>
                  <a:pt x="11060356" y="958925"/>
                  <a:pt x="11077298" y="952995"/>
                </a:cubicBezTo>
                <a:lnTo>
                  <a:pt x="11077298" y="949606"/>
                </a:lnTo>
                <a:cubicBezTo>
                  <a:pt x="11097630" y="943676"/>
                  <a:pt x="11084924" y="928427"/>
                  <a:pt x="11084076" y="922497"/>
                </a:cubicBezTo>
                <a:cubicBezTo>
                  <a:pt x="11075605" y="892000"/>
                  <a:pt x="11064592" y="862350"/>
                  <a:pt x="11053578" y="831853"/>
                </a:cubicBezTo>
                <a:close/>
                <a:moveTo>
                  <a:pt x="10013282" y="785260"/>
                </a:moveTo>
                <a:lnTo>
                  <a:pt x="10013282" y="786954"/>
                </a:lnTo>
                <a:cubicBezTo>
                  <a:pt x="9996339" y="830159"/>
                  <a:pt x="9984479" y="870821"/>
                  <a:pt x="9970924" y="910637"/>
                </a:cubicBezTo>
                <a:cubicBezTo>
                  <a:pt x="10041238" y="840324"/>
                  <a:pt x="10046320" y="824229"/>
                  <a:pt x="10013282" y="785260"/>
                </a:cubicBezTo>
                <a:close/>
                <a:moveTo>
                  <a:pt x="10058181" y="891153"/>
                </a:moveTo>
                <a:cubicBezTo>
                  <a:pt x="10030225" y="919956"/>
                  <a:pt x="10004810" y="950453"/>
                  <a:pt x="10013282" y="986033"/>
                </a:cubicBezTo>
                <a:cubicBezTo>
                  <a:pt x="10021245" y="1021105"/>
                  <a:pt x="10013452" y="1057956"/>
                  <a:pt x="9992103" y="1086844"/>
                </a:cubicBezTo>
                <a:cubicBezTo>
                  <a:pt x="9974313" y="1117341"/>
                  <a:pt x="9958217" y="1149533"/>
                  <a:pt x="9941274" y="1180030"/>
                </a:cubicBezTo>
                <a:cubicBezTo>
                  <a:pt x="9941274" y="1192738"/>
                  <a:pt x="9929414" y="1203750"/>
                  <a:pt x="9941274" y="1218999"/>
                </a:cubicBezTo>
                <a:cubicBezTo>
                  <a:pt x="9965164" y="1255765"/>
                  <a:pt x="9993628" y="1289312"/>
                  <a:pt x="10025989" y="1318962"/>
                </a:cubicBezTo>
                <a:lnTo>
                  <a:pt x="10025989" y="1322351"/>
                </a:lnTo>
                <a:cubicBezTo>
                  <a:pt x="10102232" y="1379110"/>
                  <a:pt x="10112398" y="1381651"/>
                  <a:pt x="10178476" y="1316421"/>
                </a:cubicBezTo>
                <a:cubicBezTo>
                  <a:pt x="10203212" y="1298122"/>
                  <a:pt x="10209905" y="1263898"/>
                  <a:pt x="10193724" y="1237636"/>
                </a:cubicBezTo>
                <a:cubicBezTo>
                  <a:pt x="10174748" y="1193415"/>
                  <a:pt x="10149588" y="1152074"/>
                  <a:pt x="10119175" y="1114800"/>
                </a:cubicBezTo>
                <a:cubicBezTo>
                  <a:pt x="10076140" y="1069223"/>
                  <a:pt x="10054114" y="1007890"/>
                  <a:pt x="10058181" y="945371"/>
                </a:cubicBezTo>
                <a:lnTo>
                  <a:pt x="10058181" y="891153"/>
                </a:lnTo>
                <a:close/>
                <a:moveTo>
                  <a:pt x="10477519" y="1291006"/>
                </a:moveTo>
                <a:cubicBezTo>
                  <a:pt x="10468285" y="1298885"/>
                  <a:pt x="10462693" y="1310237"/>
                  <a:pt x="10462270" y="1322351"/>
                </a:cubicBezTo>
                <a:cubicBezTo>
                  <a:pt x="10444480" y="1316421"/>
                  <a:pt x="10431773" y="1318962"/>
                  <a:pt x="10431773" y="1340988"/>
                </a:cubicBezTo>
                <a:cubicBezTo>
                  <a:pt x="10431773" y="1347766"/>
                  <a:pt x="10421607" y="1361320"/>
                  <a:pt x="10441939" y="1357931"/>
                </a:cubicBezTo>
                <a:cubicBezTo>
                  <a:pt x="10462270" y="1354542"/>
                  <a:pt x="10462270" y="1337600"/>
                  <a:pt x="10462270" y="1322351"/>
                </a:cubicBezTo>
                <a:cubicBezTo>
                  <a:pt x="10480907" y="1317268"/>
                  <a:pt x="10481755" y="1305408"/>
                  <a:pt x="10477519" y="1291006"/>
                </a:cubicBezTo>
                <a:close/>
                <a:moveTo>
                  <a:pt x="9864184" y="1335058"/>
                </a:moveTo>
                <a:cubicBezTo>
                  <a:pt x="9848427" y="1371909"/>
                  <a:pt x="9838939" y="1411132"/>
                  <a:pt x="9836228" y="1451117"/>
                </a:cubicBezTo>
                <a:lnTo>
                  <a:pt x="9836228" y="1452812"/>
                </a:lnTo>
                <a:cubicBezTo>
                  <a:pt x="9911624" y="1400288"/>
                  <a:pt x="9916707" y="1394358"/>
                  <a:pt x="9864184" y="1335058"/>
                </a:cubicBezTo>
                <a:close/>
                <a:moveTo>
                  <a:pt x="11373800" y="1432480"/>
                </a:moveTo>
                <a:cubicBezTo>
                  <a:pt x="11408195" y="1514992"/>
                  <a:pt x="11436575" y="1599961"/>
                  <a:pt x="11458515" y="1686625"/>
                </a:cubicBezTo>
                <a:lnTo>
                  <a:pt x="11458515" y="1683236"/>
                </a:lnTo>
                <a:cubicBezTo>
                  <a:pt x="11489012" y="1654433"/>
                  <a:pt x="11540688" y="1646809"/>
                  <a:pt x="11542383" y="1612075"/>
                </a:cubicBezTo>
                <a:cubicBezTo>
                  <a:pt x="11536283" y="1563111"/>
                  <a:pt x="11523407" y="1515246"/>
                  <a:pt x="11504261" y="1469754"/>
                </a:cubicBezTo>
                <a:cubicBezTo>
                  <a:pt x="11503413" y="1465519"/>
                  <a:pt x="11494943" y="1460436"/>
                  <a:pt x="11489860" y="1460436"/>
                </a:cubicBezTo>
                <a:cubicBezTo>
                  <a:pt x="11449536" y="1460436"/>
                  <a:pt x="11409720" y="1450863"/>
                  <a:pt x="11373800" y="1432480"/>
                </a:cubicBezTo>
                <a:close/>
                <a:moveTo>
                  <a:pt x="9409266" y="995352"/>
                </a:moveTo>
                <a:cubicBezTo>
                  <a:pt x="9408418" y="994505"/>
                  <a:pt x="9398253" y="1002129"/>
                  <a:pt x="9398253" y="1002129"/>
                </a:cubicBezTo>
                <a:lnTo>
                  <a:pt x="9397406" y="1001282"/>
                </a:lnTo>
                <a:cubicBezTo>
                  <a:pt x="9392323" y="1020767"/>
                  <a:pt x="9413502" y="1030085"/>
                  <a:pt x="9416890" y="1047875"/>
                </a:cubicBezTo>
                <a:cubicBezTo>
                  <a:pt x="9427734" y="1030932"/>
                  <a:pt x="9424430" y="1008567"/>
                  <a:pt x="9409266" y="995352"/>
                </a:cubicBezTo>
                <a:close/>
                <a:moveTo>
                  <a:pt x="9368602" y="1015683"/>
                </a:moveTo>
                <a:cubicBezTo>
                  <a:pt x="9341833" y="1035422"/>
                  <a:pt x="9316927" y="1057533"/>
                  <a:pt x="9294054" y="1081761"/>
                </a:cubicBezTo>
                <a:cubicBezTo>
                  <a:pt x="9237380" y="1164104"/>
                  <a:pt x="9170455" y="1238992"/>
                  <a:pt x="9094974" y="1304561"/>
                </a:cubicBezTo>
                <a:cubicBezTo>
                  <a:pt x="9073795" y="1321504"/>
                  <a:pt x="9074643" y="1358778"/>
                  <a:pt x="9044992" y="1372332"/>
                </a:cubicBezTo>
                <a:cubicBezTo>
                  <a:pt x="9044992" y="1373180"/>
                  <a:pt x="9044992" y="1385887"/>
                  <a:pt x="9044992" y="1385887"/>
                </a:cubicBezTo>
                <a:cubicBezTo>
                  <a:pt x="9063629" y="1424856"/>
                  <a:pt x="9035674" y="1424856"/>
                  <a:pt x="9011953" y="1424856"/>
                </a:cubicBezTo>
                <a:cubicBezTo>
                  <a:pt x="9001619" y="1425788"/>
                  <a:pt x="8991368" y="1427736"/>
                  <a:pt x="8981456" y="1430786"/>
                </a:cubicBezTo>
                <a:cubicBezTo>
                  <a:pt x="8913685" y="1438410"/>
                  <a:pt x="8856079" y="1495169"/>
                  <a:pt x="8800167" y="1503640"/>
                </a:cubicBezTo>
                <a:cubicBezTo>
                  <a:pt x="8744255" y="1512112"/>
                  <a:pt x="8734936" y="1552775"/>
                  <a:pt x="8734936" y="1596827"/>
                </a:cubicBezTo>
                <a:cubicBezTo>
                  <a:pt x="8735445" y="1644691"/>
                  <a:pt x="8732649" y="1692555"/>
                  <a:pt x="8726465" y="1739995"/>
                </a:cubicBezTo>
                <a:cubicBezTo>
                  <a:pt x="8716892" y="1831402"/>
                  <a:pt x="8702152" y="1922216"/>
                  <a:pt x="8682413" y="2011929"/>
                </a:cubicBezTo>
                <a:cubicBezTo>
                  <a:pt x="8664030" y="2066994"/>
                  <a:pt x="8676992" y="2127649"/>
                  <a:pt x="8716299" y="2170346"/>
                </a:cubicBezTo>
                <a:cubicBezTo>
                  <a:pt x="8732395" y="2188136"/>
                  <a:pt x="8735784" y="2189830"/>
                  <a:pt x="8752727" y="2170346"/>
                </a:cubicBezTo>
                <a:cubicBezTo>
                  <a:pt x="8789154" y="2127988"/>
                  <a:pt x="8810333" y="2066146"/>
                  <a:pt x="8873869" y="2050898"/>
                </a:cubicBezTo>
                <a:cubicBezTo>
                  <a:pt x="8905213" y="2044120"/>
                  <a:pt x="8905213" y="2028872"/>
                  <a:pt x="8905213" y="2000916"/>
                </a:cubicBezTo>
                <a:cubicBezTo>
                  <a:pt x="8892337" y="1939159"/>
                  <a:pt x="8912160" y="1875115"/>
                  <a:pt x="8957736" y="1831487"/>
                </a:cubicBezTo>
                <a:cubicBezTo>
                  <a:pt x="8999755" y="1800396"/>
                  <a:pt x="9025085" y="1751601"/>
                  <a:pt x="9026355" y="1699331"/>
                </a:cubicBezTo>
                <a:cubicBezTo>
                  <a:pt x="9029235" y="1622241"/>
                  <a:pt x="9064985" y="1550064"/>
                  <a:pt x="9124624" y="1501099"/>
                </a:cubicBezTo>
                <a:cubicBezTo>
                  <a:pt x="9171218" y="1462978"/>
                  <a:pt x="9227129" y="1482462"/>
                  <a:pt x="9275416" y="1462978"/>
                </a:cubicBezTo>
                <a:cubicBezTo>
                  <a:pt x="9297442" y="1454506"/>
                  <a:pt x="9293206" y="1496863"/>
                  <a:pt x="9315232" y="1501946"/>
                </a:cubicBezTo>
                <a:cubicBezTo>
                  <a:pt x="9319468" y="1502793"/>
                  <a:pt x="9326245" y="1510418"/>
                  <a:pt x="9326245" y="1510418"/>
                </a:cubicBezTo>
                <a:cubicBezTo>
                  <a:pt x="9381056" y="1544219"/>
                  <a:pt x="9414942" y="1603604"/>
                  <a:pt x="9416043" y="1667987"/>
                </a:cubicBezTo>
                <a:cubicBezTo>
                  <a:pt x="9431292" y="1745925"/>
                  <a:pt x="9440610" y="1830639"/>
                  <a:pt x="9453317" y="1915354"/>
                </a:cubicBezTo>
                <a:cubicBezTo>
                  <a:pt x="9470260" y="1859442"/>
                  <a:pt x="9477884" y="1805225"/>
                  <a:pt x="9497369" y="1754396"/>
                </a:cubicBezTo>
                <a:lnTo>
                  <a:pt x="9497369" y="1756091"/>
                </a:lnTo>
                <a:cubicBezTo>
                  <a:pt x="9518548" y="1718138"/>
                  <a:pt x="9530746" y="1675781"/>
                  <a:pt x="9532949" y="1632407"/>
                </a:cubicBezTo>
                <a:cubicBezTo>
                  <a:pt x="9523884" y="1528462"/>
                  <a:pt x="9482713" y="1429854"/>
                  <a:pt x="9415196" y="1350307"/>
                </a:cubicBezTo>
                <a:cubicBezTo>
                  <a:pt x="9401811" y="1335651"/>
                  <a:pt x="9394017" y="1316760"/>
                  <a:pt x="9393170" y="1296936"/>
                </a:cubicBezTo>
                <a:cubicBezTo>
                  <a:pt x="9387240" y="1249496"/>
                  <a:pt x="9394864" y="1198668"/>
                  <a:pt x="9352507" y="1159699"/>
                </a:cubicBezTo>
                <a:cubicBezTo>
                  <a:pt x="9334971" y="1143942"/>
                  <a:pt x="9331074" y="1118019"/>
                  <a:pt x="9343188" y="1097857"/>
                </a:cubicBezTo>
                <a:cubicBezTo>
                  <a:pt x="9362842" y="1111581"/>
                  <a:pt x="9378853" y="1129879"/>
                  <a:pt x="9389781" y="1151227"/>
                </a:cubicBezTo>
                <a:cubicBezTo>
                  <a:pt x="9396558" y="1158852"/>
                  <a:pt x="9404183" y="1164782"/>
                  <a:pt x="9413502" y="1158852"/>
                </a:cubicBezTo>
                <a:cubicBezTo>
                  <a:pt x="9422820" y="1152922"/>
                  <a:pt x="9413502" y="1144450"/>
                  <a:pt x="9413502" y="1137673"/>
                </a:cubicBezTo>
                <a:cubicBezTo>
                  <a:pt x="9398253" y="1100398"/>
                  <a:pt x="9383851" y="1058041"/>
                  <a:pt x="9368602" y="1015683"/>
                </a:cubicBezTo>
                <a:close/>
                <a:moveTo>
                  <a:pt x="9816743" y="1534138"/>
                </a:moveTo>
                <a:cubicBezTo>
                  <a:pt x="9809119" y="1570565"/>
                  <a:pt x="9803189" y="1597674"/>
                  <a:pt x="9796412" y="1629019"/>
                </a:cubicBezTo>
                <a:cubicBezTo>
                  <a:pt x="9789635" y="1660363"/>
                  <a:pt x="9765067" y="1690860"/>
                  <a:pt x="9778622" y="1723052"/>
                </a:cubicBezTo>
                <a:cubicBezTo>
                  <a:pt x="9805392" y="1795821"/>
                  <a:pt x="9827417" y="1870286"/>
                  <a:pt x="9844699" y="1945852"/>
                </a:cubicBezTo>
                <a:lnTo>
                  <a:pt x="9844699" y="1947546"/>
                </a:lnTo>
                <a:cubicBezTo>
                  <a:pt x="9890445" y="1931450"/>
                  <a:pt x="9891293" y="1903494"/>
                  <a:pt x="9890445" y="1860289"/>
                </a:cubicBezTo>
                <a:cubicBezTo>
                  <a:pt x="9881974" y="1784893"/>
                  <a:pt x="9829451" y="1728982"/>
                  <a:pt x="9816743" y="1656974"/>
                </a:cubicBezTo>
                <a:cubicBezTo>
                  <a:pt x="9816743" y="1618853"/>
                  <a:pt x="9838769" y="1580731"/>
                  <a:pt x="9816743" y="1534138"/>
                </a:cubicBezTo>
                <a:close/>
                <a:moveTo>
                  <a:pt x="10290299" y="1620547"/>
                </a:moveTo>
                <a:cubicBezTo>
                  <a:pt x="10280980" y="1655280"/>
                  <a:pt x="10284369" y="1690860"/>
                  <a:pt x="10257260" y="1720510"/>
                </a:cubicBezTo>
                <a:cubicBezTo>
                  <a:pt x="10224306" y="1771932"/>
                  <a:pt x="10202365" y="1829623"/>
                  <a:pt x="10192877" y="1889939"/>
                </a:cubicBezTo>
                <a:cubicBezTo>
                  <a:pt x="10185253" y="1911118"/>
                  <a:pt x="10211514" y="1922978"/>
                  <a:pt x="10229304" y="1933144"/>
                </a:cubicBezTo>
                <a:cubicBezTo>
                  <a:pt x="10233540" y="1939922"/>
                  <a:pt x="10244553" y="1947546"/>
                  <a:pt x="10244553" y="1933144"/>
                </a:cubicBezTo>
                <a:cubicBezTo>
                  <a:pt x="10253024" y="1898411"/>
                  <a:pt x="10290299" y="1875538"/>
                  <a:pt x="10290299" y="1839958"/>
                </a:cubicBezTo>
                <a:cubicBezTo>
                  <a:pt x="10289028" y="1808698"/>
                  <a:pt x="10300380" y="1778201"/>
                  <a:pt x="10321643" y="1755243"/>
                </a:cubicBezTo>
                <a:lnTo>
                  <a:pt x="10321643" y="1756937"/>
                </a:lnTo>
                <a:cubicBezTo>
                  <a:pt x="10331301" y="1746603"/>
                  <a:pt x="10333334" y="1731269"/>
                  <a:pt x="10326726" y="1718816"/>
                </a:cubicBezTo>
                <a:cubicBezTo>
                  <a:pt x="10322744" y="1683575"/>
                  <a:pt x="10310292" y="1649858"/>
                  <a:pt x="10290299" y="1620547"/>
                </a:cubicBezTo>
                <a:close/>
                <a:moveTo>
                  <a:pt x="10713873" y="1932191"/>
                </a:moveTo>
                <a:cubicBezTo>
                  <a:pt x="10704766" y="1932086"/>
                  <a:pt x="10694812" y="1935263"/>
                  <a:pt x="10687611" y="1934839"/>
                </a:cubicBezTo>
                <a:cubicBezTo>
                  <a:pt x="10673209" y="1933991"/>
                  <a:pt x="10679139" y="1946699"/>
                  <a:pt x="10679139" y="1955170"/>
                </a:cubicBezTo>
                <a:lnTo>
                  <a:pt x="10716414" y="2169498"/>
                </a:lnTo>
                <a:cubicBezTo>
                  <a:pt x="10741829" y="2139848"/>
                  <a:pt x="10779103" y="2128835"/>
                  <a:pt x="10773173" y="2098338"/>
                </a:cubicBezTo>
                <a:cubicBezTo>
                  <a:pt x="10763431" y="2047933"/>
                  <a:pt x="10750723" y="1998120"/>
                  <a:pt x="10735051" y="1949240"/>
                </a:cubicBezTo>
                <a:cubicBezTo>
                  <a:pt x="10731239" y="1935686"/>
                  <a:pt x="10722979" y="1932297"/>
                  <a:pt x="10713873" y="1932191"/>
                </a:cubicBezTo>
                <a:close/>
                <a:moveTo>
                  <a:pt x="7203572" y="1302880"/>
                </a:moveTo>
                <a:cubicBezTo>
                  <a:pt x="7194876" y="1302178"/>
                  <a:pt x="7185292" y="1303078"/>
                  <a:pt x="7174491" y="1306255"/>
                </a:cubicBezTo>
                <a:lnTo>
                  <a:pt x="7301564" y="1445187"/>
                </a:lnTo>
                <a:cubicBezTo>
                  <a:pt x="7321048" y="1466366"/>
                  <a:pt x="7337144" y="1462978"/>
                  <a:pt x="7349851" y="1437563"/>
                </a:cubicBezTo>
                <a:lnTo>
                  <a:pt x="7349004" y="1436716"/>
                </a:lnTo>
                <a:cubicBezTo>
                  <a:pt x="7359170" y="1416384"/>
                  <a:pt x="7363405" y="1399442"/>
                  <a:pt x="7337991" y="1385887"/>
                </a:cubicBezTo>
                <a:cubicBezTo>
                  <a:pt x="7312576" y="1372332"/>
                  <a:pt x="7292245" y="1351154"/>
                  <a:pt x="7266830" y="1334211"/>
                </a:cubicBezTo>
                <a:cubicBezTo>
                  <a:pt x="7247770" y="1321504"/>
                  <a:pt x="7229662" y="1304985"/>
                  <a:pt x="7203572" y="1302880"/>
                </a:cubicBezTo>
                <a:close/>
                <a:moveTo>
                  <a:pt x="7090412" y="1424326"/>
                </a:moveTo>
                <a:cubicBezTo>
                  <a:pt x="7086812" y="1425915"/>
                  <a:pt x="7083000" y="1429092"/>
                  <a:pt x="7079611" y="1431633"/>
                </a:cubicBezTo>
                <a:cubicBezTo>
                  <a:pt x="7040108" y="1456285"/>
                  <a:pt x="7005621" y="1488222"/>
                  <a:pt x="6977953" y="1525666"/>
                </a:cubicBezTo>
                <a:cubicBezTo>
                  <a:pt x="6910478" y="1626731"/>
                  <a:pt x="6833608" y="1721188"/>
                  <a:pt x="6748376" y="1807767"/>
                </a:cubicBezTo>
                <a:cubicBezTo>
                  <a:pt x="6732425" y="1820473"/>
                  <a:pt x="6721590" y="1838518"/>
                  <a:pt x="6717879" y="1858595"/>
                </a:cubicBezTo>
                <a:cubicBezTo>
                  <a:pt x="6714956" y="1920437"/>
                  <a:pt x="6719505" y="1982448"/>
                  <a:pt x="6731433" y="2043274"/>
                </a:cubicBezTo>
                <a:cubicBezTo>
                  <a:pt x="6747199" y="2002610"/>
                  <a:pt x="6753010" y="1958728"/>
                  <a:pt x="6748376" y="1915354"/>
                </a:cubicBezTo>
                <a:cubicBezTo>
                  <a:pt x="6744657" y="1848768"/>
                  <a:pt x="6784888" y="1787519"/>
                  <a:pt x="6847493" y="1764562"/>
                </a:cubicBezTo>
                <a:cubicBezTo>
                  <a:pt x="6960494" y="1704075"/>
                  <a:pt x="7100154" y="1728135"/>
                  <a:pt x="7186351" y="1823015"/>
                </a:cubicBezTo>
                <a:cubicBezTo>
                  <a:pt x="7204141" y="1798448"/>
                  <a:pt x="7203294" y="1765409"/>
                  <a:pt x="7217696" y="1738301"/>
                </a:cubicBezTo>
                <a:lnTo>
                  <a:pt x="7216849" y="1737453"/>
                </a:lnTo>
                <a:cubicBezTo>
                  <a:pt x="7251912" y="1674595"/>
                  <a:pt x="7250938" y="1597843"/>
                  <a:pt x="7214307" y="1535832"/>
                </a:cubicBezTo>
                <a:cubicBezTo>
                  <a:pt x="7184657" y="1480768"/>
                  <a:pt x="7128745" y="1472296"/>
                  <a:pt x="7099942" y="1426550"/>
                </a:cubicBezTo>
                <a:cubicBezTo>
                  <a:pt x="7097401" y="1422738"/>
                  <a:pt x="7094012" y="1422738"/>
                  <a:pt x="7090412" y="1424326"/>
                </a:cubicBezTo>
                <a:close/>
                <a:moveTo>
                  <a:pt x="7539506" y="1524819"/>
                </a:moveTo>
                <a:cubicBezTo>
                  <a:pt x="7531352" y="1526302"/>
                  <a:pt x="7525210" y="1531597"/>
                  <a:pt x="7525210" y="1545151"/>
                </a:cubicBezTo>
                <a:cubicBezTo>
                  <a:pt x="7525210" y="1572259"/>
                  <a:pt x="7508267" y="1590050"/>
                  <a:pt x="7508267" y="1629865"/>
                </a:cubicBezTo>
                <a:cubicBezTo>
                  <a:pt x="7508267" y="1669681"/>
                  <a:pt x="7474382" y="1704415"/>
                  <a:pt x="7493018" y="1745925"/>
                </a:cubicBezTo>
                <a:cubicBezTo>
                  <a:pt x="7530429" y="1830872"/>
                  <a:pt x="7557017" y="1920109"/>
                  <a:pt x="7572244" y="2011454"/>
                </a:cubicBezTo>
                <a:lnTo>
                  <a:pt x="7583516" y="2102234"/>
                </a:lnTo>
                <a:lnTo>
                  <a:pt x="7582816" y="2102574"/>
                </a:lnTo>
                <a:lnTo>
                  <a:pt x="7583663" y="2103421"/>
                </a:lnTo>
                <a:lnTo>
                  <a:pt x="7583516" y="2102234"/>
                </a:lnTo>
                <a:lnTo>
                  <a:pt x="7609144" y="2089761"/>
                </a:lnTo>
                <a:cubicBezTo>
                  <a:pt x="7634916" y="2077213"/>
                  <a:pt x="7656519" y="2064664"/>
                  <a:pt x="7651435" y="2044968"/>
                </a:cubicBezTo>
                <a:cubicBezTo>
                  <a:pt x="7643480" y="1984736"/>
                  <a:pt x="7622683" y="1926960"/>
                  <a:pt x="7590440" y="1875538"/>
                </a:cubicBezTo>
                <a:cubicBezTo>
                  <a:pt x="7572778" y="1856054"/>
                  <a:pt x="7561799" y="1831402"/>
                  <a:pt x="7559096" y="1805225"/>
                </a:cubicBezTo>
                <a:cubicBezTo>
                  <a:pt x="7551057" y="1723645"/>
                  <a:pt x="7559410" y="1641217"/>
                  <a:pt x="7583663" y="1562941"/>
                </a:cubicBezTo>
                <a:cubicBezTo>
                  <a:pt x="7594676" y="1537526"/>
                  <a:pt x="7581969" y="1530749"/>
                  <a:pt x="7565873" y="1527360"/>
                </a:cubicBezTo>
                <a:cubicBezTo>
                  <a:pt x="7557826" y="1525666"/>
                  <a:pt x="7547660" y="1523337"/>
                  <a:pt x="7539506" y="1524819"/>
                </a:cubicBezTo>
                <a:close/>
                <a:moveTo>
                  <a:pt x="8584144" y="1590897"/>
                </a:moveTo>
                <a:lnTo>
                  <a:pt x="8567201" y="1630713"/>
                </a:lnTo>
                <a:cubicBezTo>
                  <a:pt x="8556188" y="1644606"/>
                  <a:pt x="8550766" y="1662142"/>
                  <a:pt x="8551952" y="1679847"/>
                </a:cubicBezTo>
                <a:cubicBezTo>
                  <a:pt x="8573131" y="1662904"/>
                  <a:pt x="8567201" y="1645961"/>
                  <a:pt x="8567201" y="1630713"/>
                </a:cubicBezTo>
                <a:cubicBezTo>
                  <a:pt x="8593463" y="1628171"/>
                  <a:pt x="8584144" y="1607840"/>
                  <a:pt x="8584144" y="1590897"/>
                </a:cubicBezTo>
                <a:close/>
                <a:moveTo>
                  <a:pt x="4921926" y="927580"/>
                </a:moveTo>
                <a:lnTo>
                  <a:pt x="4850766" y="1051264"/>
                </a:lnTo>
                <a:cubicBezTo>
                  <a:pt x="4836365" y="1074984"/>
                  <a:pt x="4815186" y="1094468"/>
                  <a:pt x="4825352" y="1129201"/>
                </a:cubicBezTo>
                <a:cubicBezTo>
                  <a:pt x="4825394" y="1129455"/>
                  <a:pt x="4825436" y="1129794"/>
                  <a:pt x="4825470" y="1130049"/>
                </a:cubicBezTo>
                <a:cubicBezTo>
                  <a:pt x="4828486" y="1152752"/>
                  <a:pt x="4812500" y="1173592"/>
                  <a:pt x="4789772" y="1176642"/>
                </a:cubicBezTo>
                <a:cubicBezTo>
                  <a:pt x="4778759" y="1180030"/>
                  <a:pt x="4765204" y="1178336"/>
                  <a:pt x="4765204" y="1202056"/>
                </a:cubicBezTo>
                <a:cubicBezTo>
                  <a:pt x="4767957" y="1275080"/>
                  <a:pt x="4780207" y="1347426"/>
                  <a:pt x="4801632" y="1417232"/>
                </a:cubicBezTo>
                <a:cubicBezTo>
                  <a:pt x="4865439" y="1565991"/>
                  <a:pt x="4937565" y="1711107"/>
                  <a:pt x="5017654" y="1851818"/>
                </a:cubicBezTo>
                <a:cubicBezTo>
                  <a:pt x="5013630" y="1689589"/>
                  <a:pt x="5024982" y="1527360"/>
                  <a:pt x="5051540" y="1367250"/>
                </a:cubicBezTo>
                <a:lnTo>
                  <a:pt x="5050693" y="1366402"/>
                </a:lnTo>
                <a:cubicBezTo>
                  <a:pt x="5062316" y="1319894"/>
                  <a:pt x="5053700" y="1270675"/>
                  <a:pt x="5026973" y="1230859"/>
                </a:cubicBezTo>
                <a:cubicBezTo>
                  <a:pt x="5004608" y="1201378"/>
                  <a:pt x="4990037" y="1166646"/>
                  <a:pt x="4984615" y="1130049"/>
                </a:cubicBezTo>
                <a:cubicBezTo>
                  <a:pt x="4982074" y="1114800"/>
                  <a:pt x="4979532" y="1100398"/>
                  <a:pt x="4961742" y="1100398"/>
                </a:cubicBezTo>
                <a:cubicBezTo>
                  <a:pt x="4917691" y="1095315"/>
                  <a:pt x="4940564" y="1072443"/>
                  <a:pt x="4949035" y="1051264"/>
                </a:cubicBezTo>
                <a:lnTo>
                  <a:pt x="4929551" y="1051264"/>
                </a:lnTo>
                <a:cubicBezTo>
                  <a:pt x="4918538" y="1048722"/>
                  <a:pt x="4900748" y="1058041"/>
                  <a:pt x="4899054" y="1040251"/>
                </a:cubicBezTo>
                <a:cubicBezTo>
                  <a:pt x="4897359" y="1022461"/>
                  <a:pt x="4916844" y="1027543"/>
                  <a:pt x="4926162" y="1022461"/>
                </a:cubicBezTo>
                <a:cubicBezTo>
                  <a:pt x="4960404" y="1010262"/>
                  <a:pt x="4997814" y="1010262"/>
                  <a:pt x="5032056" y="1022461"/>
                </a:cubicBezTo>
                <a:cubicBezTo>
                  <a:pt x="4998305" y="987558"/>
                  <a:pt x="4961437" y="955790"/>
                  <a:pt x="4921926" y="927580"/>
                </a:cubicBezTo>
                <a:close/>
                <a:moveTo>
                  <a:pt x="4654201" y="1286202"/>
                </a:moveTo>
                <a:cubicBezTo>
                  <a:pt x="4649781" y="1286348"/>
                  <a:pt x="4644274" y="1287619"/>
                  <a:pt x="4637285" y="1290160"/>
                </a:cubicBezTo>
                <a:cubicBezTo>
                  <a:pt x="4570479" y="1311846"/>
                  <a:pt x="4523971" y="1372502"/>
                  <a:pt x="4520379" y="1442646"/>
                </a:cubicBezTo>
                <a:cubicBezTo>
                  <a:pt x="4521268" y="1459928"/>
                  <a:pt x="4515508" y="1476870"/>
                  <a:pt x="4504283" y="1490086"/>
                </a:cubicBezTo>
                <a:cubicBezTo>
                  <a:pt x="4478080" y="1517618"/>
                  <a:pt x="4469279" y="1557435"/>
                  <a:pt x="4481410" y="1593438"/>
                </a:cubicBezTo>
                <a:cubicBezTo>
                  <a:pt x="4494964" y="1678153"/>
                  <a:pt x="4507671" y="1762867"/>
                  <a:pt x="4516143" y="1847582"/>
                </a:cubicBezTo>
                <a:cubicBezTo>
                  <a:pt x="4519531" y="1878927"/>
                  <a:pt x="4528003" y="1886551"/>
                  <a:pt x="4556806" y="1886551"/>
                </a:cubicBezTo>
                <a:cubicBezTo>
                  <a:pt x="4647773" y="1882146"/>
                  <a:pt x="4730099" y="1940091"/>
                  <a:pt x="4756733" y="2027178"/>
                </a:cubicBezTo>
                <a:cubicBezTo>
                  <a:pt x="4771134" y="2088172"/>
                  <a:pt x="4795702" y="2086478"/>
                  <a:pt x="4841448" y="2071229"/>
                </a:cubicBezTo>
                <a:lnTo>
                  <a:pt x="4840600" y="2070382"/>
                </a:lnTo>
                <a:cubicBezTo>
                  <a:pt x="4863473" y="2062758"/>
                  <a:pt x="4871945" y="2058522"/>
                  <a:pt x="4870251" y="2035649"/>
                </a:cubicBezTo>
                <a:cubicBezTo>
                  <a:pt x="4847623" y="1946360"/>
                  <a:pt x="4830087" y="1855884"/>
                  <a:pt x="4817727" y="1764562"/>
                </a:cubicBezTo>
                <a:cubicBezTo>
                  <a:pt x="4810145" y="1686031"/>
                  <a:pt x="4780809" y="1611229"/>
                  <a:pt x="4733012" y="1548539"/>
                </a:cubicBezTo>
                <a:cubicBezTo>
                  <a:pt x="4696585" y="1511604"/>
                  <a:pt x="4678558" y="1460351"/>
                  <a:pt x="4683878" y="1408760"/>
                </a:cubicBezTo>
                <a:cubicBezTo>
                  <a:pt x="4686614" y="1376060"/>
                  <a:pt x="4683742" y="1343106"/>
                  <a:pt x="4675406" y="1311338"/>
                </a:cubicBezTo>
                <a:cubicBezTo>
                  <a:pt x="4670959" y="1295455"/>
                  <a:pt x="4667465" y="1285765"/>
                  <a:pt x="4654201" y="1286202"/>
                </a:cubicBezTo>
                <a:close/>
                <a:moveTo>
                  <a:pt x="3904502" y="1476532"/>
                </a:moveTo>
                <a:cubicBezTo>
                  <a:pt x="3903604" y="1476447"/>
                  <a:pt x="3902707" y="1476532"/>
                  <a:pt x="3901817" y="1476616"/>
                </a:cubicBezTo>
                <a:cubicBezTo>
                  <a:pt x="3894387" y="1477548"/>
                  <a:pt x="3889143" y="1484326"/>
                  <a:pt x="3890101" y="1491780"/>
                </a:cubicBezTo>
                <a:cubicBezTo>
                  <a:pt x="3879029" y="1541508"/>
                  <a:pt x="3875598" y="1592676"/>
                  <a:pt x="3879935" y="1643420"/>
                </a:cubicBezTo>
                <a:cubicBezTo>
                  <a:pt x="3901114" y="1737453"/>
                  <a:pt x="3911279" y="1834875"/>
                  <a:pt x="3932458" y="1928909"/>
                </a:cubicBezTo>
                <a:cubicBezTo>
                  <a:pt x="3936109" y="1985837"/>
                  <a:pt x="3943463" y="2042426"/>
                  <a:pt x="3954484" y="2098338"/>
                </a:cubicBezTo>
                <a:cubicBezTo>
                  <a:pt x="3976510" y="2046662"/>
                  <a:pt x="3997688" y="2002610"/>
                  <a:pt x="4012937" y="1956864"/>
                </a:cubicBezTo>
                <a:lnTo>
                  <a:pt x="4012090" y="1956018"/>
                </a:lnTo>
                <a:cubicBezTo>
                  <a:pt x="4033921" y="1895192"/>
                  <a:pt x="4035700" y="1829030"/>
                  <a:pt x="4017173" y="1767103"/>
                </a:cubicBezTo>
                <a:cubicBezTo>
                  <a:pt x="3978119" y="1676882"/>
                  <a:pt x="3946385" y="1583696"/>
                  <a:pt x="3922292" y="1488392"/>
                </a:cubicBezTo>
                <a:cubicBezTo>
                  <a:pt x="3920590" y="1480259"/>
                  <a:pt x="3912677" y="1475007"/>
                  <a:pt x="3904502" y="1476532"/>
                </a:cubicBezTo>
                <a:close/>
                <a:moveTo>
                  <a:pt x="2372013" y="823381"/>
                </a:moveTo>
                <a:cubicBezTo>
                  <a:pt x="2378027" y="869975"/>
                  <a:pt x="2380857" y="916991"/>
                  <a:pt x="2380484" y="964007"/>
                </a:cubicBezTo>
                <a:cubicBezTo>
                  <a:pt x="2382068" y="981289"/>
                  <a:pt x="2387261" y="997978"/>
                  <a:pt x="2395733" y="1013142"/>
                </a:cubicBezTo>
                <a:cubicBezTo>
                  <a:pt x="2411617" y="1035422"/>
                  <a:pt x="2414523" y="1064395"/>
                  <a:pt x="2403357" y="1089385"/>
                </a:cubicBezTo>
                <a:cubicBezTo>
                  <a:pt x="2399969" y="1097009"/>
                  <a:pt x="2404204" y="1097009"/>
                  <a:pt x="2409287" y="1104634"/>
                </a:cubicBezTo>
                <a:cubicBezTo>
                  <a:pt x="2414370" y="1112258"/>
                  <a:pt x="2423689" y="1111411"/>
                  <a:pt x="2423689" y="1104634"/>
                </a:cubicBezTo>
                <a:cubicBezTo>
                  <a:pt x="2425383" y="1080914"/>
                  <a:pt x="2445715" y="1065665"/>
                  <a:pt x="2445715" y="1040251"/>
                </a:cubicBezTo>
                <a:cubicBezTo>
                  <a:pt x="2438734" y="963161"/>
                  <a:pt x="2413472" y="888781"/>
                  <a:pt x="2372013" y="823381"/>
                </a:cubicBezTo>
                <a:close/>
                <a:moveTo>
                  <a:pt x="1388792" y="898777"/>
                </a:moveTo>
                <a:cubicBezTo>
                  <a:pt x="1386145" y="899625"/>
                  <a:pt x="1384239" y="901743"/>
                  <a:pt x="1384239" y="905555"/>
                </a:cubicBezTo>
                <a:lnTo>
                  <a:pt x="1380003" y="905555"/>
                </a:lnTo>
                <a:cubicBezTo>
                  <a:pt x="1378309" y="921650"/>
                  <a:pt x="1400335" y="928427"/>
                  <a:pt x="1406265" y="932663"/>
                </a:cubicBezTo>
                <a:cubicBezTo>
                  <a:pt x="1412195" y="936899"/>
                  <a:pt x="1420666" y="933511"/>
                  <a:pt x="1420666" y="925039"/>
                </a:cubicBezTo>
                <a:cubicBezTo>
                  <a:pt x="1417735" y="913263"/>
                  <a:pt x="1409170" y="903775"/>
                  <a:pt x="1397793" y="899625"/>
                </a:cubicBezTo>
                <a:cubicBezTo>
                  <a:pt x="1394828" y="898354"/>
                  <a:pt x="1391440" y="897930"/>
                  <a:pt x="1388792" y="898777"/>
                </a:cubicBezTo>
                <a:close/>
                <a:moveTo>
                  <a:pt x="1381697" y="974173"/>
                </a:moveTo>
                <a:cubicBezTo>
                  <a:pt x="1381697" y="1006365"/>
                  <a:pt x="1381697" y="1006365"/>
                  <a:pt x="1420666" y="1005518"/>
                </a:cubicBezTo>
                <a:cubicBezTo>
                  <a:pt x="1407959" y="995352"/>
                  <a:pt x="1404570" y="980103"/>
                  <a:pt x="1384239" y="974173"/>
                </a:cubicBezTo>
                <a:lnTo>
                  <a:pt x="1381697" y="974173"/>
                </a:lnTo>
                <a:close/>
                <a:moveTo>
                  <a:pt x="1403723" y="1086844"/>
                </a:moveTo>
                <a:cubicBezTo>
                  <a:pt x="1393558" y="1107175"/>
                  <a:pt x="1414736" y="1120730"/>
                  <a:pt x="1417278" y="1121577"/>
                </a:cubicBezTo>
                <a:cubicBezTo>
                  <a:pt x="1419819" y="1122424"/>
                  <a:pt x="1426596" y="1115647"/>
                  <a:pt x="1426596" y="1115647"/>
                </a:cubicBezTo>
                <a:lnTo>
                  <a:pt x="1424055" y="1115647"/>
                </a:lnTo>
                <a:cubicBezTo>
                  <a:pt x="1424055" y="1101245"/>
                  <a:pt x="1413889" y="1094468"/>
                  <a:pt x="1403723" y="1086844"/>
                </a:cubicBezTo>
                <a:close/>
                <a:moveTo>
                  <a:pt x="1444638" y="1196603"/>
                </a:moveTo>
                <a:cubicBezTo>
                  <a:pt x="1435545" y="1196285"/>
                  <a:pt x="1428714" y="1205021"/>
                  <a:pt x="1422361" y="1211375"/>
                </a:cubicBezTo>
                <a:cubicBezTo>
                  <a:pt x="1392549" y="1245176"/>
                  <a:pt x="1359646" y="1276097"/>
                  <a:pt x="1324091" y="1303714"/>
                </a:cubicBezTo>
                <a:cubicBezTo>
                  <a:pt x="1303760" y="1317268"/>
                  <a:pt x="1309690" y="1326587"/>
                  <a:pt x="1324091" y="1339294"/>
                </a:cubicBezTo>
                <a:cubicBezTo>
                  <a:pt x="1355436" y="1366402"/>
                  <a:pt x="1385933" y="1395206"/>
                  <a:pt x="1416430" y="1424008"/>
                </a:cubicBezTo>
                <a:cubicBezTo>
                  <a:pt x="1424055" y="1430786"/>
                  <a:pt x="1430832" y="1435868"/>
                  <a:pt x="1439303" y="1435022"/>
                </a:cubicBezTo>
                <a:cubicBezTo>
                  <a:pt x="1459457" y="1432819"/>
                  <a:pt x="1477527" y="1421636"/>
                  <a:pt x="1488438" y="1404524"/>
                </a:cubicBezTo>
                <a:cubicBezTo>
                  <a:pt x="1507922" y="1385040"/>
                  <a:pt x="1522324" y="1353696"/>
                  <a:pt x="1545197" y="1344377"/>
                </a:cubicBezTo>
                <a:cubicBezTo>
                  <a:pt x="1582471" y="1329975"/>
                  <a:pt x="1572306" y="1310491"/>
                  <a:pt x="1558751" y="1291854"/>
                </a:cubicBezTo>
                <a:cubicBezTo>
                  <a:pt x="1528957" y="1256189"/>
                  <a:pt x="1493809" y="1225268"/>
                  <a:pt x="1454552" y="1200362"/>
                </a:cubicBezTo>
                <a:cubicBezTo>
                  <a:pt x="1450952" y="1197821"/>
                  <a:pt x="1447669" y="1196709"/>
                  <a:pt x="1444638" y="1196603"/>
                </a:cubicBezTo>
                <a:close/>
                <a:moveTo>
                  <a:pt x="3049731" y="1401983"/>
                </a:moveTo>
                <a:cubicBezTo>
                  <a:pt x="3006111" y="1427990"/>
                  <a:pt x="2986389" y="1480852"/>
                  <a:pt x="3002290" y="1529055"/>
                </a:cubicBezTo>
                <a:cubicBezTo>
                  <a:pt x="3012456" y="1593438"/>
                  <a:pt x="3023469" y="1655280"/>
                  <a:pt x="2965016" y="1705261"/>
                </a:cubicBezTo>
                <a:cubicBezTo>
                  <a:pt x="2954850" y="1710345"/>
                  <a:pt x="2954850" y="1722205"/>
                  <a:pt x="2954850" y="1730676"/>
                </a:cubicBezTo>
                <a:cubicBezTo>
                  <a:pt x="2943837" y="1769645"/>
                  <a:pt x="2932824" y="1807767"/>
                  <a:pt x="2920117" y="1845888"/>
                </a:cubicBezTo>
                <a:cubicBezTo>
                  <a:pt x="2910197" y="1870117"/>
                  <a:pt x="2919583" y="1897903"/>
                  <a:pt x="2942143" y="1911118"/>
                </a:cubicBezTo>
                <a:cubicBezTo>
                  <a:pt x="2966710" y="1927214"/>
                  <a:pt x="2998055" y="1946699"/>
                  <a:pt x="3014998" y="1959406"/>
                </a:cubicBezTo>
                <a:cubicBezTo>
                  <a:pt x="3031941" y="1972113"/>
                  <a:pt x="3042106" y="1972960"/>
                  <a:pt x="3049731" y="1951782"/>
                </a:cubicBezTo>
                <a:cubicBezTo>
                  <a:pt x="3070375" y="1893243"/>
                  <a:pt x="3121408" y="1850632"/>
                  <a:pt x="3182733" y="1840805"/>
                </a:cubicBezTo>
                <a:lnTo>
                  <a:pt x="3181886" y="1839958"/>
                </a:lnTo>
                <a:cubicBezTo>
                  <a:pt x="3207300" y="1830639"/>
                  <a:pt x="3210689" y="1824709"/>
                  <a:pt x="3200523" y="1801837"/>
                </a:cubicBezTo>
                <a:cubicBezTo>
                  <a:pt x="3141316" y="1672138"/>
                  <a:pt x="3090944" y="1538543"/>
                  <a:pt x="3049731" y="1401983"/>
                </a:cubicBezTo>
                <a:close/>
                <a:moveTo>
                  <a:pt x="2507556" y="1406218"/>
                </a:moveTo>
                <a:cubicBezTo>
                  <a:pt x="2510936" y="1419942"/>
                  <a:pt x="2520255" y="1431379"/>
                  <a:pt x="2532971" y="1437563"/>
                </a:cubicBezTo>
                <a:lnTo>
                  <a:pt x="2532124" y="1436716"/>
                </a:lnTo>
                <a:cubicBezTo>
                  <a:pt x="2541442" y="1414690"/>
                  <a:pt x="2531276" y="1407066"/>
                  <a:pt x="2507556" y="1406218"/>
                </a:cubicBezTo>
                <a:close/>
                <a:moveTo>
                  <a:pt x="1260555" y="1466366"/>
                </a:moveTo>
                <a:cubicBezTo>
                  <a:pt x="1245950" y="1567939"/>
                  <a:pt x="1225585" y="1668665"/>
                  <a:pt x="1199561" y="1767951"/>
                </a:cubicBezTo>
                <a:cubicBezTo>
                  <a:pt x="1185159" y="1782352"/>
                  <a:pt x="1187701" y="1797601"/>
                  <a:pt x="1193631" y="1817932"/>
                </a:cubicBezTo>
                <a:cubicBezTo>
                  <a:pt x="1203898" y="1808359"/>
                  <a:pt x="1209464" y="1794720"/>
                  <a:pt x="1208879" y="1780658"/>
                </a:cubicBezTo>
                <a:cubicBezTo>
                  <a:pt x="1240995" y="1701111"/>
                  <a:pt x="1311088" y="1643081"/>
                  <a:pt x="1395252" y="1626477"/>
                </a:cubicBezTo>
                <a:cubicBezTo>
                  <a:pt x="1358825" y="1568024"/>
                  <a:pt x="1300371" y="1531596"/>
                  <a:pt x="1260555" y="1466366"/>
                </a:cubicBezTo>
                <a:close/>
                <a:moveTo>
                  <a:pt x="1654479" y="1530749"/>
                </a:moveTo>
                <a:cubicBezTo>
                  <a:pt x="1591790" y="1523972"/>
                  <a:pt x="1556210" y="1583273"/>
                  <a:pt x="1507075" y="1608687"/>
                </a:cubicBezTo>
                <a:cubicBezTo>
                  <a:pt x="1490979" y="1613770"/>
                  <a:pt x="1472342" y="1601063"/>
                  <a:pt x="1459635" y="1619700"/>
                </a:cubicBezTo>
                <a:lnTo>
                  <a:pt x="1558751" y="1619700"/>
                </a:lnTo>
                <a:cubicBezTo>
                  <a:pt x="1634994" y="1630713"/>
                  <a:pt x="1609580" y="1549387"/>
                  <a:pt x="1654479" y="1530749"/>
                </a:cubicBezTo>
                <a:close/>
                <a:moveTo>
                  <a:pt x="2425383" y="1634101"/>
                </a:moveTo>
                <a:cubicBezTo>
                  <a:pt x="2418606" y="1643420"/>
                  <a:pt x="2414370" y="1643420"/>
                  <a:pt x="2414370" y="1643420"/>
                </a:cubicBezTo>
                <a:cubicBezTo>
                  <a:pt x="2405899" y="1668834"/>
                  <a:pt x="2397427" y="1698485"/>
                  <a:pt x="2389803" y="1728135"/>
                </a:cubicBezTo>
                <a:cubicBezTo>
                  <a:pt x="2380815" y="1772017"/>
                  <a:pt x="2402341" y="1816407"/>
                  <a:pt x="2442326" y="1836569"/>
                </a:cubicBezTo>
                <a:cubicBezTo>
                  <a:pt x="2449950" y="1839111"/>
                  <a:pt x="2456727" y="1836569"/>
                  <a:pt x="2456727" y="1830639"/>
                </a:cubicBezTo>
                <a:cubicBezTo>
                  <a:pt x="2469435" y="1790823"/>
                  <a:pt x="2492308" y="1751855"/>
                  <a:pt x="2469435" y="1712886"/>
                </a:cubicBezTo>
                <a:lnTo>
                  <a:pt x="2425383" y="1634101"/>
                </a:lnTo>
                <a:close/>
                <a:moveTo>
                  <a:pt x="1787481" y="1638337"/>
                </a:moveTo>
                <a:cubicBezTo>
                  <a:pt x="1712085" y="1689166"/>
                  <a:pt x="1801035" y="1711191"/>
                  <a:pt x="1806118" y="1749313"/>
                </a:cubicBezTo>
                <a:lnTo>
                  <a:pt x="1806118" y="1745925"/>
                </a:lnTo>
                <a:cubicBezTo>
                  <a:pt x="1832380" y="1705261"/>
                  <a:pt x="1834074" y="1666293"/>
                  <a:pt x="1787481" y="1638337"/>
                </a:cubicBezTo>
                <a:close/>
              </a:path>
            </a:pathLst>
          </a:custGeom>
          <a:solidFill>
            <a:schemeClr val="accent1">
              <a:alpha val="17000"/>
            </a:schemeClr>
          </a:solidFill>
          <a:ln w="84667" cap="flat">
            <a:noFill/>
            <a:prstDash val="solid"/>
            <a:miter/>
          </a:ln>
        </p:spPr>
        <p:txBody>
          <a:bodyPr rtlCol="0" anchor="ctr"/>
          <a:lstStyle/>
          <a:p>
            <a:endParaRPr lang="en-IN"/>
          </a:p>
        </p:txBody>
      </p:sp>
      <p:pic>
        <p:nvPicPr>
          <p:cNvPr id="2" name="Picture 1">
            <a:extLst>
              <a:ext uri="{FF2B5EF4-FFF2-40B4-BE49-F238E27FC236}">
                <a16:creationId xmlns:a16="http://schemas.microsoft.com/office/drawing/2014/main" id="{8529DC8A-9A92-8A11-F651-BC150896F7F0}"/>
              </a:ext>
            </a:extLst>
          </p:cNvPr>
          <p:cNvPicPr>
            <a:picLocks noChangeAspect="1"/>
          </p:cNvPicPr>
          <p:nvPr/>
        </p:nvPicPr>
        <p:blipFill>
          <a:blip r:embed="rId5">
            <a:alphaModFix amt="20000"/>
          </a:blip>
          <a:stretch>
            <a:fillRect/>
          </a:stretch>
        </p:blipFill>
        <p:spPr>
          <a:xfrm>
            <a:off x="4052956" y="1271185"/>
            <a:ext cx="4076258" cy="5202031"/>
          </a:xfrm>
          <a:prstGeom prst="rect">
            <a:avLst/>
          </a:prstGeom>
        </p:spPr>
      </p:pic>
      <p:sp>
        <p:nvSpPr>
          <p:cNvPr id="3" name="TextBox 2">
            <a:extLst>
              <a:ext uri="{FF2B5EF4-FFF2-40B4-BE49-F238E27FC236}">
                <a16:creationId xmlns:a16="http://schemas.microsoft.com/office/drawing/2014/main" id="{A82B2B6A-B2B4-10FE-A1CD-264B7EC0554A}"/>
              </a:ext>
            </a:extLst>
          </p:cNvPr>
          <p:cNvSpPr txBox="1"/>
          <p:nvPr/>
        </p:nvSpPr>
        <p:spPr>
          <a:xfrm>
            <a:off x="150272" y="5832385"/>
            <a:ext cx="3833107" cy="707886"/>
          </a:xfrm>
          <a:prstGeom prst="rect">
            <a:avLst/>
          </a:prstGeom>
          <a:noFill/>
        </p:spPr>
        <p:txBody>
          <a:bodyPr wrap="square" lIns="91440" tIns="45720" rIns="91440" bIns="45720" rtlCol="0" anchor="t">
            <a:spAutoFit/>
          </a:bodyPr>
          <a:lstStyle/>
          <a:p>
            <a:r>
              <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Submitted By:</a:t>
            </a:r>
          </a:p>
          <a:p>
            <a:r>
              <a:rPr lang="en-US" sz="2000" b="1" dirty="0">
                <a:ln w="10160">
                  <a:solidFill>
                    <a:srgbClr val="774898"/>
                  </a:solidFill>
                  <a:prstDash val="solid"/>
                </a:ln>
                <a:solidFill>
                  <a:srgbClr val="FFFFFF"/>
                </a:solidFill>
                <a:effectLst>
                  <a:outerShdw blurRad="38100" dist="22860" dir="5400000" algn="tl" rotWithShape="0">
                    <a:srgbClr val="000000">
                      <a:alpha val="30000"/>
                    </a:srgbClr>
                  </a:outerShdw>
                </a:effectLst>
              </a:rPr>
              <a:t>Rajiv Kumar</a:t>
            </a:r>
          </a:p>
        </p:txBody>
      </p:sp>
    </p:spTree>
    <p:extLst>
      <p:ext uri="{BB962C8B-B14F-4D97-AF65-F5344CB8AC3E}">
        <p14:creationId xmlns:p14="http://schemas.microsoft.com/office/powerpoint/2010/main" val="3679160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5C967B35-E605-169B-FEE9-DF49E17376A5}"/>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6AD5D2AF-A139-4124-2D82-7206F644645D}"/>
              </a:ext>
            </a:extLst>
          </p:cNvPr>
          <p:cNvGrpSpPr/>
          <p:nvPr/>
        </p:nvGrpSpPr>
        <p:grpSpPr>
          <a:xfrm>
            <a:off x="213046" y="376105"/>
            <a:ext cx="11765902" cy="3638535"/>
            <a:chOff x="1109565" y="1009141"/>
            <a:chExt cx="4871819" cy="3638535"/>
          </a:xfrm>
        </p:grpSpPr>
        <p:sp>
          <p:nvSpPr>
            <p:cNvPr id="4" name="TextBox 3">
              <a:extLst>
                <a:ext uri="{FF2B5EF4-FFF2-40B4-BE49-F238E27FC236}">
                  <a16:creationId xmlns:a16="http://schemas.microsoft.com/office/drawing/2014/main" id="{A5940114-37EA-5A28-2A19-2CE87107877E}"/>
                </a:ext>
              </a:extLst>
            </p:cNvPr>
            <p:cNvSpPr txBox="1"/>
            <p:nvPr/>
          </p:nvSpPr>
          <p:spPr>
            <a:xfrm>
              <a:off x="1109565" y="1970020"/>
              <a:ext cx="4871819" cy="2677656"/>
            </a:xfrm>
            <a:prstGeom prst="rect">
              <a:avLst/>
            </a:prstGeom>
            <a:noFill/>
            <a:ln>
              <a:solidFill>
                <a:schemeClr val="tx2">
                  <a:lumMod val="10000"/>
                  <a:lumOff val="90000"/>
                </a:schemeClr>
              </a:solidFill>
            </a:ln>
          </p:spPr>
          <p:txBody>
            <a:bodyPr wrap="square">
              <a:spAutoFit/>
            </a:bodyPr>
            <a:lstStyle/>
            <a:p>
              <a:pPr lvl="0"/>
              <a:r>
                <a:rPr lang="en-US" sz="2400" dirty="0">
                  <a:solidFill>
                    <a:schemeClr val="bg1"/>
                  </a:solidFill>
                </a:rPr>
                <a:t>You are hired as a Sports Data Analyst by RCB to identify top-performing and reliable players who can help the team win tournaments. The analysis focuses on player performance, match impact, all-round abilities, venue and toss trends, and value for money during the Mega Player Auction. </a:t>
              </a:r>
            </a:p>
            <a:p>
              <a:pPr lvl="0"/>
              <a:endParaRPr lang="en-US" sz="2400" dirty="0">
                <a:solidFill>
                  <a:schemeClr val="bg1"/>
                </a:solidFill>
              </a:endParaRPr>
            </a:p>
            <a:p>
              <a:pPr lvl="0"/>
              <a:r>
                <a:rPr lang="en-US" sz="2400" dirty="0">
                  <a:solidFill>
                    <a:schemeClr val="bg1"/>
                  </a:solidFill>
                </a:rPr>
                <a:t>Your task is to provide data-driven strategies and suggestions for selecting the best players and optimizing RCB’s auction investments.</a:t>
              </a:r>
              <a:endParaRPr lang="en-US" sz="2400" dirty="0">
                <a:solidFill>
                  <a:schemeClr val="bg1"/>
                </a:solidFill>
                <a:latin typeface="Montserrat" panose="00000500000000000000" pitchFamily="2" charset="0"/>
              </a:endParaRPr>
            </a:p>
          </p:txBody>
        </p:sp>
        <p:sp>
          <p:nvSpPr>
            <p:cNvPr id="11" name="TextBox 10">
              <a:extLst>
                <a:ext uri="{FF2B5EF4-FFF2-40B4-BE49-F238E27FC236}">
                  <a16:creationId xmlns:a16="http://schemas.microsoft.com/office/drawing/2014/main" id="{05D1C4A8-8511-70E5-6B46-5E9D06AE070D}"/>
                </a:ext>
              </a:extLst>
            </p:cNvPr>
            <p:cNvSpPr txBox="1"/>
            <p:nvPr/>
          </p:nvSpPr>
          <p:spPr>
            <a:xfrm>
              <a:off x="2613204" y="1009141"/>
              <a:ext cx="2226915" cy="584775"/>
            </a:xfrm>
            <a:prstGeom prst="rect">
              <a:avLst/>
            </a:prstGeom>
            <a:noFill/>
            <a:ln>
              <a:noFill/>
            </a:ln>
          </p:spPr>
          <p:txBody>
            <a:bodyPr wrap="square">
              <a:spAutoFit/>
            </a:bodyPr>
            <a:lstStyle/>
            <a:p>
              <a:r>
                <a:rPr lang="en-GB" sz="3200" b="1" dirty="0">
                  <a:ln w="22225">
                    <a:solidFill>
                      <a:schemeClr val="accent2"/>
                    </a:solidFill>
                    <a:prstDash val="solid"/>
                  </a:ln>
                  <a:solidFill>
                    <a:schemeClr val="accent2">
                      <a:lumMod val="40000"/>
                      <a:lumOff val="60000"/>
                    </a:schemeClr>
                  </a:solidFill>
                  <a:latin typeface="Montserrat" panose="00000500000000000000" pitchFamily="2" charset="0"/>
                </a:rPr>
                <a:t>Problem Statement</a:t>
              </a:r>
              <a:r>
                <a:rPr lang="en-GB" sz="3200" dirty="0"/>
                <a:t>	</a:t>
              </a:r>
              <a:endParaRPr lang="en-IN" sz="3200" b="1" dirty="0">
                <a:solidFill>
                  <a:schemeClr val="accent2"/>
                </a:solidFill>
                <a:latin typeface="Montserrat" panose="00000500000000000000" pitchFamily="2" charset="0"/>
              </a:endParaRPr>
            </a:p>
          </p:txBody>
        </p:sp>
      </p:grpSp>
      <p:pic>
        <p:nvPicPr>
          <p:cNvPr id="3627" name="Picture 3626" descr="A colorful lines on a black background&#10;&#10;Description automatically generated">
            <a:extLst>
              <a:ext uri="{FF2B5EF4-FFF2-40B4-BE49-F238E27FC236}">
                <a16:creationId xmlns:a16="http://schemas.microsoft.com/office/drawing/2014/main" id="{E58013DC-CEAC-3389-0545-128D76CEC8E1}"/>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CD7BBC8C-2360-6BCD-D724-91460588EBEE}"/>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03A5F189-E7B6-4EFA-BFFC-074071609EFF}"/>
              </a:ext>
            </a:extLst>
          </p:cNvPr>
          <p:cNvSpPr txBox="1"/>
          <p:nvPr/>
        </p:nvSpPr>
        <p:spPr>
          <a:xfrm>
            <a:off x="4686741" y="4564803"/>
            <a:ext cx="2818513" cy="584775"/>
          </a:xfrm>
          <a:prstGeom prst="rect">
            <a:avLst/>
          </a:prstGeom>
          <a:noFill/>
          <a:ln>
            <a:noFill/>
          </a:ln>
        </p:spPr>
        <p:txBody>
          <a:bodyPr wrap="square">
            <a:spAutoFit/>
          </a:bodyPr>
          <a:lstStyle/>
          <a:p>
            <a:r>
              <a:rPr lang="en-US" sz="3200" b="1" dirty="0">
                <a:solidFill>
                  <a:schemeClr val="accent2"/>
                </a:solidFill>
                <a:latin typeface="Montserrat" panose="00000500000000000000" pitchFamily="2" charset="0"/>
              </a:rPr>
              <a:t>Objective</a:t>
            </a:r>
            <a:endParaRPr lang="en-IN" sz="3200" b="1" dirty="0">
              <a:solidFill>
                <a:schemeClr val="accent2"/>
              </a:solidFill>
              <a:latin typeface="Montserrat" panose="00000500000000000000" pitchFamily="2" charset="0"/>
            </a:endParaRPr>
          </a:p>
        </p:txBody>
      </p:sp>
      <p:sp>
        <p:nvSpPr>
          <p:cNvPr id="6" name="TextBox 5">
            <a:extLst>
              <a:ext uri="{FF2B5EF4-FFF2-40B4-BE49-F238E27FC236}">
                <a16:creationId xmlns:a16="http://schemas.microsoft.com/office/drawing/2014/main" id="{207A5D2A-92B4-999D-09FF-F9DAE8717828}"/>
              </a:ext>
            </a:extLst>
          </p:cNvPr>
          <p:cNvSpPr txBox="1"/>
          <p:nvPr/>
        </p:nvSpPr>
        <p:spPr>
          <a:xfrm>
            <a:off x="236376" y="5257431"/>
            <a:ext cx="11750349" cy="1200329"/>
          </a:xfrm>
          <a:prstGeom prst="rect">
            <a:avLst/>
          </a:prstGeom>
          <a:noFill/>
          <a:ln>
            <a:solidFill>
              <a:schemeClr val="bg1"/>
            </a:solidFill>
          </a:ln>
        </p:spPr>
        <p:txBody>
          <a:bodyPr wrap="square">
            <a:spAutoFit/>
          </a:bodyPr>
          <a:lstStyle/>
          <a:p>
            <a:pPr lvl="0"/>
            <a:r>
              <a:rPr lang="en-US" sz="2400" dirty="0">
                <a:solidFill>
                  <a:schemeClr val="bg1"/>
                </a:solidFill>
              </a:rPr>
              <a:t>To use SQL-driven IPL data analysis to identify high-impact players, optimize RCB’s auction strategy, and develop data-backed strategies for improving match and tournament performance.</a:t>
            </a:r>
            <a:endParaRPr lang="en-US" sz="24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192885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8ECA91A-14EB-FACA-FAAC-94F4EC1E16C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DE48FFE-68FE-941D-E6BB-8DC9BA0C6CFE}"/>
              </a:ext>
            </a:extLst>
          </p:cNvPr>
          <p:cNvSpPr txBox="1"/>
          <p:nvPr/>
        </p:nvSpPr>
        <p:spPr>
          <a:xfrm>
            <a:off x="0" y="0"/>
            <a:ext cx="12192000" cy="584775"/>
          </a:xfrm>
          <a:prstGeom prst="rect">
            <a:avLst/>
          </a:prstGeom>
          <a:noFill/>
        </p:spPr>
        <p:txBody>
          <a:bodyPr wrap="square">
            <a:spAutoFit/>
          </a:bodyPr>
          <a:lstStyle/>
          <a:p>
            <a:pPr algn="ctr"/>
            <a:r>
              <a:rPr lang="en-US" sz="3200" b="1" i="0" dirty="0">
                <a:solidFill>
                  <a:schemeClr val="accent2"/>
                </a:solidFill>
                <a:effectLst/>
                <a:latin typeface="Montserrat" panose="00000500000000000000" pitchFamily="2" charset="0"/>
              </a:rPr>
              <a:t>Data Description</a:t>
            </a:r>
            <a:endParaRPr lang="en-IN" sz="32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5305CC98-8E3F-D44B-57AD-D9A0A59D05FD}"/>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0B30A21-4DB5-9DCA-164B-F0518AE907D4}"/>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8" name="Google Shape;79;p17">
            <a:extLst>
              <a:ext uri="{FF2B5EF4-FFF2-40B4-BE49-F238E27FC236}">
                <a16:creationId xmlns:a16="http://schemas.microsoft.com/office/drawing/2014/main" id="{D7035102-1ADE-4301-9EA7-B6CBCB986D93}"/>
              </a:ext>
            </a:extLst>
          </p:cNvPr>
          <p:cNvSpPr txBox="1">
            <a:spLocks/>
          </p:cNvSpPr>
          <p:nvPr/>
        </p:nvSpPr>
        <p:spPr>
          <a:xfrm>
            <a:off x="91751" y="1047884"/>
            <a:ext cx="5655906" cy="566166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1600" b="1" dirty="0" err="1">
                <a:solidFill>
                  <a:schemeClr val="bg1"/>
                </a:solidFill>
                <a:latin typeface="Montserrat"/>
              </a:rPr>
              <a:t>Ball_by_Ball</a:t>
            </a:r>
            <a:endParaRPr lang="en-US" sz="1600" b="1" dirty="0">
              <a:solidFill>
                <a:schemeClr val="bg1"/>
              </a:solidFill>
              <a:latin typeface="Montserrat"/>
            </a:endParaRPr>
          </a:p>
          <a:p>
            <a:pPr marL="457200" indent="-299720">
              <a:spcBef>
                <a:spcPts val="1200"/>
              </a:spcBef>
              <a:buClr>
                <a:schemeClr val="dk1"/>
              </a:buClr>
              <a:buSzPts val="1127"/>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a:rPr>
              <a:t>Match_id</a:t>
            </a:r>
            <a:r>
              <a:rPr lang="en-US" sz="1600" dirty="0">
                <a:solidFill>
                  <a:schemeClr val="bg1"/>
                </a:solidFill>
                <a:latin typeface="Montserrat"/>
              </a:rPr>
              <a:t>: Unique identifier for a cricket match</a:t>
            </a:r>
          </a:p>
          <a:p>
            <a:pPr marL="457200" indent="-299720">
              <a:spcBef>
                <a:spcPts val="0"/>
              </a:spcBef>
              <a:buClr>
                <a:schemeClr val="dk1"/>
              </a:buClr>
              <a:buSzPts val="1127"/>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a:rPr>
              <a:t>Over_id</a:t>
            </a:r>
            <a:r>
              <a:rPr lang="en-US" sz="1600" b="1" spc="50" dirty="0">
                <a:ln w="0"/>
                <a:solidFill>
                  <a:schemeClr val="bg2"/>
                </a:solidFill>
                <a:effectLst>
                  <a:innerShdw blurRad="63500" dist="50800" dir="13500000">
                    <a:srgbClr val="000000">
                      <a:alpha val="50000"/>
                    </a:srgbClr>
                  </a:innerShdw>
                </a:effectLst>
                <a:latin typeface="Montserrat"/>
              </a:rPr>
              <a:t>:</a:t>
            </a:r>
            <a:r>
              <a:rPr lang="en-US" sz="1600" dirty="0">
                <a:solidFill>
                  <a:schemeClr val="bg1"/>
                </a:solidFill>
                <a:latin typeface="Montserrat"/>
              </a:rPr>
              <a:t> Unique identifier for an over in a cricket match</a:t>
            </a:r>
          </a:p>
          <a:p>
            <a:pPr marL="457200" indent="-299720">
              <a:spcBef>
                <a:spcPts val="0"/>
              </a:spcBef>
              <a:buClr>
                <a:schemeClr val="dk1"/>
              </a:buClr>
              <a:buSzPts val="1127"/>
              <a:buFont typeface="Arial" panose="020B0604020202020204" pitchFamily="34" charset="0"/>
              <a:buChar char="●"/>
            </a:pPr>
            <a:endParaRPr lang="en-US" sz="1600" dirty="0">
              <a:solidFill>
                <a:schemeClr val="bg1"/>
              </a:solidFill>
              <a:latin typeface="Montserrat"/>
            </a:endParaRPr>
          </a:p>
          <a:p>
            <a:pPr marL="457200" indent="-299720">
              <a:spcBef>
                <a:spcPts val="0"/>
              </a:spcBef>
              <a:buClr>
                <a:schemeClr val="dk1"/>
              </a:buClr>
              <a:buSzPts val="1127"/>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a:rPr>
              <a:t>Ball_id</a:t>
            </a:r>
            <a:r>
              <a:rPr lang="en-US" sz="1600" dirty="0">
                <a:solidFill>
                  <a:schemeClr val="bg1"/>
                </a:solidFill>
                <a:latin typeface="Montserrat"/>
              </a:rPr>
              <a:t>: Unique identifier for a ball in an over</a:t>
            </a:r>
          </a:p>
          <a:p>
            <a:pPr marL="457200" indent="-299720">
              <a:spcBef>
                <a:spcPts val="0"/>
              </a:spcBef>
              <a:buClr>
                <a:schemeClr val="dk1"/>
              </a:buClr>
              <a:buSzPts val="1127"/>
              <a:buFont typeface="Arial" panose="020B0604020202020204" pitchFamily="34" charset="0"/>
              <a:buChar char="●"/>
            </a:pPr>
            <a:endParaRPr lang="en-US" sz="1600" dirty="0">
              <a:solidFill>
                <a:schemeClr val="bg1"/>
              </a:solidFill>
              <a:latin typeface="Montserrat"/>
            </a:endParaRPr>
          </a:p>
          <a:p>
            <a:pPr marL="457200" indent="-299720">
              <a:spcBef>
                <a:spcPts val="0"/>
              </a:spcBef>
              <a:buClr>
                <a:schemeClr val="dk1"/>
              </a:buClr>
              <a:buSzPts val="1127"/>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a:rPr>
              <a:t>Innings_No</a:t>
            </a:r>
            <a:r>
              <a:rPr lang="en-US" sz="1600" dirty="0">
                <a:solidFill>
                  <a:schemeClr val="bg1"/>
                </a:solidFill>
                <a:latin typeface="Montserrat"/>
              </a:rPr>
              <a:t>: The innings number in a cricket match</a:t>
            </a:r>
          </a:p>
          <a:p>
            <a:pPr marL="457200" indent="-299720">
              <a:spcBef>
                <a:spcPts val="0"/>
              </a:spcBef>
              <a:buClr>
                <a:schemeClr val="dk1"/>
              </a:buClr>
              <a:buSzPts val="1127"/>
              <a:buFont typeface="Arial" panose="020B0604020202020204" pitchFamily="34" charset="0"/>
              <a:buChar char="●"/>
            </a:pPr>
            <a:endParaRPr lang="en-US" sz="1600" dirty="0">
              <a:solidFill>
                <a:schemeClr val="bg1"/>
              </a:solidFill>
              <a:latin typeface="Montserrat"/>
            </a:endParaRPr>
          </a:p>
          <a:p>
            <a:pPr marL="457200" indent="-299720">
              <a:spcBef>
                <a:spcPts val="0"/>
              </a:spcBef>
              <a:buClr>
                <a:schemeClr val="dk1"/>
              </a:buClr>
              <a:buSzPts val="1127"/>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a:rPr>
              <a:t>Team_Batting</a:t>
            </a:r>
            <a:r>
              <a:rPr lang="en-US" sz="1600" dirty="0">
                <a:solidFill>
                  <a:schemeClr val="bg1"/>
                </a:solidFill>
                <a:latin typeface="Montserrat"/>
              </a:rPr>
              <a:t>: The team batting in a particular innings</a:t>
            </a:r>
          </a:p>
          <a:p>
            <a:pPr marL="457200" indent="-299720">
              <a:spcBef>
                <a:spcPts val="0"/>
              </a:spcBef>
              <a:buClr>
                <a:schemeClr val="dk1"/>
              </a:buClr>
              <a:buSzPts val="1127"/>
              <a:buFont typeface="Arial" panose="020B0604020202020204" pitchFamily="34" charset="0"/>
              <a:buChar char="●"/>
            </a:pPr>
            <a:endParaRPr lang="en-US" sz="1600" dirty="0">
              <a:solidFill>
                <a:schemeClr val="bg1"/>
              </a:solidFill>
              <a:latin typeface="Montserrat"/>
            </a:endParaRPr>
          </a:p>
          <a:p>
            <a:pPr marL="457200" indent="-299720">
              <a:spcBef>
                <a:spcPts val="0"/>
              </a:spcBef>
              <a:buClr>
                <a:schemeClr val="dk1"/>
              </a:buClr>
              <a:buSzPts val="1127"/>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a:rPr>
              <a:t>Team_Bowling</a:t>
            </a:r>
            <a:r>
              <a:rPr lang="en-US" sz="1600" dirty="0">
                <a:solidFill>
                  <a:schemeClr val="bg1"/>
                </a:solidFill>
                <a:latin typeface="Montserrat"/>
              </a:rPr>
              <a:t>: The team bowling in a particular innings</a:t>
            </a:r>
          </a:p>
          <a:p>
            <a:pPr marL="457200" indent="-299720">
              <a:spcBef>
                <a:spcPts val="0"/>
              </a:spcBef>
              <a:buClr>
                <a:schemeClr val="dk1"/>
              </a:buClr>
              <a:buSzPts val="1127"/>
              <a:buFont typeface="Arial" panose="020B0604020202020204" pitchFamily="34" charset="0"/>
              <a:buChar char="●"/>
            </a:pPr>
            <a:endParaRPr lang="en-US" sz="1600" dirty="0">
              <a:solidFill>
                <a:schemeClr val="bg1"/>
              </a:solidFill>
              <a:latin typeface="Montserrat"/>
            </a:endParaRPr>
          </a:p>
          <a:p>
            <a:pPr marL="457200" indent="-299720">
              <a:spcBef>
                <a:spcPts val="0"/>
              </a:spcBef>
              <a:buClr>
                <a:schemeClr val="dk1"/>
              </a:buClr>
              <a:buSzPts val="1127"/>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a:rPr>
              <a:t>Striker_Batting_Position</a:t>
            </a:r>
            <a:r>
              <a:rPr lang="en-US" sz="1600" dirty="0">
                <a:solidFill>
                  <a:schemeClr val="bg1"/>
                </a:solidFill>
                <a:latin typeface="Montserrat"/>
              </a:rPr>
              <a:t>: The batting position of the striker batsman</a:t>
            </a:r>
          </a:p>
          <a:p>
            <a:pPr marL="457200" indent="-299720">
              <a:spcBef>
                <a:spcPts val="0"/>
              </a:spcBef>
              <a:buClr>
                <a:schemeClr val="dk1"/>
              </a:buClr>
              <a:buSzPts val="1127"/>
              <a:buFont typeface="Arial" panose="020B0604020202020204" pitchFamily="34" charset="0"/>
              <a:buChar char="●"/>
            </a:pPr>
            <a:endParaRPr lang="en-US" sz="1600" dirty="0">
              <a:solidFill>
                <a:schemeClr val="bg1"/>
              </a:solidFill>
              <a:latin typeface="Montserrat"/>
            </a:endParaRPr>
          </a:p>
          <a:p>
            <a:pPr marL="457200" indent="-299720">
              <a:spcBef>
                <a:spcPts val="0"/>
              </a:spcBef>
              <a:buClr>
                <a:schemeClr val="dk1"/>
              </a:buClr>
              <a:buSzPts val="1127"/>
              <a:buFont typeface="Arial" panose="020B0604020202020204" pitchFamily="34" charset="0"/>
              <a:buChar char="●"/>
            </a:pPr>
            <a:r>
              <a:rPr lang="en-US" sz="1600" b="1" spc="50" dirty="0">
                <a:ln w="0"/>
                <a:solidFill>
                  <a:schemeClr val="bg2"/>
                </a:solidFill>
                <a:effectLst>
                  <a:innerShdw blurRad="63500" dist="50800" dir="13500000">
                    <a:srgbClr val="000000">
                      <a:alpha val="50000"/>
                    </a:srgbClr>
                  </a:innerShdw>
                </a:effectLst>
                <a:latin typeface="Montserrat"/>
              </a:rPr>
              <a:t>Striker</a:t>
            </a:r>
            <a:r>
              <a:rPr lang="en-US" sz="1600" dirty="0">
                <a:solidFill>
                  <a:schemeClr val="bg1"/>
                </a:solidFill>
                <a:latin typeface="Montserrat"/>
              </a:rPr>
              <a:t>: The batsman currently on strike</a:t>
            </a:r>
          </a:p>
          <a:p>
            <a:pPr marL="457200" indent="-299720">
              <a:spcBef>
                <a:spcPts val="0"/>
              </a:spcBef>
              <a:buClr>
                <a:schemeClr val="dk1"/>
              </a:buClr>
              <a:buSzPts val="1127"/>
              <a:buFont typeface="Arial" panose="020B0604020202020204" pitchFamily="34" charset="0"/>
              <a:buChar char="●"/>
            </a:pPr>
            <a:endParaRPr lang="en-US" sz="1600" dirty="0">
              <a:solidFill>
                <a:schemeClr val="bg1"/>
              </a:solidFill>
              <a:latin typeface="Montserrat"/>
            </a:endParaRPr>
          </a:p>
          <a:p>
            <a:pPr marL="457200" indent="-299720">
              <a:spcBef>
                <a:spcPts val="0"/>
              </a:spcBef>
              <a:buClr>
                <a:schemeClr val="dk1"/>
              </a:buClr>
              <a:buSzPts val="1127"/>
              <a:buFont typeface="Arial" panose="020B0604020202020204" pitchFamily="34" charset="0"/>
              <a:buChar char="●"/>
            </a:pPr>
            <a:r>
              <a:rPr lang="en-US" sz="1600" b="1" spc="50" dirty="0">
                <a:ln w="0"/>
                <a:solidFill>
                  <a:schemeClr val="bg2"/>
                </a:solidFill>
                <a:effectLst>
                  <a:innerShdw blurRad="63500" dist="50800" dir="13500000">
                    <a:srgbClr val="000000">
                      <a:alpha val="50000"/>
                    </a:srgbClr>
                  </a:innerShdw>
                </a:effectLst>
                <a:latin typeface="Montserrat"/>
              </a:rPr>
              <a:t>Non_Striker</a:t>
            </a:r>
            <a:r>
              <a:rPr lang="en-US" sz="1600" dirty="0">
                <a:solidFill>
                  <a:schemeClr val="bg1"/>
                </a:solidFill>
                <a:latin typeface="Montserrat"/>
              </a:rPr>
              <a:t>: The batsman currently at the non-striker's end</a:t>
            </a:r>
          </a:p>
          <a:p>
            <a:pPr marL="457200" indent="-299720">
              <a:spcBef>
                <a:spcPts val="0"/>
              </a:spcBef>
              <a:buClr>
                <a:schemeClr val="dk1"/>
              </a:buClr>
              <a:buSzPts val="1127"/>
              <a:buFont typeface="Arial" panose="020B0604020202020204" pitchFamily="34" charset="0"/>
              <a:buChar char="●"/>
            </a:pPr>
            <a:endParaRPr lang="en-US" sz="1600" dirty="0">
              <a:solidFill>
                <a:schemeClr val="bg1"/>
              </a:solidFill>
              <a:latin typeface="Montserrat"/>
            </a:endParaRPr>
          </a:p>
          <a:p>
            <a:pPr marL="457200" indent="-299720">
              <a:spcBef>
                <a:spcPts val="0"/>
              </a:spcBef>
              <a:buClr>
                <a:schemeClr val="dk1"/>
              </a:buClr>
              <a:buSzPts val="1127"/>
              <a:buFont typeface="Arial" panose="020B0604020202020204" pitchFamily="34" charset="0"/>
              <a:buChar char="●"/>
            </a:pPr>
            <a:r>
              <a:rPr lang="en-US" sz="1600" b="1" spc="50" dirty="0">
                <a:ln w="0"/>
                <a:solidFill>
                  <a:schemeClr val="bg2"/>
                </a:solidFill>
                <a:effectLst>
                  <a:innerShdw blurRad="63500" dist="50800" dir="13500000">
                    <a:srgbClr val="000000">
                      <a:alpha val="50000"/>
                    </a:srgbClr>
                  </a:innerShdw>
                </a:effectLst>
                <a:latin typeface="Montserrat"/>
              </a:rPr>
              <a:t>Bowler</a:t>
            </a:r>
            <a:r>
              <a:rPr lang="en-US" sz="1600" dirty="0">
                <a:solidFill>
                  <a:schemeClr val="bg1"/>
                </a:solidFill>
                <a:latin typeface="Montserrat"/>
              </a:rPr>
              <a:t>: The bowler bowling the current delivery</a:t>
            </a:r>
          </a:p>
          <a:p>
            <a:pPr marL="457200" indent="0">
              <a:spcBef>
                <a:spcPts val="1200"/>
              </a:spcBef>
              <a:spcAft>
                <a:spcPts val="1200"/>
              </a:spcAft>
              <a:buSzPts val="275"/>
              <a:buFont typeface="Arial" panose="020B0604020202020204" pitchFamily="34" charset="0"/>
              <a:buNone/>
            </a:pPr>
            <a:endParaRPr lang="en-US" sz="1400" dirty="0">
              <a:solidFill>
                <a:schemeClr val="bg1"/>
              </a:solidFill>
              <a:latin typeface="Montserrat" panose="00000500000000000000" pitchFamily="2" charset="0"/>
            </a:endParaRPr>
          </a:p>
        </p:txBody>
      </p:sp>
      <p:sp>
        <p:nvSpPr>
          <p:cNvPr id="9" name="Google Shape;80;p17">
            <a:extLst>
              <a:ext uri="{FF2B5EF4-FFF2-40B4-BE49-F238E27FC236}">
                <a16:creationId xmlns:a16="http://schemas.microsoft.com/office/drawing/2014/main" id="{C5479C70-EEBE-0ADF-B7FA-50C5883F957E}"/>
              </a:ext>
            </a:extLst>
          </p:cNvPr>
          <p:cNvSpPr txBox="1">
            <a:spLocks/>
          </p:cNvSpPr>
          <p:nvPr/>
        </p:nvSpPr>
        <p:spPr>
          <a:xfrm>
            <a:off x="6811347" y="1047883"/>
            <a:ext cx="5152053" cy="566165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2000" b="1" dirty="0" err="1">
                <a:solidFill>
                  <a:schemeClr val="bg1"/>
                </a:solidFill>
                <a:latin typeface="Montserrat" panose="00000500000000000000" pitchFamily="2" charset="0"/>
              </a:rPr>
              <a:t>Batting_style</a:t>
            </a:r>
            <a:endParaRPr lang="en-US" sz="2000" dirty="0">
              <a:solidFill>
                <a:schemeClr val="bg1"/>
              </a:solidFill>
              <a:latin typeface="Montserrat" panose="00000500000000000000" pitchFamily="2"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Batting_id</a:t>
            </a:r>
            <a:r>
              <a:rPr lang="en-US" sz="1600" dirty="0">
                <a:solidFill>
                  <a:schemeClr val="bg1"/>
                </a:solidFill>
                <a:latin typeface="Montserrat" panose="00000500000000000000" pitchFamily="2" charset="0"/>
              </a:rPr>
              <a:t>: Unique identifier for a batsman's batting record</a:t>
            </a:r>
          </a:p>
          <a:p>
            <a:pPr marL="457200" indent="-298450">
              <a:spcBef>
                <a:spcPts val="1200"/>
              </a:spcBef>
              <a:buClr>
                <a:schemeClr val="dk1"/>
              </a:buClr>
              <a:buSzPts val="1100"/>
              <a:buFont typeface="Arial" panose="020B0604020202020204" pitchFamily="34" charset="0"/>
              <a:buChar char="●"/>
            </a:pPr>
            <a:endParaRPr lang="en-US" sz="1600" dirty="0">
              <a:solidFill>
                <a:schemeClr val="bg1"/>
              </a:solidFill>
              <a:latin typeface="Montserrat" panose="00000500000000000000" pitchFamily="2" charset="0"/>
            </a:endParaRP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Batting_hand</a:t>
            </a:r>
            <a:r>
              <a:rPr lang="en-US" sz="1600" dirty="0">
                <a:solidFill>
                  <a:schemeClr val="bg1"/>
                </a:solidFill>
                <a:latin typeface="Montserrat" panose="00000500000000000000" pitchFamily="2" charset="0"/>
              </a:rPr>
              <a:t>: The batting hand (right or left) of a batsman</a:t>
            </a:r>
          </a:p>
          <a:p>
            <a:pPr marL="457200" indent="-298450">
              <a:spcBef>
                <a:spcPts val="0"/>
              </a:spcBef>
              <a:buClr>
                <a:schemeClr val="dk1"/>
              </a:buClr>
              <a:buSzPts val="1100"/>
              <a:buFont typeface="Arial" panose="020B0604020202020204" pitchFamily="34" charset="0"/>
              <a:buChar char="●"/>
            </a:pPr>
            <a:endParaRPr lang="en-US" sz="1600" dirty="0">
              <a:solidFill>
                <a:schemeClr val="bg1"/>
              </a:solidFill>
              <a:latin typeface="Montserrat" panose="00000500000000000000" pitchFamily="2" charset="0"/>
            </a:endParaRPr>
          </a:p>
          <a:p>
            <a:pPr marL="457200" indent="0">
              <a:spcBef>
                <a:spcPts val="1200"/>
              </a:spcBef>
              <a:buFont typeface="Arial" panose="020B0604020202020204" pitchFamily="34" charset="0"/>
              <a:buNone/>
            </a:pPr>
            <a:r>
              <a:rPr lang="en-US" sz="2000" b="1" dirty="0" err="1">
                <a:solidFill>
                  <a:schemeClr val="bg1"/>
                </a:solidFill>
                <a:latin typeface="Montserrat" panose="00000500000000000000" pitchFamily="2" charset="0"/>
              </a:rPr>
              <a:t>Bowling_style</a:t>
            </a:r>
            <a:endParaRPr lang="en-US" sz="2000" dirty="0">
              <a:solidFill>
                <a:schemeClr val="bg1"/>
              </a:solidFill>
              <a:latin typeface="Montserrat" panose="00000500000000000000" pitchFamily="2"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Bowling_id</a:t>
            </a:r>
            <a:r>
              <a:rPr lang="en-US" sz="1600" dirty="0">
                <a:solidFill>
                  <a:schemeClr val="bg1"/>
                </a:solidFill>
                <a:latin typeface="Montserrat" panose="00000500000000000000" pitchFamily="2" charset="0"/>
              </a:rPr>
              <a:t>: Unique identifier for a bowler's bowling record</a:t>
            </a:r>
          </a:p>
          <a:p>
            <a:pPr marL="457200" indent="-298450">
              <a:spcBef>
                <a:spcPts val="1200"/>
              </a:spcBef>
              <a:buClr>
                <a:schemeClr val="dk1"/>
              </a:buClr>
              <a:buSzPts val="1100"/>
              <a:buFont typeface="Arial" panose="020B0604020202020204" pitchFamily="34" charset="0"/>
              <a:buChar char="●"/>
            </a:pPr>
            <a:endParaRPr lang="en-US" sz="1600" dirty="0">
              <a:solidFill>
                <a:schemeClr val="bg1"/>
              </a:solidFill>
              <a:latin typeface="Montserrat" panose="00000500000000000000" pitchFamily="2" charset="0"/>
            </a:endParaRP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Bowling_skill</a:t>
            </a:r>
            <a:r>
              <a:rPr lang="en-US" sz="1600" dirty="0">
                <a:solidFill>
                  <a:schemeClr val="bg1"/>
                </a:solidFill>
                <a:latin typeface="Montserrat" panose="00000500000000000000" pitchFamily="2" charset="0"/>
              </a:rPr>
              <a:t>: The bowling skill (e.g., right-arm fast, left-arm spin) of a bowler</a:t>
            </a:r>
          </a:p>
          <a:p>
            <a:pPr marL="457200" indent="0">
              <a:spcBef>
                <a:spcPts val="1200"/>
              </a:spcBef>
              <a:buFont typeface="Arial" panose="020B0604020202020204" pitchFamily="34" charset="0"/>
              <a:buNone/>
            </a:pPr>
            <a:r>
              <a:rPr lang="en-US" sz="2000" b="1" dirty="0">
                <a:solidFill>
                  <a:schemeClr val="bg1"/>
                </a:solidFill>
                <a:latin typeface="Montserrat" panose="00000500000000000000" pitchFamily="2" charset="0"/>
              </a:rPr>
              <a:t>City</a:t>
            </a:r>
            <a:endParaRPr lang="en-US" sz="2000" dirty="0">
              <a:solidFill>
                <a:schemeClr val="bg1"/>
              </a:solidFill>
              <a:latin typeface="Montserrat" panose="00000500000000000000" pitchFamily="2"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City_id</a:t>
            </a:r>
            <a:r>
              <a:rPr lang="en-US" sz="1600" dirty="0">
                <a:solidFill>
                  <a:schemeClr val="bg1"/>
                </a:solidFill>
                <a:latin typeface="Montserrat" panose="00000500000000000000" pitchFamily="2" charset="0"/>
              </a:rPr>
              <a:t>: Unique identifier for a city</a:t>
            </a:r>
          </a:p>
          <a:p>
            <a:pPr marL="457200" indent="-298450">
              <a:spcBef>
                <a:spcPts val="1200"/>
              </a:spcBef>
              <a:buClr>
                <a:schemeClr val="dk1"/>
              </a:buClr>
              <a:buSzPts val="1100"/>
              <a:buFont typeface="Arial" panose="020B0604020202020204" pitchFamily="34" charset="0"/>
              <a:buChar char="●"/>
            </a:pPr>
            <a:endParaRPr lang="en-US" sz="1600" dirty="0">
              <a:solidFill>
                <a:schemeClr val="bg1"/>
              </a:solidFill>
              <a:latin typeface="Montserrat" panose="00000500000000000000" pitchFamily="2" charset="0"/>
            </a:endParaRP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City_Name</a:t>
            </a:r>
            <a:r>
              <a:rPr lang="en-US" sz="1600" dirty="0">
                <a:solidFill>
                  <a:schemeClr val="bg1"/>
                </a:solidFill>
                <a:latin typeface="Montserrat" panose="00000500000000000000" pitchFamily="2" charset="0"/>
              </a:rPr>
              <a:t>: The name of a city</a:t>
            </a:r>
          </a:p>
          <a:p>
            <a:pPr marL="457200" indent="-298450">
              <a:spcBef>
                <a:spcPts val="0"/>
              </a:spcBef>
              <a:buClr>
                <a:schemeClr val="dk1"/>
              </a:buClr>
              <a:buSzPts val="1100"/>
              <a:buFont typeface="Arial" panose="020B0604020202020204" pitchFamily="34" charset="0"/>
              <a:buChar char="●"/>
            </a:pPr>
            <a:endParaRPr lang="en-US" sz="1600" dirty="0">
              <a:solidFill>
                <a:schemeClr val="bg1"/>
              </a:solidFill>
              <a:latin typeface="Montserrat" panose="00000500000000000000" pitchFamily="2" charset="0"/>
            </a:endParaRP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Country_id</a:t>
            </a:r>
            <a:r>
              <a:rPr lang="en-US" sz="1600" dirty="0">
                <a:solidFill>
                  <a:schemeClr val="bg1"/>
                </a:solidFill>
                <a:latin typeface="Montserrat" panose="00000500000000000000" pitchFamily="2" charset="0"/>
              </a:rPr>
              <a:t>: Unique identifier for a country</a:t>
            </a:r>
          </a:p>
          <a:p>
            <a:pPr marL="0" indent="0">
              <a:spcBef>
                <a:spcPts val="1200"/>
              </a:spcBef>
              <a:spcAft>
                <a:spcPts val="1200"/>
              </a:spcAft>
              <a:buFont typeface="Arial" panose="020B0604020202020204" pitchFamily="34" charset="0"/>
              <a:buNone/>
            </a:pPr>
            <a:endParaRPr lang="en-US" sz="14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1273445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80E2D489-27CF-A556-9393-D7B71F53B98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1635DB2-B60F-6C82-D96F-BFDB992E3D34}"/>
              </a:ext>
            </a:extLst>
          </p:cNvPr>
          <p:cNvSpPr txBox="1"/>
          <p:nvPr/>
        </p:nvSpPr>
        <p:spPr>
          <a:xfrm>
            <a:off x="0" y="0"/>
            <a:ext cx="12192000" cy="584775"/>
          </a:xfrm>
          <a:prstGeom prst="rect">
            <a:avLst/>
          </a:prstGeom>
          <a:noFill/>
        </p:spPr>
        <p:txBody>
          <a:bodyPr wrap="square">
            <a:spAutoFit/>
          </a:bodyPr>
          <a:lstStyle/>
          <a:p>
            <a:pPr algn="ctr"/>
            <a:r>
              <a:rPr lang="en-US" sz="3200" b="1" i="0" dirty="0">
                <a:solidFill>
                  <a:schemeClr val="accent2"/>
                </a:solidFill>
                <a:effectLst/>
                <a:latin typeface="Montserrat" panose="00000500000000000000" pitchFamily="2" charset="0"/>
              </a:rPr>
              <a:t>Data Description</a:t>
            </a:r>
            <a:endParaRPr lang="en-IN" sz="32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7EBB3CE2-4C2D-09E1-CC49-7DC9A1DAD09D}"/>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80B7F0C-B5A8-B3CE-86C3-429F992DEBF1}"/>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8" name="Google Shape;79;p17">
            <a:extLst>
              <a:ext uri="{FF2B5EF4-FFF2-40B4-BE49-F238E27FC236}">
                <a16:creationId xmlns:a16="http://schemas.microsoft.com/office/drawing/2014/main" id="{C7F3BAC2-4A9F-3BB2-22E9-194B50238407}"/>
              </a:ext>
            </a:extLst>
          </p:cNvPr>
          <p:cNvSpPr txBox="1">
            <a:spLocks/>
          </p:cNvSpPr>
          <p:nvPr/>
        </p:nvSpPr>
        <p:spPr>
          <a:xfrm>
            <a:off x="632881" y="1047884"/>
            <a:ext cx="5655906" cy="566166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lnSpc>
                <a:spcPct val="100000"/>
              </a:lnSpc>
              <a:spcBef>
                <a:spcPts val="0"/>
              </a:spcBef>
              <a:spcAft>
                <a:spcPts val="1200"/>
              </a:spcAft>
              <a:buNone/>
            </a:pPr>
            <a:r>
              <a:rPr lang="en-US" sz="1400" b="1" dirty="0">
                <a:solidFill>
                  <a:schemeClr val="bg1"/>
                </a:solidFill>
                <a:latin typeface="Montserrat"/>
              </a:rPr>
              <a:t>Matches</a:t>
            </a:r>
            <a:endParaRPr lang="en-US" sz="1400" dirty="0">
              <a:solidFill>
                <a:schemeClr val="bg1"/>
              </a:solidFill>
              <a:latin typeface="Montserra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Match_Id</a:t>
            </a:r>
            <a:r>
              <a:rPr lang="en-US" sz="1400" dirty="0">
                <a:solidFill>
                  <a:schemeClr val="bg1"/>
                </a:solidFill>
                <a:latin typeface="Trade Gothic Next Light"/>
              </a:rPr>
              <a:t>: Unique identifier for each match.</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Match_Date</a:t>
            </a:r>
            <a:r>
              <a:rPr lang="en-US" sz="1400" dirty="0">
                <a:solidFill>
                  <a:schemeClr val="bg1"/>
                </a:solidFill>
                <a:latin typeface="Trade Gothic Next Light"/>
              </a:rPr>
              <a:t>: The date when the match took place.</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Match_Winner</a:t>
            </a:r>
            <a:r>
              <a:rPr lang="en-US" sz="1400" dirty="0">
                <a:solidFill>
                  <a:schemeClr val="bg1"/>
                </a:solidFill>
                <a:latin typeface="Trade Gothic Next Light"/>
              </a:rPr>
              <a:t>: The team that won the match.</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Outcome_Type</a:t>
            </a:r>
            <a:r>
              <a:rPr lang="en-US" sz="1400" dirty="0">
                <a:solidFill>
                  <a:schemeClr val="bg1"/>
                </a:solidFill>
                <a:latin typeface="Trade Gothic Next Light"/>
              </a:rPr>
              <a:t>: Type of result (win, tie, etc.).</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Toss_Winner</a:t>
            </a:r>
            <a:r>
              <a:rPr lang="en-US" sz="1400" dirty="0">
                <a:solidFill>
                  <a:schemeClr val="bg1"/>
                </a:solidFill>
                <a:latin typeface="Trade Gothic Next Light"/>
              </a:rPr>
              <a:t>: The team that won the toss.</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Win_Type</a:t>
            </a:r>
            <a:r>
              <a:rPr lang="en-US" sz="1400" dirty="0">
                <a:solidFill>
                  <a:schemeClr val="bg1"/>
                </a:solidFill>
                <a:latin typeface="Trade Gothic Next Light"/>
              </a:rPr>
              <a:t>: The method by which the match was won (e.g., runs or wickets).</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Win_Margin</a:t>
            </a:r>
            <a:r>
              <a:rPr lang="en-US" sz="1400" dirty="0">
                <a:solidFill>
                  <a:schemeClr val="bg1"/>
                </a:solidFill>
                <a:latin typeface="Trade Gothic Next Light"/>
              </a:rPr>
              <a:t>: The margin by which the match was won.</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Venue_Id</a:t>
            </a:r>
            <a:r>
              <a:rPr lang="en-US" sz="1400" b="1" spc="50" dirty="0">
                <a:ln w="0"/>
                <a:solidFill>
                  <a:schemeClr val="bg2"/>
                </a:solidFill>
                <a:effectLst>
                  <a:innerShdw blurRad="63500" dist="50800" dir="13500000">
                    <a:srgbClr val="000000">
                      <a:alpha val="50000"/>
                    </a:srgbClr>
                  </a:innerShdw>
                </a:effectLst>
                <a:latin typeface="Montserrat"/>
              </a:rPr>
              <a:t>:</a:t>
            </a:r>
            <a:r>
              <a:rPr lang="en-US" sz="1400" dirty="0">
                <a:solidFill>
                  <a:schemeClr val="bg1"/>
                </a:solidFill>
                <a:latin typeface="Trade Gothic Next Light"/>
              </a:rPr>
              <a:t> Reference to the venue where the match was played.</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a:ln w="0"/>
                <a:solidFill>
                  <a:schemeClr val="bg2"/>
                </a:solidFill>
                <a:effectLst>
                  <a:innerShdw blurRad="63500" dist="50800" dir="13500000">
                    <a:srgbClr val="000000">
                      <a:alpha val="50000"/>
                    </a:srgbClr>
                  </a:innerShdw>
                </a:effectLst>
                <a:latin typeface="Montserrat"/>
              </a:rPr>
              <a:t>Season_Id</a:t>
            </a:r>
            <a:r>
              <a:rPr lang="en-US" sz="1400" dirty="0">
                <a:solidFill>
                  <a:schemeClr val="bg1"/>
                </a:solidFill>
                <a:latin typeface="Trade Gothic Next Light"/>
              </a:rPr>
              <a:t>: The season in which the match occurred.</a:t>
            </a:r>
            <a:br>
              <a:rPr lang="en-US" sz="1400" dirty="0">
                <a:latin typeface="Trade Gothic Next Light"/>
              </a:rPr>
            </a:br>
            <a:br>
              <a:rPr lang="en-US" sz="1400" dirty="0">
                <a:latin typeface="Trade Gothic Next Light"/>
              </a:rPr>
            </a:br>
            <a:r>
              <a:rPr lang="en-US" sz="1400" b="1" dirty="0">
                <a:solidFill>
                  <a:schemeClr val="bg1"/>
                </a:solidFill>
                <a:latin typeface="Montserrat"/>
              </a:rPr>
              <a:t>Venue </a:t>
            </a: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Venue_Id</a:t>
            </a:r>
            <a:r>
              <a:rPr lang="en-US" sz="1400" dirty="0">
                <a:solidFill>
                  <a:schemeClr val="bg1"/>
                </a:solidFill>
                <a:latin typeface="Trade Gothic Next Light"/>
              </a:rPr>
              <a:t>: Unique identifier for each venue.</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Venue_Name</a:t>
            </a:r>
            <a:r>
              <a:rPr lang="en-US" sz="1400" dirty="0">
                <a:solidFill>
                  <a:schemeClr val="bg1"/>
                </a:solidFill>
                <a:latin typeface="Trade Gothic Next Light"/>
              </a:rPr>
              <a:t>: Name of the venue.</a:t>
            </a:r>
          </a:p>
          <a:p>
            <a:pPr marL="285750" indent="-285750">
              <a:lnSpc>
                <a:spcPct val="100000"/>
              </a:lnSpc>
              <a:spcBef>
                <a:spcPts val="0"/>
              </a:spcBef>
              <a:buFont typeface="Arial,Sans-Serif"/>
              <a:buChar char="•"/>
            </a:pPr>
            <a:endParaRPr lang="en-US" sz="1400" dirty="0">
              <a:solidFill>
                <a:schemeClr val="bg1"/>
              </a:solidFill>
              <a:latin typeface="Trade Gothic Next Light"/>
            </a:endParaRPr>
          </a:p>
          <a:p>
            <a:pPr marL="285750" indent="-285750">
              <a:lnSpc>
                <a:spcPct val="100000"/>
              </a:lnSpc>
              <a:spcBef>
                <a:spcPts val="0"/>
              </a:spcBef>
              <a:buFont typeface="Arial,Sans-Serif"/>
              <a:buChar char="•"/>
            </a:pPr>
            <a:r>
              <a:rPr lang="en-US" sz="1400" b="1" spc="50" dirty="0" err="1">
                <a:ln w="0"/>
                <a:solidFill>
                  <a:schemeClr val="bg2"/>
                </a:solidFill>
                <a:effectLst>
                  <a:innerShdw blurRad="63500" dist="50800" dir="13500000">
                    <a:srgbClr val="000000">
                      <a:alpha val="50000"/>
                    </a:srgbClr>
                  </a:innerShdw>
                </a:effectLst>
                <a:latin typeface="Montserrat"/>
              </a:rPr>
              <a:t>City_Id</a:t>
            </a:r>
            <a:r>
              <a:rPr lang="en-US" sz="1400" dirty="0">
                <a:solidFill>
                  <a:schemeClr val="bg1"/>
                </a:solidFill>
                <a:latin typeface="Trade Gothic Next Light"/>
              </a:rPr>
              <a:t>: Reference to the city where the venue is located.</a:t>
            </a:r>
          </a:p>
          <a:p>
            <a:pPr marL="457200" indent="0">
              <a:spcBef>
                <a:spcPts val="0"/>
              </a:spcBef>
              <a:buFont typeface="Arial" panose="020B0604020202020204" pitchFamily="34" charset="0"/>
              <a:buNone/>
            </a:pPr>
            <a:endParaRPr lang="en-US" sz="1400" b="1" dirty="0">
              <a:solidFill>
                <a:schemeClr val="bg1"/>
              </a:solidFill>
              <a:latin typeface="Montserrat" panose="00000500000000000000" pitchFamily="2" charset="0"/>
            </a:endParaRPr>
          </a:p>
          <a:p>
            <a:pPr marL="457200" indent="0">
              <a:spcBef>
                <a:spcPts val="1200"/>
              </a:spcBef>
              <a:spcAft>
                <a:spcPts val="1200"/>
              </a:spcAft>
              <a:buSzPts val="275"/>
              <a:buFont typeface="Arial" panose="020B0604020202020204" pitchFamily="34" charset="0"/>
              <a:buNone/>
            </a:pPr>
            <a:endParaRPr lang="en-US" sz="1400" dirty="0">
              <a:solidFill>
                <a:schemeClr val="bg1"/>
              </a:solidFill>
              <a:latin typeface="Montserrat" panose="00000500000000000000" pitchFamily="2" charset="0"/>
            </a:endParaRPr>
          </a:p>
        </p:txBody>
      </p:sp>
      <p:sp>
        <p:nvSpPr>
          <p:cNvPr id="9" name="Google Shape;80;p17">
            <a:extLst>
              <a:ext uri="{FF2B5EF4-FFF2-40B4-BE49-F238E27FC236}">
                <a16:creationId xmlns:a16="http://schemas.microsoft.com/office/drawing/2014/main" id="{BF8A2149-3D79-40C5-FADB-AA55082C6F28}"/>
              </a:ext>
            </a:extLst>
          </p:cNvPr>
          <p:cNvSpPr txBox="1">
            <a:spLocks/>
          </p:cNvSpPr>
          <p:nvPr/>
        </p:nvSpPr>
        <p:spPr>
          <a:xfrm>
            <a:off x="6292304" y="1047883"/>
            <a:ext cx="5152053" cy="566166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solidFill>
                  <a:schemeClr val="bg1"/>
                </a:solidFill>
                <a:latin typeface="Montserrat"/>
              </a:rPr>
              <a:t>Country</a:t>
            </a:r>
            <a:endParaRPr lang="en-US" sz="1400" dirty="0">
              <a:solidFill>
                <a:schemeClr val="bg1"/>
              </a:solidFill>
              <a:latin typeface="Montserrat"/>
            </a:endParaRPr>
          </a:p>
          <a:p>
            <a:pPr>
              <a:buFont typeface="Arial"/>
              <a:buChar char="•"/>
            </a:pPr>
            <a:r>
              <a:rPr lang="en-US" sz="1400" b="1" dirty="0" err="1">
                <a:solidFill>
                  <a:schemeClr val="bg2"/>
                </a:solidFill>
                <a:latin typeface="Montserrat"/>
              </a:rPr>
              <a:t>Country_Id</a:t>
            </a:r>
            <a:r>
              <a:rPr lang="en-US" sz="1400" b="1" dirty="0">
                <a:solidFill>
                  <a:schemeClr val="bg2"/>
                </a:solidFill>
                <a:latin typeface="Montserrat"/>
              </a:rPr>
              <a:t>:</a:t>
            </a:r>
            <a:r>
              <a:rPr lang="en-US" sz="1400" dirty="0">
                <a:solidFill>
                  <a:schemeClr val="bg1"/>
                </a:solidFill>
                <a:latin typeface="Trade Gothic Next Light"/>
              </a:rPr>
              <a:t> Unique identifier for each country.</a:t>
            </a:r>
          </a:p>
          <a:p>
            <a:pPr marL="0" indent="0">
              <a:buNone/>
            </a:pPr>
            <a:endParaRPr lang="en-US" sz="1400" dirty="0">
              <a:solidFill>
                <a:schemeClr val="bg1"/>
              </a:solidFill>
              <a:latin typeface="Trade Gothic Next Light"/>
            </a:endParaRPr>
          </a:p>
          <a:p>
            <a:pPr>
              <a:buFont typeface="Arial"/>
              <a:buChar char="•"/>
            </a:pPr>
            <a:r>
              <a:rPr lang="en-US" sz="1400" b="1" dirty="0" err="1">
                <a:solidFill>
                  <a:schemeClr val="bg2"/>
                </a:solidFill>
                <a:latin typeface="Montserrat"/>
              </a:rPr>
              <a:t>Country_Name</a:t>
            </a:r>
            <a:r>
              <a:rPr lang="en-US" sz="1400" b="1" dirty="0">
                <a:solidFill>
                  <a:schemeClr val="bg2"/>
                </a:solidFill>
                <a:latin typeface="Montserrat"/>
              </a:rPr>
              <a:t>: </a:t>
            </a:r>
            <a:r>
              <a:rPr lang="en-US" sz="1400" dirty="0">
                <a:solidFill>
                  <a:schemeClr val="bg1"/>
                </a:solidFill>
                <a:latin typeface="Trade Gothic Next Light"/>
              </a:rPr>
              <a:t>Name of the country.</a:t>
            </a:r>
            <a:br>
              <a:rPr lang="en-US" sz="1400" dirty="0">
                <a:latin typeface="Trade Gothic Next Light"/>
              </a:rPr>
            </a:br>
            <a:endParaRPr lang="en-US" sz="1400" dirty="0">
              <a:solidFill>
                <a:schemeClr val="bg1"/>
              </a:solidFill>
              <a:latin typeface="Trade Gothic Next Light"/>
            </a:endParaRPr>
          </a:p>
          <a:p>
            <a:pPr marL="0" indent="0">
              <a:buNone/>
            </a:pPr>
            <a:r>
              <a:rPr lang="en-US" sz="1400" b="1" dirty="0">
                <a:solidFill>
                  <a:schemeClr val="bg1"/>
                </a:solidFill>
                <a:latin typeface="Montserrat"/>
              </a:rPr>
              <a:t>Player Match</a:t>
            </a:r>
            <a:r>
              <a:rPr lang="en-US" sz="1400" b="1" dirty="0">
                <a:solidFill>
                  <a:schemeClr val="bg1"/>
                </a:solidFill>
                <a:latin typeface="Trade Gothic Next Light"/>
              </a:rPr>
              <a:t> </a:t>
            </a:r>
            <a:endParaRPr lang="en-US" sz="1400" dirty="0">
              <a:solidFill>
                <a:schemeClr val="bg1"/>
              </a:solidFill>
              <a:latin typeface="Trade Gothic Next Light"/>
            </a:endParaRPr>
          </a:p>
          <a:p>
            <a:pPr>
              <a:buFont typeface="Arial"/>
              <a:buChar char="•"/>
            </a:pPr>
            <a:r>
              <a:rPr lang="en-US" sz="1400" b="1" dirty="0" err="1">
                <a:solidFill>
                  <a:schemeClr val="bg2"/>
                </a:solidFill>
                <a:latin typeface="Montserrat"/>
              </a:rPr>
              <a:t>Match_Id</a:t>
            </a:r>
            <a:r>
              <a:rPr lang="en-US" sz="1400" b="1" dirty="0">
                <a:solidFill>
                  <a:schemeClr val="bg2"/>
                </a:solidFill>
                <a:latin typeface="Montserrat"/>
              </a:rPr>
              <a:t>: </a:t>
            </a:r>
            <a:r>
              <a:rPr lang="en-US" sz="1400" dirty="0">
                <a:solidFill>
                  <a:schemeClr val="bg1"/>
                </a:solidFill>
                <a:latin typeface="Trade Gothic Next Light"/>
              </a:rPr>
              <a:t>Reference to the match in which the player participated.</a:t>
            </a:r>
          </a:p>
          <a:p>
            <a:pPr>
              <a:buFont typeface="Arial"/>
              <a:buChar char="•"/>
            </a:pPr>
            <a:r>
              <a:rPr lang="en-US" sz="1400" b="1" dirty="0" err="1">
                <a:solidFill>
                  <a:schemeClr val="bg2"/>
                </a:solidFill>
                <a:latin typeface="Montserrat"/>
              </a:rPr>
              <a:t>Player_Id</a:t>
            </a:r>
            <a:r>
              <a:rPr lang="en-US" sz="1400" b="1" dirty="0">
                <a:solidFill>
                  <a:schemeClr val="bg2"/>
                </a:solidFill>
                <a:latin typeface="Montserrat"/>
              </a:rPr>
              <a:t>: </a:t>
            </a:r>
            <a:r>
              <a:rPr lang="en-US" sz="1400" dirty="0">
                <a:solidFill>
                  <a:schemeClr val="bg1"/>
                </a:solidFill>
                <a:latin typeface="Trade Gothic Next Light"/>
              </a:rPr>
              <a:t>Reference to the player.</a:t>
            </a:r>
          </a:p>
          <a:p>
            <a:pPr>
              <a:buFont typeface="Arial"/>
              <a:buChar char="•"/>
            </a:pPr>
            <a:r>
              <a:rPr lang="en-US" sz="1400" b="1" dirty="0" err="1">
                <a:solidFill>
                  <a:schemeClr val="bg2"/>
                </a:solidFill>
                <a:latin typeface="Montserrat"/>
              </a:rPr>
              <a:t>Role_Id</a:t>
            </a:r>
            <a:r>
              <a:rPr lang="en-US" sz="1400" b="1" dirty="0">
                <a:solidFill>
                  <a:schemeClr val="bg2"/>
                </a:solidFill>
                <a:latin typeface="Montserrat"/>
              </a:rPr>
              <a:t>: </a:t>
            </a:r>
            <a:r>
              <a:rPr lang="en-US" sz="1400" dirty="0">
                <a:solidFill>
                  <a:schemeClr val="bg1"/>
                </a:solidFill>
                <a:latin typeface="Trade Gothic Next Light"/>
              </a:rPr>
              <a:t>Role of the player (e.g., batsman, bowler).</a:t>
            </a:r>
          </a:p>
          <a:p>
            <a:pPr>
              <a:buFont typeface="Arial"/>
              <a:buChar char="•"/>
            </a:pPr>
            <a:r>
              <a:rPr lang="en-US" sz="1400" b="1" dirty="0" err="1">
                <a:solidFill>
                  <a:schemeClr val="bg2"/>
                </a:solidFill>
                <a:latin typeface="Montserrat"/>
              </a:rPr>
              <a:t>Team_Id</a:t>
            </a:r>
            <a:r>
              <a:rPr lang="en-US" sz="1400" b="1" dirty="0">
                <a:solidFill>
                  <a:schemeClr val="bg2"/>
                </a:solidFill>
                <a:latin typeface="Montserrat"/>
              </a:rPr>
              <a:t>:</a:t>
            </a:r>
            <a:r>
              <a:rPr lang="en-US" sz="1400" dirty="0">
                <a:solidFill>
                  <a:schemeClr val="bg1"/>
                </a:solidFill>
                <a:latin typeface="Trade Gothic Next Light"/>
              </a:rPr>
              <a:t> Team that the player represented in the match.</a:t>
            </a:r>
          </a:p>
          <a:p>
            <a:pPr>
              <a:buFont typeface="Arial"/>
              <a:buChar char="•"/>
            </a:pPr>
            <a:br>
              <a:rPr lang="en-US" sz="1400" dirty="0">
                <a:solidFill>
                  <a:schemeClr val="bg1"/>
                </a:solidFill>
                <a:latin typeface="Trade Gothic Next Light"/>
              </a:rPr>
            </a:br>
            <a:br>
              <a:rPr lang="en-US" sz="1400" dirty="0">
                <a:solidFill>
                  <a:schemeClr val="bg1"/>
                </a:solidFill>
                <a:latin typeface="Trade Gothic Next Light"/>
              </a:rPr>
            </a:br>
            <a:r>
              <a:rPr lang="en-US" sz="1400" b="1" dirty="0">
                <a:solidFill>
                  <a:schemeClr val="bg1"/>
                </a:solidFill>
                <a:latin typeface="Montserrat"/>
              </a:rPr>
              <a:t>Wickets Taken</a:t>
            </a:r>
            <a:r>
              <a:rPr lang="en-US" sz="1400" b="1" dirty="0">
                <a:solidFill>
                  <a:schemeClr val="bg1"/>
                </a:solidFill>
                <a:latin typeface="Trade Gothic Next Light"/>
              </a:rPr>
              <a:t> </a:t>
            </a:r>
            <a:endParaRPr lang="en-US" sz="1400" dirty="0">
              <a:solidFill>
                <a:schemeClr val="bg1"/>
              </a:solidFill>
              <a:latin typeface="Trade Gothic Next Light"/>
            </a:endParaRPr>
          </a:p>
          <a:p>
            <a:pPr>
              <a:buFont typeface="Arial"/>
              <a:buChar char="•"/>
            </a:pPr>
            <a:r>
              <a:rPr lang="en-US" sz="1400" b="1" dirty="0" err="1">
                <a:solidFill>
                  <a:schemeClr val="bg2"/>
                </a:solidFill>
                <a:latin typeface="Montserrat"/>
              </a:rPr>
              <a:t>Ball_Id</a:t>
            </a:r>
            <a:r>
              <a:rPr lang="en-US" sz="1400" dirty="0">
                <a:solidFill>
                  <a:schemeClr val="bg1"/>
                </a:solidFill>
                <a:latin typeface="Trade Gothic Next Light"/>
              </a:rPr>
              <a:t>: Reference to the specific ball during which the wicket was taken.</a:t>
            </a:r>
          </a:p>
          <a:p>
            <a:pPr>
              <a:buFont typeface="Arial"/>
              <a:buChar char="•"/>
            </a:pPr>
            <a:r>
              <a:rPr lang="en-US" sz="1400" b="1" dirty="0">
                <a:solidFill>
                  <a:schemeClr val="bg2"/>
                </a:solidFill>
                <a:latin typeface="Montserrat"/>
              </a:rPr>
              <a:t>Fielder: </a:t>
            </a:r>
            <a:r>
              <a:rPr lang="en-US" sz="1400" dirty="0">
                <a:solidFill>
                  <a:schemeClr val="bg1"/>
                </a:solidFill>
                <a:latin typeface="Trade Gothic Next Light"/>
              </a:rPr>
              <a:t>Reference to the player who fielded the ball.</a:t>
            </a:r>
          </a:p>
          <a:p>
            <a:pPr>
              <a:buFont typeface="Arial"/>
              <a:buChar char="•"/>
            </a:pPr>
            <a:r>
              <a:rPr lang="en-US" sz="1400" b="1" dirty="0">
                <a:solidFill>
                  <a:schemeClr val="bg2"/>
                </a:solidFill>
                <a:latin typeface="Montserrat"/>
              </a:rPr>
              <a:t>Bowler:</a:t>
            </a:r>
            <a:r>
              <a:rPr lang="en-US" sz="1400" dirty="0">
                <a:solidFill>
                  <a:schemeClr val="bg1"/>
                </a:solidFill>
                <a:latin typeface="Trade Gothic Next Light"/>
              </a:rPr>
              <a:t> Reference to the bowler who took the wicket.</a:t>
            </a:r>
          </a:p>
          <a:p>
            <a:pPr>
              <a:buFont typeface="Arial"/>
              <a:buChar char="•"/>
            </a:pPr>
            <a:r>
              <a:rPr lang="en-US" sz="1400" b="1" dirty="0" err="1">
                <a:solidFill>
                  <a:schemeClr val="bg2"/>
                </a:solidFill>
                <a:latin typeface="Montserrat"/>
              </a:rPr>
              <a:t>Player_Out</a:t>
            </a:r>
            <a:r>
              <a:rPr lang="en-US" sz="1400" b="1" dirty="0">
                <a:solidFill>
                  <a:schemeClr val="bg2"/>
                </a:solidFill>
                <a:latin typeface="Montserrat"/>
              </a:rPr>
              <a:t>:</a:t>
            </a:r>
            <a:r>
              <a:rPr lang="en-US" sz="1400" dirty="0">
                <a:solidFill>
                  <a:schemeClr val="bg1"/>
                </a:solidFill>
                <a:latin typeface="Trade Gothic Next Light"/>
              </a:rPr>
              <a:t> Reference to the player who was dismissed.</a:t>
            </a:r>
          </a:p>
          <a:p>
            <a:pPr marL="0" indent="0">
              <a:buNone/>
            </a:pPr>
            <a:br>
              <a:rPr lang="en-US" sz="1400" dirty="0">
                <a:solidFill>
                  <a:schemeClr val="bg1"/>
                </a:solidFill>
                <a:latin typeface="Calibri"/>
                <a:ea typeface="Calibri"/>
                <a:cs typeface="Calibri"/>
              </a:rPr>
            </a:br>
            <a:endParaRPr lang="en-US" sz="1400" dirty="0">
              <a:solidFill>
                <a:schemeClr val="bg1"/>
              </a:solidFill>
              <a:latin typeface="Montserrat"/>
            </a:endParaRPr>
          </a:p>
          <a:p>
            <a:pPr marL="457200" indent="0" algn="ctr">
              <a:lnSpc>
                <a:spcPct val="100000"/>
              </a:lnSpc>
              <a:spcBef>
                <a:spcPts val="0"/>
              </a:spcBef>
              <a:spcAft>
                <a:spcPts val="1200"/>
              </a:spcAft>
              <a:buNone/>
            </a:pPr>
            <a:endParaRPr lang="en-US" sz="1400" b="1" dirty="0">
              <a:solidFill>
                <a:schemeClr val="bg1"/>
              </a:solidFill>
              <a:latin typeface="Trade Gothic Next Light"/>
            </a:endParaRPr>
          </a:p>
        </p:txBody>
      </p:sp>
    </p:spTree>
    <p:extLst>
      <p:ext uri="{BB962C8B-B14F-4D97-AF65-F5344CB8AC3E}">
        <p14:creationId xmlns:p14="http://schemas.microsoft.com/office/powerpoint/2010/main" val="2622039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23090D9E-089E-24F5-5432-C03B5C50027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688F0F7-3CB6-D4EB-B5C9-1D4EAC746CA3}"/>
              </a:ext>
            </a:extLst>
          </p:cNvPr>
          <p:cNvSpPr txBox="1"/>
          <p:nvPr/>
        </p:nvSpPr>
        <p:spPr>
          <a:xfrm>
            <a:off x="0" y="0"/>
            <a:ext cx="12192000" cy="584775"/>
          </a:xfrm>
          <a:prstGeom prst="rect">
            <a:avLst/>
          </a:prstGeom>
          <a:noFill/>
        </p:spPr>
        <p:txBody>
          <a:bodyPr wrap="square">
            <a:spAutoFit/>
          </a:bodyPr>
          <a:lstStyle/>
          <a:p>
            <a:pPr algn="ctr"/>
            <a:r>
              <a:rPr lang="en-US" sz="3200" b="1" i="0" dirty="0">
                <a:solidFill>
                  <a:schemeClr val="accent2"/>
                </a:solidFill>
                <a:effectLst/>
                <a:latin typeface="Montserrat" panose="00000500000000000000" pitchFamily="2" charset="0"/>
              </a:rPr>
              <a:t>Data Description</a:t>
            </a:r>
            <a:endParaRPr lang="en-IN" sz="32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3EA34166-05AE-6721-1E24-E7D54DCB34E1}"/>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632803" y="0"/>
            <a:ext cx="2559196" cy="145557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EBA508A6-3039-8E03-AD53-C4019CEFD28F}"/>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Google Shape;92;p19">
            <a:extLst>
              <a:ext uri="{FF2B5EF4-FFF2-40B4-BE49-F238E27FC236}">
                <a16:creationId xmlns:a16="http://schemas.microsoft.com/office/drawing/2014/main" id="{40C5BDDC-2C61-797B-4116-1232DB538BD6}"/>
              </a:ext>
            </a:extLst>
          </p:cNvPr>
          <p:cNvSpPr txBox="1">
            <a:spLocks/>
          </p:cNvSpPr>
          <p:nvPr/>
        </p:nvSpPr>
        <p:spPr>
          <a:xfrm>
            <a:off x="0" y="946809"/>
            <a:ext cx="5374433" cy="576273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2000" b="1" dirty="0">
                <a:solidFill>
                  <a:schemeClr val="bg1"/>
                </a:solidFill>
                <a:latin typeface="Montserrat" panose="00000500000000000000" pitchFamily="2" charset="0"/>
              </a:rPr>
              <a:t>Extra Type</a:t>
            </a:r>
          </a:p>
          <a:p>
            <a:pPr marL="457200" indent="-300037">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Extra_Type_Id</a:t>
            </a:r>
            <a:r>
              <a:rPr lang="en-US" sz="1600" dirty="0">
                <a:solidFill>
                  <a:schemeClr val="bg1"/>
                </a:solidFill>
                <a:latin typeface="Montserrat" panose="00000500000000000000" pitchFamily="2" charset="0"/>
              </a:rPr>
              <a:t>: Unique identifier for the type of extra runs scored in a cricket match.</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Extra_Runs</a:t>
            </a:r>
            <a:r>
              <a:rPr lang="en-US" sz="1600" dirty="0">
                <a:solidFill>
                  <a:schemeClr val="bg1"/>
                </a:solidFill>
                <a:latin typeface="Montserrat" panose="00000500000000000000" pitchFamily="2" charset="0"/>
              </a:rPr>
              <a:t>: The number of extra runs scored in a particular delivery.</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Innings_No</a:t>
            </a:r>
            <a:r>
              <a:rPr lang="en-US" sz="1600" dirty="0">
                <a:solidFill>
                  <a:schemeClr val="bg1"/>
                </a:solidFill>
                <a:latin typeface="Montserrat" panose="00000500000000000000" pitchFamily="2" charset="0"/>
              </a:rPr>
              <a:t>: The innings number in a cricket match.</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Extra_Id</a:t>
            </a:r>
            <a:r>
              <a:rPr lang="en-US" sz="1600" b="1" spc="50" dirty="0">
                <a:ln w="0"/>
                <a:solidFill>
                  <a:schemeClr val="bg2"/>
                </a:solidFill>
                <a:effectLst>
                  <a:innerShdw blurRad="63500" dist="50800" dir="13500000">
                    <a:srgbClr val="000000">
                      <a:alpha val="50000"/>
                    </a:srgbClr>
                  </a:innerShdw>
                </a:effectLst>
                <a:latin typeface="Montserrat" panose="00000500000000000000" pitchFamily="2" charset="0"/>
              </a:rPr>
              <a:t>:</a:t>
            </a:r>
            <a:r>
              <a:rPr lang="en-US" sz="1600" dirty="0">
                <a:solidFill>
                  <a:schemeClr val="bg1"/>
                </a:solidFill>
                <a:latin typeface="Montserrat" panose="00000500000000000000" pitchFamily="2" charset="0"/>
              </a:rPr>
              <a:t> Unique identifier for an instance of extra runs scored.</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Extra_Name</a:t>
            </a:r>
            <a:r>
              <a:rPr lang="en-US" sz="1600" dirty="0">
                <a:solidFill>
                  <a:schemeClr val="bg1"/>
                </a:solidFill>
                <a:latin typeface="Montserrat" panose="00000500000000000000" pitchFamily="2" charset="0"/>
              </a:rPr>
              <a:t>: The name or description of the type of extra runs scored (e.g., byes, leg byes, </a:t>
            </a:r>
            <a:r>
              <a:rPr lang="en-US" sz="1600" dirty="0" err="1">
                <a:solidFill>
                  <a:schemeClr val="bg1"/>
                </a:solidFill>
                <a:latin typeface="Montserrat" panose="00000500000000000000" pitchFamily="2" charset="0"/>
              </a:rPr>
              <a:t>wides</a:t>
            </a:r>
            <a:r>
              <a:rPr lang="en-US" sz="1600" dirty="0">
                <a:solidFill>
                  <a:schemeClr val="bg1"/>
                </a:solidFill>
                <a:latin typeface="Montserrat" panose="00000500000000000000" pitchFamily="2" charset="0"/>
              </a:rPr>
              <a:t>, no-balls).</a:t>
            </a:r>
          </a:p>
          <a:p>
            <a:pPr marL="457200" indent="-300037">
              <a:spcBef>
                <a:spcPts val="0"/>
              </a:spcBef>
              <a:buClr>
                <a:schemeClr val="dk1"/>
              </a:buClr>
              <a:buSzPct val="100000"/>
              <a:buFont typeface="Arial" panose="020B0604020202020204" pitchFamily="34" charset="0"/>
              <a:buChar char="●"/>
            </a:pPr>
            <a:endParaRPr lang="en-US" sz="1600" dirty="0">
              <a:solidFill>
                <a:schemeClr val="bg1"/>
              </a:solidFill>
              <a:latin typeface="Montserrat" panose="00000500000000000000" pitchFamily="2" charset="0"/>
            </a:endParaRPr>
          </a:p>
          <a:p>
            <a:pPr marL="0" indent="0">
              <a:spcBef>
                <a:spcPts val="1200"/>
              </a:spcBef>
              <a:buFont typeface="Arial" panose="020B0604020202020204" pitchFamily="34" charset="0"/>
              <a:buNone/>
            </a:pPr>
            <a:r>
              <a:rPr lang="en-US" sz="1600" dirty="0">
                <a:solidFill>
                  <a:schemeClr val="bg1"/>
                </a:solidFill>
                <a:latin typeface="Montserrat" panose="00000500000000000000" pitchFamily="2" charset="0"/>
              </a:rPr>
              <a:t>	</a:t>
            </a:r>
            <a:r>
              <a:rPr lang="en-US" sz="2000" b="1" dirty="0">
                <a:solidFill>
                  <a:schemeClr val="bg1"/>
                </a:solidFill>
                <a:latin typeface="Montserrat" panose="00000500000000000000" pitchFamily="2" charset="0"/>
              </a:rPr>
              <a:t>Season</a:t>
            </a:r>
            <a:endParaRPr lang="en-US" sz="1600" b="1" dirty="0">
              <a:solidFill>
                <a:schemeClr val="bg1"/>
              </a:solidFill>
              <a:latin typeface="Montserrat" panose="00000500000000000000" pitchFamily="2" charset="0"/>
            </a:endParaRPr>
          </a:p>
          <a:p>
            <a:pPr marL="457200" indent="-300037">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Season_Id</a:t>
            </a:r>
            <a:r>
              <a:rPr lang="en-US" sz="1600" dirty="0">
                <a:solidFill>
                  <a:schemeClr val="bg1"/>
                </a:solidFill>
                <a:latin typeface="Montserrat" panose="00000500000000000000" pitchFamily="2" charset="0"/>
              </a:rPr>
              <a:t>: Unique identifier for a particular season or tournament.</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Venue_Id</a:t>
            </a:r>
            <a:r>
              <a:rPr lang="en-US" sz="1600" dirty="0">
                <a:solidFill>
                  <a:schemeClr val="bg1"/>
                </a:solidFill>
                <a:latin typeface="Montserrat" panose="00000500000000000000" pitchFamily="2" charset="0"/>
              </a:rPr>
              <a:t>: Unique identifier for the venue or stadium where the match is played.</a:t>
            </a:r>
          </a:p>
        </p:txBody>
      </p:sp>
      <p:sp>
        <p:nvSpPr>
          <p:cNvPr id="4" name="Google Shape;93;p19">
            <a:extLst>
              <a:ext uri="{FF2B5EF4-FFF2-40B4-BE49-F238E27FC236}">
                <a16:creationId xmlns:a16="http://schemas.microsoft.com/office/drawing/2014/main" id="{0246E3C6-45D0-2B63-0F09-4E620765BAF6}"/>
              </a:ext>
            </a:extLst>
          </p:cNvPr>
          <p:cNvSpPr txBox="1">
            <a:spLocks/>
          </p:cNvSpPr>
          <p:nvPr/>
        </p:nvSpPr>
        <p:spPr>
          <a:xfrm>
            <a:off x="5784980" y="941896"/>
            <a:ext cx="6085114" cy="638277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Font typeface="Arial" panose="020B0604020202020204" pitchFamily="34" charset="0"/>
              <a:buNone/>
            </a:pPr>
            <a:r>
              <a:rPr lang="en-US" sz="1600" dirty="0">
                <a:solidFill>
                  <a:schemeClr val="bg1"/>
                </a:solidFill>
              </a:rPr>
              <a:t>	</a:t>
            </a:r>
            <a:r>
              <a:rPr lang="en-US" sz="2000" b="1" dirty="0" err="1">
                <a:solidFill>
                  <a:schemeClr val="bg1"/>
                </a:solidFill>
                <a:latin typeface="Montserrat" panose="00000500000000000000" pitchFamily="2" charset="0"/>
              </a:rPr>
              <a:t>Win_By</a:t>
            </a:r>
            <a:endParaRPr lang="en-US" sz="1600" b="1" dirty="0">
              <a:solidFill>
                <a:schemeClr val="bg1"/>
              </a:solidFill>
              <a:latin typeface="Montserrat" panose="00000500000000000000" pitchFamily="2" charset="0"/>
            </a:endParaRP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Win_Type</a:t>
            </a:r>
            <a:r>
              <a:rPr lang="en-US" sz="1600" dirty="0">
                <a:solidFill>
                  <a:schemeClr val="bg1"/>
                </a:solidFill>
                <a:latin typeface="Montserrat" panose="00000500000000000000" pitchFamily="2" charset="0"/>
              </a:rPr>
              <a:t>: The type of win (e.g., runs, wickets) achieved by the winning team.</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Win_Margin</a:t>
            </a:r>
            <a:r>
              <a:rPr lang="en-US" sz="1600" dirty="0">
                <a:solidFill>
                  <a:schemeClr val="bg1"/>
                </a:solidFill>
                <a:latin typeface="Montserrat" panose="00000500000000000000" pitchFamily="2" charset="0"/>
              </a:rPr>
              <a:t>: The margin of victory (e.g., runs or wickets) for the winning team</a:t>
            </a:r>
            <a:r>
              <a:rPr lang="en-US" sz="1600" b="1" dirty="0">
                <a:solidFill>
                  <a:schemeClr val="bg1"/>
                </a:solidFill>
                <a:latin typeface="Montserrat" panose="00000500000000000000" pitchFamily="2" charset="0"/>
              </a:rPr>
              <a:t>.</a:t>
            </a:r>
          </a:p>
          <a:p>
            <a:pPr marL="457200" indent="-287972">
              <a:lnSpc>
                <a:spcPct val="95000"/>
              </a:lnSpc>
              <a:spcBef>
                <a:spcPts val="0"/>
              </a:spcBef>
              <a:buClr>
                <a:schemeClr val="dk1"/>
              </a:buClr>
              <a:buSzPct val="100000"/>
              <a:buFont typeface="Arial" panose="020B0604020202020204" pitchFamily="34" charset="0"/>
              <a:buChar char="●"/>
            </a:pPr>
            <a:endParaRPr lang="en-US" sz="1600" b="1" dirty="0">
              <a:solidFill>
                <a:schemeClr val="bg1"/>
              </a:solidFill>
              <a:latin typeface="Montserrat" panose="00000500000000000000" pitchFamily="2" charset="0"/>
            </a:endParaRPr>
          </a:p>
          <a:p>
            <a:pPr marL="0" indent="0">
              <a:lnSpc>
                <a:spcPct val="95000"/>
              </a:lnSpc>
              <a:spcBef>
                <a:spcPts val="1200"/>
              </a:spcBef>
              <a:buFont typeface="Arial" panose="020B0604020202020204" pitchFamily="34" charset="0"/>
              <a:buNone/>
            </a:pPr>
            <a:r>
              <a:rPr lang="en-US" sz="1600" dirty="0">
                <a:solidFill>
                  <a:schemeClr val="bg1"/>
                </a:solidFill>
                <a:latin typeface="Montserrat" panose="00000500000000000000" pitchFamily="2" charset="0"/>
              </a:rPr>
              <a:t>	</a:t>
            </a:r>
            <a:r>
              <a:rPr lang="en-US" sz="2000" b="1" dirty="0">
                <a:solidFill>
                  <a:schemeClr val="bg1"/>
                </a:solidFill>
                <a:latin typeface="Montserrat" panose="00000500000000000000" pitchFamily="2" charset="0"/>
              </a:rPr>
              <a:t>Outcome</a:t>
            </a: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Outcome_type</a:t>
            </a:r>
            <a:r>
              <a:rPr lang="en-US" sz="1600" dirty="0">
                <a:solidFill>
                  <a:schemeClr val="bg1"/>
                </a:solidFill>
                <a:latin typeface="Montserrat" panose="00000500000000000000" pitchFamily="2" charset="0"/>
              </a:rPr>
              <a:t>: The type of outcome or result of the match (e.g., win, loss, tie, no result).</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Match_Winner</a:t>
            </a:r>
            <a:r>
              <a:rPr lang="en-US" sz="1600" dirty="0">
                <a:solidFill>
                  <a:schemeClr val="bg1"/>
                </a:solidFill>
                <a:latin typeface="Montserrat" panose="00000500000000000000" pitchFamily="2" charset="0"/>
              </a:rPr>
              <a:t>: The team that won the match.</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Man_of_the_Match</a:t>
            </a:r>
            <a:r>
              <a:rPr lang="en-US" sz="1600" dirty="0">
                <a:solidFill>
                  <a:schemeClr val="bg1"/>
                </a:solidFill>
                <a:latin typeface="Montserrat" panose="00000500000000000000" pitchFamily="2" charset="0"/>
              </a:rPr>
              <a:t>: The player awarded the Man of the Match award.</a:t>
            </a:r>
          </a:p>
          <a:p>
            <a:pPr marL="0" indent="0">
              <a:lnSpc>
                <a:spcPct val="95000"/>
              </a:lnSpc>
              <a:spcBef>
                <a:spcPts val="1200"/>
              </a:spcBef>
              <a:buFont typeface="Arial" panose="020B0604020202020204" pitchFamily="34" charset="0"/>
              <a:buNone/>
            </a:pPr>
            <a:r>
              <a:rPr lang="en-US" sz="1600" dirty="0">
                <a:solidFill>
                  <a:schemeClr val="bg1"/>
                </a:solidFill>
                <a:latin typeface="Montserrat" panose="00000500000000000000" pitchFamily="2" charset="0"/>
              </a:rPr>
              <a:t>	</a:t>
            </a:r>
            <a:r>
              <a:rPr lang="en-US" sz="2000" b="1" dirty="0" err="1">
                <a:solidFill>
                  <a:schemeClr val="bg1"/>
                </a:solidFill>
                <a:latin typeface="Montserrat" panose="00000500000000000000" pitchFamily="2" charset="0"/>
              </a:rPr>
              <a:t>Out_Type</a:t>
            </a:r>
            <a:endParaRPr lang="en-US" sz="1600" b="1" dirty="0">
              <a:solidFill>
                <a:schemeClr val="bg1"/>
              </a:solidFill>
              <a:latin typeface="Montserrat" panose="00000500000000000000" pitchFamily="2" charset="0"/>
            </a:endParaRP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Out_Id</a:t>
            </a:r>
            <a:r>
              <a:rPr lang="en-US" sz="1600" dirty="0">
                <a:solidFill>
                  <a:schemeClr val="bg1"/>
                </a:solidFill>
                <a:latin typeface="Montserrat" panose="00000500000000000000" pitchFamily="2" charset="0"/>
              </a:rPr>
              <a:t>: Unique identifier for the type of dismissal or way a batsman got out.</a:t>
            </a:r>
          </a:p>
          <a:p>
            <a:pPr marL="457200" indent="-287972">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Out_Name</a:t>
            </a:r>
            <a:r>
              <a:rPr lang="en-US" sz="1600" dirty="0">
                <a:solidFill>
                  <a:schemeClr val="bg1"/>
                </a:solidFill>
                <a:latin typeface="Montserrat" panose="00000500000000000000" pitchFamily="2" charset="0"/>
              </a:rPr>
              <a:t>: The name or description of the type of dismissal (e.g., caught, bowled, </a:t>
            </a:r>
            <a:r>
              <a:rPr lang="en-US" sz="1600" dirty="0" err="1">
                <a:solidFill>
                  <a:schemeClr val="bg1"/>
                </a:solidFill>
                <a:latin typeface="Montserrat" panose="00000500000000000000" pitchFamily="2" charset="0"/>
              </a:rPr>
              <a:t>lbw</a:t>
            </a:r>
            <a:r>
              <a:rPr lang="en-US" sz="1600" dirty="0">
                <a:solidFill>
                  <a:schemeClr val="bg1"/>
                </a:solidFill>
                <a:latin typeface="Montserrat" panose="00000500000000000000" pitchFamily="2" charset="0"/>
              </a:rPr>
              <a:t>, run out).</a:t>
            </a:r>
          </a:p>
          <a:p>
            <a:pPr marL="457200" indent="-287972">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Outcome_Id</a:t>
            </a:r>
            <a:r>
              <a:rPr lang="en-US" sz="1600" dirty="0">
                <a:solidFill>
                  <a:schemeClr val="bg1"/>
                </a:solidFill>
                <a:latin typeface="Montserrat" panose="00000500000000000000" pitchFamily="2" charset="0"/>
              </a:rPr>
              <a:t>: Unique identifier for the outcome or result of a match.</a:t>
            </a:r>
          </a:p>
          <a:p>
            <a:pPr marL="0" indent="0">
              <a:spcBef>
                <a:spcPts val="1200"/>
              </a:spcBef>
              <a:spcAft>
                <a:spcPts val="1200"/>
              </a:spcAft>
              <a:buFont typeface="Arial" panose="020B0604020202020204" pitchFamily="34" charset="0"/>
              <a:buNone/>
            </a:pPr>
            <a:r>
              <a:rPr lang="en-US" sz="1600" dirty="0">
                <a:solidFill>
                  <a:schemeClr val="bg1"/>
                </a:solidFill>
              </a:rPr>
              <a:t>	</a:t>
            </a:r>
          </a:p>
        </p:txBody>
      </p:sp>
    </p:spTree>
    <p:extLst>
      <p:ext uri="{BB962C8B-B14F-4D97-AF65-F5344CB8AC3E}">
        <p14:creationId xmlns:p14="http://schemas.microsoft.com/office/powerpoint/2010/main" val="1902645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0B5FC835-EFE2-874D-15C2-29FEA1D1651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1DA9ADE-2BC9-C6FE-F183-467911E215D8}"/>
              </a:ext>
            </a:extLst>
          </p:cNvPr>
          <p:cNvSpPr txBox="1"/>
          <p:nvPr/>
        </p:nvSpPr>
        <p:spPr>
          <a:xfrm>
            <a:off x="0" y="0"/>
            <a:ext cx="12192000" cy="584775"/>
          </a:xfrm>
          <a:prstGeom prst="rect">
            <a:avLst/>
          </a:prstGeom>
          <a:noFill/>
        </p:spPr>
        <p:txBody>
          <a:bodyPr wrap="square">
            <a:spAutoFit/>
          </a:bodyPr>
          <a:lstStyle/>
          <a:p>
            <a:pPr algn="ctr"/>
            <a:r>
              <a:rPr lang="en-US" sz="3200" b="1" i="0" dirty="0">
                <a:solidFill>
                  <a:schemeClr val="accent2"/>
                </a:solidFill>
                <a:effectLst/>
                <a:latin typeface="Montserrat" panose="00000500000000000000" pitchFamily="2" charset="0"/>
              </a:rPr>
              <a:t>Data Description</a:t>
            </a:r>
            <a:endParaRPr lang="en-IN" sz="32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ACCBAE1D-9180-8067-2266-1DB6E6CD1CB9}"/>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632803" y="0"/>
            <a:ext cx="2559196" cy="145557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70D6233-F68B-7AB3-491D-120EBBB4C224}"/>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Google Shape;99;p20">
            <a:extLst>
              <a:ext uri="{FF2B5EF4-FFF2-40B4-BE49-F238E27FC236}">
                <a16:creationId xmlns:a16="http://schemas.microsoft.com/office/drawing/2014/main" id="{BE2943DE-D410-D50B-FE53-4354AFFE73B9}"/>
              </a:ext>
            </a:extLst>
          </p:cNvPr>
          <p:cNvSpPr txBox="1">
            <a:spLocks/>
          </p:cNvSpPr>
          <p:nvPr/>
        </p:nvSpPr>
        <p:spPr>
          <a:xfrm>
            <a:off x="231912" y="912178"/>
            <a:ext cx="5183451" cy="579053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0"/>
              </a:spcBef>
              <a:buFont typeface="Arial" panose="020B0604020202020204" pitchFamily="34" charset="0"/>
              <a:buNone/>
            </a:pPr>
            <a:r>
              <a:rPr lang="en-US" sz="2000" b="1" dirty="0">
                <a:solidFill>
                  <a:schemeClr val="bg1"/>
                </a:solidFill>
                <a:latin typeface="Montserrat" panose="00000500000000000000" pitchFamily="2" charset="0"/>
              </a:rPr>
              <a:t>Role</a:t>
            </a:r>
          </a:p>
          <a:p>
            <a:pPr marL="457200" indent="-299720">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Role_Id</a:t>
            </a:r>
            <a:r>
              <a:rPr lang="en-US" sz="1600" dirty="0">
                <a:solidFill>
                  <a:schemeClr val="bg1"/>
                </a:solidFill>
                <a:latin typeface="Montserrat" panose="00000500000000000000" pitchFamily="2" charset="0"/>
              </a:rPr>
              <a:t>: Unique identifier for a player's role or skills (e.g., batsman, bowler, all-rounder).</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Role_Desc</a:t>
            </a:r>
            <a:r>
              <a:rPr lang="en-US" sz="1600" dirty="0">
                <a:solidFill>
                  <a:schemeClr val="bg1"/>
                </a:solidFill>
                <a:latin typeface="Montserrat" panose="00000500000000000000" pitchFamily="2" charset="0"/>
              </a:rPr>
              <a:t>: Description of a player's role or skills.</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Man_of_the_Series</a:t>
            </a:r>
            <a:r>
              <a:rPr lang="en-US" sz="1600" dirty="0">
                <a:solidFill>
                  <a:schemeClr val="bg1"/>
                </a:solidFill>
                <a:latin typeface="Montserrat" panose="00000500000000000000" pitchFamily="2" charset="0"/>
              </a:rPr>
              <a:t>: The player awarded the Man of the Series award for a particular tournament.</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Orange_cap</a:t>
            </a:r>
            <a:r>
              <a:rPr lang="en-US" sz="1600" dirty="0">
                <a:solidFill>
                  <a:schemeClr val="bg1"/>
                </a:solidFill>
                <a:latin typeface="Montserrat" panose="00000500000000000000" pitchFamily="2" charset="0"/>
              </a:rPr>
              <a:t>: The player awarded the Orange Cap (for most runs scored) in a particular tournament.</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Purple_cap</a:t>
            </a:r>
            <a:r>
              <a:rPr lang="en-US" sz="1600" dirty="0">
                <a:solidFill>
                  <a:schemeClr val="bg1"/>
                </a:solidFill>
                <a:latin typeface="Montserrat" panose="00000500000000000000" pitchFamily="2" charset="0"/>
              </a:rPr>
              <a:t>: The player awarded the Purple Cap (for most wickets taken) in a particular tournament.</a:t>
            </a:r>
          </a:p>
          <a:p>
            <a:pPr>
              <a:spcBef>
                <a:spcPts val="1400"/>
              </a:spcBef>
              <a:buFont typeface="Arial"/>
              <a:buChar char="•"/>
            </a:pPr>
            <a:r>
              <a:rPr lang="en-US" sz="2000" b="1" dirty="0">
                <a:solidFill>
                  <a:schemeClr val="bg1"/>
                </a:solidFill>
                <a:latin typeface="Montserrat"/>
              </a:rPr>
              <a:t>Extra Runs </a:t>
            </a:r>
            <a:endParaRPr lang="en-US" sz="2000" dirty="0">
              <a:solidFill>
                <a:schemeClr val="bg1"/>
              </a:solidFill>
              <a:latin typeface="Montserrat"/>
            </a:endParaRPr>
          </a:p>
          <a:p>
            <a:pPr marL="457200" indent="-298450">
              <a:spcBef>
                <a:spcPts val="900"/>
              </a:spcBef>
              <a:buFont typeface="Arial,Sans-Serif"/>
              <a:buChar char="●"/>
            </a:pPr>
            <a:r>
              <a:rPr lang="en-US" sz="1600" b="1" dirty="0" err="1">
                <a:solidFill>
                  <a:schemeClr val="bg2"/>
                </a:solidFill>
                <a:latin typeface="Montserrat"/>
              </a:rPr>
              <a:t>Ball_Id</a:t>
            </a:r>
            <a:r>
              <a:rPr lang="en-US" sz="1600" dirty="0">
                <a:solidFill>
                  <a:schemeClr val="bg1"/>
                </a:solidFill>
                <a:latin typeface="Montserrat"/>
              </a:rPr>
              <a:t>: Reference to the specific ball during which extra runs were conceded.</a:t>
            </a:r>
          </a:p>
          <a:p>
            <a:pPr marL="457200" indent="-298450">
              <a:spcBef>
                <a:spcPts val="0"/>
              </a:spcBef>
              <a:buFont typeface="Arial,Sans-Serif"/>
              <a:buChar char="●"/>
            </a:pPr>
            <a:r>
              <a:rPr lang="en-US" sz="1600" b="1" dirty="0" err="1">
                <a:solidFill>
                  <a:schemeClr val="bg2"/>
                </a:solidFill>
                <a:latin typeface="Montserrat"/>
              </a:rPr>
              <a:t>Extra_Type_Id</a:t>
            </a:r>
            <a:r>
              <a:rPr lang="en-US" sz="1600" dirty="0">
                <a:solidFill>
                  <a:schemeClr val="bg1"/>
                </a:solidFill>
                <a:latin typeface="Montserrat"/>
              </a:rPr>
              <a:t>: Type of extra run (e.g., </a:t>
            </a:r>
            <a:r>
              <a:rPr lang="en-US" sz="1600" dirty="0" err="1">
                <a:solidFill>
                  <a:schemeClr val="bg1"/>
                </a:solidFill>
                <a:latin typeface="Montserrat"/>
              </a:rPr>
              <a:t>wide,no</a:t>
            </a:r>
            <a:r>
              <a:rPr lang="en-US" sz="1600" dirty="0">
                <a:solidFill>
                  <a:schemeClr val="bg1"/>
                </a:solidFill>
                <a:latin typeface="Montserrat"/>
              </a:rPr>
              <a:t>-ball).</a:t>
            </a:r>
          </a:p>
          <a:p>
            <a:pPr marL="457200" indent="-298450">
              <a:spcBef>
                <a:spcPts val="0"/>
              </a:spcBef>
              <a:buFont typeface="Arial,Sans-Serif"/>
              <a:buChar char="●"/>
            </a:pPr>
            <a:r>
              <a:rPr lang="en-US" sz="1600" b="1" dirty="0" err="1">
                <a:solidFill>
                  <a:schemeClr val="bg2"/>
                </a:solidFill>
                <a:latin typeface="Montserrat"/>
              </a:rPr>
              <a:t>Innings_No</a:t>
            </a:r>
            <a:r>
              <a:rPr lang="en-US" sz="1600" dirty="0">
                <a:solidFill>
                  <a:schemeClr val="bg1"/>
                </a:solidFill>
                <a:latin typeface="Montserrat"/>
              </a:rPr>
              <a:t>: The innings number during which the extra run occurred.</a:t>
            </a:r>
          </a:p>
          <a:p>
            <a:pPr marL="457200" indent="-298450">
              <a:spcBef>
                <a:spcPts val="0"/>
              </a:spcBef>
              <a:buFont typeface="Arial,Sans-Serif"/>
              <a:buChar char="●"/>
            </a:pPr>
            <a:r>
              <a:rPr lang="en-US" sz="1600" b="1" dirty="0" err="1">
                <a:solidFill>
                  <a:schemeClr val="bg2"/>
                </a:solidFill>
                <a:latin typeface="Montserrat"/>
              </a:rPr>
              <a:t>Match_Id</a:t>
            </a:r>
            <a:r>
              <a:rPr lang="en-US" sz="1600" dirty="0">
                <a:solidFill>
                  <a:schemeClr val="bg1"/>
                </a:solidFill>
                <a:latin typeface="Montserrat"/>
              </a:rPr>
              <a:t>: Reference to the match in </a:t>
            </a:r>
            <a:r>
              <a:rPr lang="en-US" sz="1600" dirty="0" err="1">
                <a:solidFill>
                  <a:schemeClr val="bg1"/>
                </a:solidFill>
                <a:latin typeface="Montserrat"/>
              </a:rPr>
              <a:t>whichthe</a:t>
            </a:r>
            <a:r>
              <a:rPr lang="en-US" sz="1600" dirty="0">
                <a:solidFill>
                  <a:schemeClr val="bg1"/>
                </a:solidFill>
                <a:latin typeface="Montserrat"/>
              </a:rPr>
              <a:t> extra runs were conceded.</a:t>
            </a:r>
            <a:endParaRPr lang="en-US" dirty="0">
              <a:solidFill>
                <a:schemeClr val="bg1"/>
              </a:solidFill>
            </a:endParaRPr>
          </a:p>
          <a:p>
            <a:pPr marL="0" indent="0">
              <a:spcBef>
                <a:spcPts val="1200"/>
              </a:spcBef>
              <a:buFont typeface="Arial" panose="020B0604020202020204" pitchFamily="34" charset="0"/>
              <a:buNone/>
            </a:pPr>
            <a:r>
              <a:rPr lang="en-US" sz="1600" dirty="0">
                <a:solidFill>
                  <a:schemeClr val="bg1"/>
                </a:solidFill>
                <a:latin typeface="Montserrat"/>
              </a:rPr>
              <a:t>	</a:t>
            </a:r>
            <a:endParaRPr lang="en-US" sz="2000" b="1" dirty="0">
              <a:solidFill>
                <a:schemeClr val="bg1"/>
              </a:solidFill>
              <a:latin typeface="Montserrat"/>
            </a:endParaRPr>
          </a:p>
          <a:p>
            <a:pPr>
              <a:spcBef>
                <a:spcPts val="1400"/>
              </a:spcBef>
              <a:buClr>
                <a:srgbClr val="000000"/>
              </a:buClr>
              <a:buSzPct val="100000"/>
            </a:pPr>
            <a:endParaRPr lang="en-US" sz="2000" b="1" dirty="0">
              <a:solidFill>
                <a:schemeClr val="bg1"/>
              </a:solidFill>
              <a:latin typeface="Montserrat"/>
            </a:endParaRPr>
          </a:p>
          <a:p>
            <a:pPr>
              <a:spcBef>
                <a:spcPts val="900"/>
              </a:spcBef>
              <a:spcAft>
                <a:spcPts val="1200"/>
              </a:spcAft>
            </a:pPr>
            <a:endParaRPr lang="en-US" sz="1600" dirty="0">
              <a:solidFill>
                <a:srgbClr val="000000"/>
              </a:solidFill>
              <a:latin typeface="Aptos"/>
            </a:endParaRPr>
          </a:p>
          <a:p>
            <a:pPr marL="457200" indent="-299720">
              <a:spcBef>
                <a:spcPts val="0"/>
              </a:spcBef>
              <a:buClr>
                <a:srgbClr val="000000"/>
              </a:buClr>
              <a:buSzPct val="100000"/>
              <a:buChar char="●"/>
            </a:pPr>
            <a:endParaRPr lang="en-US" sz="1600" dirty="0">
              <a:solidFill>
                <a:schemeClr val="bg1"/>
              </a:solidFill>
              <a:latin typeface="Montserrat"/>
            </a:endParaRPr>
          </a:p>
          <a:p>
            <a:pPr marL="0" indent="0">
              <a:spcBef>
                <a:spcPts val="1200"/>
              </a:spcBef>
              <a:spcAft>
                <a:spcPts val="1200"/>
              </a:spcAft>
              <a:buFont typeface="Arial" panose="020B0604020202020204" pitchFamily="34" charset="0"/>
              <a:buNone/>
            </a:pPr>
            <a:r>
              <a:rPr lang="en-US" sz="1600" dirty="0">
                <a:solidFill>
                  <a:schemeClr val="bg1"/>
                </a:solidFill>
              </a:rPr>
              <a:t>	</a:t>
            </a:r>
          </a:p>
        </p:txBody>
      </p:sp>
      <p:sp>
        <p:nvSpPr>
          <p:cNvPr id="6" name="Google Shape;100;p20">
            <a:extLst>
              <a:ext uri="{FF2B5EF4-FFF2-40B4-BE49-F238E27FC236}">
                <a16:creationId xmlns:a16="http://schemas.microsoft.com/office/drawing/2014/main" id="{1DE13DD4-1AE9-7A9A-B773-89FBC53248BB}"/>
              </a:ext>
            </a:extLst>
          </p:cNvPr>
          <p:cNvSpPr txBox="1">
            <a:spLocks/>
          </p:cNvSpPr>
          <p:nvPr/>
        </p:nvSpPr>
        <p:spPr>
          <a:xfrm>
            <a:off x="5784332" y="1188265"/>
            <a:ext cx="5271796" cy="547915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1600" dirty="0">
                <a:solidFill>
                  <a:schemeClr val="bg1"/>
                </a:solidFill>
              </a:rPr>
              <a:t>	</a:t>
            </a:r>
            <a:r>
              <a:rPr lang="en-US" sz="2000" b="1" dirty="0">
                <a:solidFill>
                  <a:schemeClr val="bg1"/>
                </a:solidFill>
                <a:latin typeface="Montserrat" panose="00000500000000000000" pitchFamily="2" charset="0"/>
              </a:rPr>
              <a:t>Umpire</a:t>
            </a:r>
            <a:endParaRPr lang="en-US" sz="1600" b="1" dirty="0">
              <a:solidFill>
                <a:schemeClr val="bg1"/>
              </a:solidFill>
              <a:latin typeface="Montserrat" panose="00000500000000000000" pitchFamily="2" charset="0"/>
            </a:endParaRPr>
          </a:p>
          <a:p>
            <a:pPr marL="457200" indent="-301625">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Umpire_id</a:t>
            </a:r>
            <a:r>
              <a:rPr lang="en-US" sz="1600" dirty="0">
                <a:solidFill>
                  <a:schemeClr val="bg1"/>
                </a:solidFill>
                <a:latin typeface="Montserrat" panose="00000500000000000000" pitchFamily="2" charset="0"/>
              </a:rPr>
              <a:t>: Unique identifier for an umpire officiating the match.</a:t>
            </a:r>
          </a:p>
          <a:p>
            <a:pPr marL="457200" indent="-301625">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Umpire_name</a:t>
            </a:r>
            <a:r>
              <a:rPr lang="en-US" sz="1600" dirty="0">
                <a:solidFill>
                  <a:schemeClr val="bg1"/>
                </a:solidFill>
                <a:latin typeface="Montserrat" panose="00000500000000000000" pitchFamily="2" charset="0"/>
              </a:rPr>
              <a:t>: The name of an umpire.</a:t>
            </a:r>
          </a:p>
          <a:p>
            <a:pPr marL="457200" indent="-301625">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Umpire_country</a:t>
            </a:r>
            <a:r>
              <a:rPr lang="en-US" sz="1600" dirty="0">
                <a:solidFill>
                  <a:schemeClr val="bg1"/>
                </a:solidFill>
                <a:latin typeface="Montserrat" panose="00000500000000000000" pitchFamily="2" charset="0"/>
              </a:rPr>
              <a:t>: The country or nationality of an umpire.</a:t>
            </a:r>
          </a:p>
          <a:p>
            <a:pPr marL="0" indent="457200">
              <a:spcBef>
                <a:spcPts val="1200"/>
              </a:spcBef>
              <a:buFont typeface="Arial" panose="020B0604020202020204" pitchFamily="34" charset="0"/>
              <a:buNone/>
            </a:pPr>
            <a:r>
              <a:rPr lang="en-US" sz="2000" b="1" dirty="0">
                <a:solidFill>
                  <a:schemeClr val="bg1"/>
                </a:solidFill>
                <a:latin typeface="Montserrat" panose="00000500000000000000" pitchFamily="2" charset="0"/>
              </a:rPr>
              <a:t>Toss Decision</a:t>
            </a:r>
          </a:p>
          <a:p>
            <a:pPr marL="457200" indent="-301625">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Toss_Name</a:t>
            </a:r>
            <a:r>
              <a:rPr lang="en-US" sz="1600" dirty="0">
                <a:solidFill>
                  <a:schemeClr val="bg1"/>
                </a:solidFill>
                <a:latin typeface="Montserrat" panose="00000500000000000000" pitchFamily="2" charset="0"/>
              </a:rPr>
              <a:t>: The name or description of the toss (e.g., heads or tails).</a:t>
            </a:r>
          </a:p>
          <a:p>
            <a:pPr marL="0" indent="457200">
              <a:spcBef>
                <a:spcPts val="1200"/>
              </a:spcBef>
              <a:buFont typeface="Arial" panose="020B0604020202020204" pitchFamily="34" charset="0"/>
              <a:buNone/>
            </a:pPr>
            <a:r>
              <a:rPr lang="en-US" sz="2000" b="1" dirty="0">
                <a:solidFill>
                  <a:schemeClr val="bg1"/>
                </a:solidFill>
                <a:latin typeface="Montserrat" panose="00000500000000000000" pitchFamily="2" charset="0"/>
              </a:rPr>
              <a:t>Player</a:t>
            </a:r>
          </a:p>
          <a:p>
            <a:pPr marL="457200" indent="-301625">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Player_Id</a:t>
            </a:r>
            <a:r>
              <a:rPr lang="en-US" sz="1600" dirty="0">
                <a:solidFill>
                  <a:schemeClr val="bg1"/>
                </a:solidFill>
                <a:latin typeface="Montserrat" panose="00000500000000000000" pitchFamily="2" charset="0"/>
              </a:rPr>
              <a:t>: Unique identifier for a player.</a:t>
            </a:r>
          </a:p>
          <a:p>
            <a:pPr marL="457200" indent="-301625">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a:rPr>
              <a:t>Player_Name</a:t>
            </a:r>
            <a:r>
              <a:rPr lang="en-US" sz="1600" dirty="0">
                <a:solidFill>
                  <a:schemeClr val="bg1"/>
                </a:solidFill>
                <a:latin typeface="Montserrat"/>
              </a:rPr>
              <a:t>: The name of a player.</a:t>
            </a:r>
          </a:p>
          <a:p>
            <a:pPr marL="457200" indent="-301625">
              <a:spcBef>
                <a:spcPts val="0"/>
              </a:spcBef>
              <a:buClr>
                <a:srgbClr val="000000"/>
              </a:buClr>
              <a:buSzPct val="100000"/>
              <a:buFont typeface="Arial" panose="020B0604020202020204" pitchFamily="34" charset="0"/>
              <a:buChar char="●"/>
            </a:pPr>
            <a:endParaRPr lang="en-US" sz="1600" dirty="0">
              <a:solidFill>
                <a:schemeClr val="bg1"/>
              </a:solidFill>
              <a:latin typeface="Montserrat" panose="00000500000000000000" pitchFamily="2" charset="0"/>
            </a:endParaRPr>
          </a:p>
          <a:p>
            <a:pPr marL="155575" indent="0">
              <a:spcBef>
                <a:spcPts val="0"/>
              </a:spcBef>
              <a:buClr>
                <a:srgbClr val="000000"/>
              </a:buClr>
              <a:buSzPct val="100000"/>
              <a:buNone/>
            </a:pPr>
            <a:r>
              <a:rPr lang="en-US" sz="2000" b="1" dirty="0">
                <a:solidFill>
                  <a:schemeClr val="bg1"/>
                </a:solidFill>
                <a:latin typeface="Montserrat"/>
              </a:rPr>
              <a:t> Team</a:t>
            </a:r>
            <a:endParaRPr lang="en-US" sz="2000" dirty="0">
              <a:solidFill>
                <a:schemeClr val="bg1"/>
              </a:solidFill>
              <a:latin typeface="Montserrat"/>
            </a:endParaRPr>
          </a:p>
          <a:p>
            <a:pPr marL="457200" indent="-299720">
              <a:spcBef>
                <a:spcPts val="1200"/>
              </a:spcBef>
              <a:buFont typeface="Arial,Sans-Serif" panose="020B0604020202020204" pitchFamily="34" charset="0"/>
              <a:buChar char="●"/>
            </a:pPr>
            <a:r>
              <a:rPr lang="en-US" sz="1600" b="1" dirty="0" err="1">
                <a:solidFill>
                  <a:schemeClr val="bg2"/>
                </a:solidFill>
                <a:latin typeface="Montserrat"/>
              </a:rPr>
              <a:t>Team_Id</a:t>
            </a:r>
            <a:r>
              <a:rPr lang="en-US" sz="1600" dirty="0">
                <a:solidFill>
                  <a:schemeClr val="bg1"/>
                </a:solidFill>
                <a:latin typeface="Montserrat"/>
              </a:rPr>
              <a:t>: Unique identifier for a team.</a:t>
            </a:r>
          </a:p>
          <a:p>
            <a:pPr marL="457200" indent="-299720">
              <a:spcBef>
                <a:spcPts val="0"/>
              </a:spcBef>
              <a:buFont typeface="Arial,Sans-Serif" panose="020B0604020202020204" pitchFamily="34" charset="0"/>
              <a:buChar char="●"/>
            </a:pPr>
            <a:r>
              <a:rPr lang="en-US" sz="1600" b="1" dirty="0" err="1">
                <a:solidFill>
                  <a:schemeClr val="bg2"/>
                </a:solidFill>
                <a:latin typeface="Montserrat"/>
              </a:rPr>
              <a:t>Team_Name</a:t>
            </a:r>
            <a:r>
              <a:rPr lang="en-US" sz="1600" dirty="0">
                <a:solidFill>
                  <a:schemeClr val="bg1"/>
                </a:solidFill>
                <a:latin typeface="Montserrat"/>
              </a:rPr>
              <a:t>: The name of a team.</a:t>
            </a:r>
            <a:endParaRPr lang="en-US" dirty="0">
              <a:solidFill>
                <a:schemeClr val="bg1"/>
              </a:solidFill>
            </a:endParaRPr>
          </a:p>
          <a:p>
            <a:pPr marL="0" indent="0">
              <a:spcBef>
                <a:spcPts val="1200"/>
              </a:spcBef>
              <a:buFont typeface="Arial" panose="020B0604020202020204" pitchFamily="34" charset="0"/>
              <a:buNone/>
            </a:pPr>
            <a:endParaRPr lang="en-US" sz="1600" dirty="0">
              <a:solidFill>
                <a:schemeClr val="bg1"/>
              </a:solidFill>
              <a:latin typeface="Montserrat" panose="00000500000000000000" pitchFamily="2" charset="0"/>
            </a:endParaRPr>
          </a:p>
          <a:p>
            <a:pPr marL="0" indent="0">
              <a:spcBef>
                <a:spcPts val="1200"/>
              </a:spcBef>
              <a:buNone/>
            </a:pPr>
            <a:endParaRPr lang="en-US" sz="1600" dirty="0">
              <a:solidFill>
                <a:schemeClr val="bg1"/>
              </a:solidFill>
            </a:endParaRPr>
          </a:p>
          <a:p>
            <a:pPr marL="0" indent="0">
              <a:spcBef>
                <a:spcPts val="1200"/>
              </a:spcBef>
              <a:buNone/>
            </a:pPr>
            <a:endParaRPr lang="en-US" sz="1600" dirty="0">
              <a:solidFill>
                <a:schemeClr val="bg1"/>
              </a:solidFill>
            </a:endParaRPr>
          </a:p>
          <a:p>
            <a:pPr marL="0" indent="0">
              <a:spcBef>
                <a:spcPts val="1200"/>
              </a:spcBef>
              <a:spcAft>
                <a:spcPts val="1200"/>
              </a:spcAft>
              <a:buNone/>
            </a:pPr>
            <a:endParaRPr lang="en-US" sz="1600" dirty="0">
              <a:solidFill>
                <a:schemeClr val="bg1"/>
              </a:solidFill>
            </a:endParaRPr>
          </a:p>
        </p:txBody>
      </p:sp>
      <p:sp>
        <p:nvSpPr>
          <p:cNvPr id="7" name="Google Shape;106;p21">
            <a:extLst>
              <a:ext uri="{FF2B5EF4-FFF2-40B4-BE49-F238E27FC236}">
                <a16:creationId xmlns:a16="http://schemas.microsoft.com/office/drawing/2014/main" id="{716D3F2C-2C60-75A7-AC7D-B2EC4C24B9A5}"/>
              </a:ext>
            </a:extLst>
          </p:cNvPr>
          <p:cNvSpPr txBox="1">
            <a:spLocks/>
          </p:cNvSpPr>
          <p:nvPr/>
        </p:nvSpPr>
        <p:spPr>
          <a:xfrm>
            <a:off x="5411756" y="4665213"/>
            <a:ext cx="6700936" cy="219278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1400"/>
              </a:spcBef>
              <a:buFont typeface="Arial" panose="020B0604020202020204" pitchFamily="34" charset="0"/>
              <a:buNone/>
            </a:pPr>
            <a:r>
              <a:rPr lang="en-US" sz="2000" b="1" dirty="0">
                <a:solidFill>
                  <a:schemeClr val="bg1"/>
                </a:solidFill>
                <a:latin typeface="Montserrat"/>
              </a:rPr>
              <a:t>               </a:t>
            </a:r>
            <a:endParaRPr lang="en-US" dirty="0">
              <a:solidFill>
                <a:schemeClr val="bg1"/>
              </a:solidFill>
              <a:latin typeface="Montserrat"/>
            </a:endParaRPr>
          </a:p>
        </p:txBody>
      </p:sp>
    </p:spTree>
    <p:extLst>
      <p:ext uri="{BB962C8B-B14F-4D97-AF65-F5344CB8AC3E}">
        <p14:creationId xmlns:p14="http://schemas.microsoft.com/office/powerpoint/2010/main" val="1897520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8C81C4A8-D212-F5F1-2F98-458A8F91CF9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B60E52D-F4E2-2FF6-7B45-73F4FDAD183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4D57B30-CB63-BD57-B15E-0309C8BCC5D4}"/>
              </a:ext>
            </a:extLst>
          </p:cNvPr>
          <p:cNvSpPr txBox="1"/>
          <p:nvPr/>
        </p:nvSpPr>
        <p:spPr>
          <a:xfrm>
            <a:off x="3556184" y="74645"/>
            <a:ext cx="5378210" cy="584775"/>
          </a:xfrm>
          <a:prstGeom prst="rect">
            <a:avLst/>
          </a:prstGeom>
          <a:noFill/>
          <a:ln>
            <a:noFill/>
          </a:ln>
        </p:spPr>
        <p:txBody>
          <a:bodyPr wrap="square">
            <a:spAutoFit/>
          </a:bodyPr>
          <a:lstStyle/>
          <a:p>
            <a:r>
              <a:rPr lang="en-GB" sz="3200" b="1" dirty="0">
                <a:ln w="22225">
                  <a:solidFill>
                    <a:schemeClr val="accent2"/>
                  </a:solidFill>
                  <a:prstDash val="solid"/>
                </a:ln>
                <a:solidFill>
                  <a:schemeClr val="accent2">
                    <a:lumMod val="40000"/>
                    <a:lumOff val="60000"/>
                  </a:schemeClr>
                </a:solidFill>
                <a:latin typeface="Montserrat" panose="00000500000000000000" pitchFamily="2" charset="0"/>
              </a:rPr>
              <a:t>Database Schema</a:t>
            </a:r>
            <a:endParaRPr lang="en-IN" sz="3200" b="1" dirty="0">
              <a:solidFill>
                <a:schemeClr val="accent2"/>
              </a:solidFill>
              <a:latin typeface="Montserrat" panose="00000500000000000000" pitchFamily="2" charset="0"/>
            </a:endParaRPr>
          </a:p>
        </p:txBody>
      </p:sp>
      <p:pic>
        <p:nvPicPr>
          <p:cNvPr id="1026" name="Picture 2">
            <a:extLst>
              <a:ext uri="{FF2B5EF4-FFF2-40B4-BE49-F238E27FC236}">
                <a16:creationId xmlns:a16="http://schemas.microsoft.com/office/drawing/2014/main" id="{2EDDCA57-FB61-6546-81E1-F3063B70358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86308" y="823039"/>
            <a:ext cx="12019384" cy="596031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618646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DEBDFC8-3A73-E9A9-2B59-B768C582E9AD}"/>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4E483111-F3F3-509C-F1CA-5B96CBB08DEA}"/>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946432" y="0"/>
            <a:ext cx="2245567" cy="1277195"/>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F6550537-5260-6DAD-9D2D-0C721912EEDB}"/>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18" name="TextBox 17">
            <a:extLst>
              <a:ext uri="{FF2B5EF4-FFF2-40B4-BE49-F238E27FC236}">
                <a16:creationId xmlns:a16="http://schemas.microsoft.com/office/drawing/2014/main" id="{CCDD8AF4-FF8A-3262-F0AE-807096E99336}"/>
              </a:ext>
            </a:extLst>
          </p:cNvPr>
          <p:cNvSpPr txBox="1"/>
          <p:nvPr/>
        </p:nvSpPr>
        <p:spPr>
          <a:xfrm>
            <a:off x="1859902" y="0"/>
            <a:ext cx="8472196" cy="584775"/>
          </a:xfrm>
          <a:prstGeom prst="rect">
            <a:avLst/>
          </a:prstGeom>
          <a:noFill/>
        </p:spPr>
        <p:txBody>
          <a:bodyPr wrap="square">
            <a:spAutoFit/>
          </a:bodyPr>
          <a:lstStyle/>
          <a:p>
            <a:pPr algn="ctr"/>
            <a:r>
              <a:rPr lang="en-US" sz="3200" b="1" dirty="0">
                <a:solidFill>
                  <a:schemeClr val="accent2"/>
                </a:solidFill>
                <a:latin typeface="Montserrat" panose="00000500000000000000" pitchFamily="2" charset="0"/>
              </a:rPr>
              <a:t>Data Overview &amp; Methodology</a:t>
            </a:r>
            <a:endParaRPr lang="en-IN" sz="3200" b="1" dirty="0">
              <a:solidFill>
                <a:schemeClr val="accent2"/>
              </a:solidFill>
              <a:latin typeface="Montserrat" panose="00000500000000000000" pitchFamily="2" charset="0"/>
            </a:endParaRPr>
          </a:p>
        </p:txBody>
      </p:sp>
      <p:sp>
        <p:nvSpPr>
          <p:cNvPr id="19" name="object 23">
            <a:extLst>
              <a:ext uri="{FF2B5EF4-FFF2-40B4-BE49-F238E27FC236}">
                <a16:creationId xmlns:a16="http://schemas.microsoft.com/office/drawing/2014/main" id="{6D0FD6EA-594A-6B29-3F36-9888D3779B43}"/>
              </a:ext>
            </a:extLst>
          </p:cNvPr>
          <p:cNvSpPr txBox="1"/>
          <p:nvPr/>
        </p:nvSpPr>
        <p:spPr>
          <a:xfrm>
            <a:off x="228601" y="1269445"/>
            <a:ext cx="4977882" cy="2362826"/>
          </a:xfrm>
          <a:prstGeom prst="rect">
            <a:avLst/>
          </a:prstGeom>
          <a:ln>
            <a:solidFill>
              <a:schemeClr val="bg1"/>
            </a:solidFill>
          </a:ln>
        </p:spPr>
        <p:txBody>
          <a:bodyPr vert="horz" wrap="square" lIns="0" tIns="15875" rIns="0" bIns="0" rtlCol="0">
            <a:spAutoFit/>
          </a:bodyPr>
          <a:lstStyle/>
          <a:p>
            <a:pPr marL="12700" algn="ctr">
              <a:lnSpc>
                <a:spcPct val="100000"/>
              </a:lnSpc>
              <a:spcBef>
                <a:spcPts val="125"/>
              </a:spcBef>
            </a:pPr>
            <a:r>
              <a:rPr sz="2000" b="1" spc="-140" dirty="0">
                <a:solidFill>
                  <a:srgbClr val="F0F0F0"/>
                </a:solidFill>
                <a:latin typeface="Montserrat SemiBold"/>
                <a:cs typeface="Montserrat SemiBold"/>
              </a:rPr>
              <a:t>Data</a:t>
            </a:r>
            <a:r>
              <a:rPr sz="2000" b="1" spc="-40" dirty="0">
                <a:solidFill>
                  <a:srgbClr val="F0F0F0"/>
                </a:solidFill>
                <a:latin typeface="Montserrat SemiBold"/>
                <a:cs typeface="Montserrat SemiBold"/>
              </a:rPr>
              <a:t> </a:t>
            </a:r>
            <a:r>
              <a:rPr sz="2000" b="1" spc="-10" dirty="0">
                <a:solidFill>
                  <a:srgbClr val="F0F0F0"/>
                </a:solidFill>
                <a:latin typeface="Montserrat SemiBold"/>
                <a:cs typeface="Montserrat SemiBold"/>
              </a:rPr>
              <a:t>Sources</a:t>
            </a:r>
            <a:endParaRPr sz="2000" dirty="0">
              <a:latin typeface="Montserrat SemiBold"/>
              <a:cs typeface="Montserrat SemiBold"/>
            </a:endParaRPr>
          </a:p>
          <a:p>
            <a:pPr>
              <a:lnSpc>
                <a:spcPct val="100000"/>
              </a:lnSpc>
              <a:spcBef>
                <a:spcPts val="1205"/>
              </a:spcBef>
            </a:pPr>
            <a:endParaRPr sz="1650" dirty="0">
              <a:latin typeface="Montserrat SemiBold"/>
              <a:cs typeface="Montserrat SemiBold"/>
            </a:endParaRPr>
          </a:p>
          <a:p>
            <a:pPr marL="831215">
              <a:lnSpc>
                <a:spcPct val="100000"/>
              </a:lnSpc>
            </a:pPr>
            <a:r>
              <a:rPr sz="1550" b="1" spc="-150" dirty="0">
                <a:solidFill>
                  <a:srgbClr val="FFCC00"/>
                </a:solidFill>
                <a:latin typeface="Montserrat"/>
                <a:cs typeface="Montserrat"/>
              </a:rPr>
              <a:t>Match</a:t>
            </a:r>
            <a:r>
              <a:rPr sz="1550" b="1" spc="-35" dirty="0">
                <a:solidFill>
                  <a:srgbClr val="FFCC00"/>
                </a:solidFill>
                <a:latin typeface="Montserrat"/>
                <a:cs typeface="Montserrat"/>
              </a:rPr>
              <a:t> </a:t>
            </a:r>
            <a:r>
              <a:rPr sz="1550" b="1" spc="-20" dirty="0">
                <a:solidFill>
                  <a:srgbClr val="FFCC00"/>
                </a:solidFill>
                <a:latin typeface="Montserrat"/>
                <a:cs typeface="Montserrat"/>
              </a:rPr>
              <a:t>Data</a:t>
            </a:r>
            <a:endParaRPr sz="1550" dirty="0">
              <a:latin typeface="Montserrat"/>
              <a:cs typeface="Montserrat"/>
            </a:endParaRPr>
          </a:p>
          <a:p>
            <a:pPr marL="831215">
              <a:lnSpc>
                <a:spcPct val="100000"/>
              </a:lnSpc>
              <a:spcBef>
                <a:spcPts val="1015"/>
              </a:spcBef>
            </a:pPr>
            <a:r>
              <a:rPr sz="1300" spc="-70" dirty="0">
                <a:solidFill>
                  <a:srgbClr val="FFFFFF"/>
                </a:solidFill>
                <a:latin typeface="Montserrat"/>
                <a:cs typeface="Montserrat"/>
              </a:rPr>
              <a:t>Season,</a:t>
            </a:r>
            <a:r>
              <a:rPr sz="1300" spc="5" dirty="0">
                <a:solidFill>
                  <a:srgbClr val="FFFFFF"/>
                </a:solidFill>
                <a:latin typeface="Montserrat"/>
                <a:cs typeface="Montserrat"/>
              </a:rPr>
              <a:t> </a:t>
            </a:r>
            <a:r>
              <a:rPr sz="1300" spc="-70" dirty="0">
                <a:solidFill>
                  <a:srgbClr val="FFFFFF"/>
                </a:solidFill>
                <a:latin typeface="Montserrat"/>
                <a:cs typeface="Montserrat"/>
              </a:rPr>
              <a:t>venue,</a:t>
            </a:r>
            <a:r>
              <a:rPr sz="1300" spc="5" dirty="0">
                <a:solidFill>
                  <a:srgbClr val="FFFFFF"/>
                </a:solidFill>
                <a:latin typeface="Montserrat"/>
                <a:cs typeface="Montserrat"/>
              </a:rPr>
              <a:t> </a:t>
            </a:r>
            <a:r>
              <a:rPr sz="1300" spc="-75" dirty="0">
                <a:solidFill>
                  <a:srgbClr val="FFFFFF"/>
                </a:solidFill>
                <a:latin typeface="Montserrat"/>
                <a:cs typeface="Montserrat"/>
              </a:rPr>
              <a:t>teams,</a:t>
            </a:r>
            <a:r>
              <a:rPr sz="1300" spc="5" dirty="0">
                <a:solidFill>
                  <a:srgbClr val="FFFFFF"/>
                </a:solidFill>
                <a:latin typeface="Montserrat"/>
                <a:cs typeface="Montserrat"/>
              </a:rPr>
              <a:t> </a:t>
            </a:r>
            <a:r>
              <a:rPr sz="1300" spc="-60" dirty="0">
                <a:solidFill>
                  <a:srgbClr val="FFFFFF"/>
                </a:solidFill>
                <a:latin typeface="Montserrat"/>
                <a:cs typeface="Montserrat"/>
              </a:rPr>
              <a:t>toss</a:t>
            </a:r>
            <a:r>
              <a:rPr sz="1300" spc="5" dirty="0">
                <a:solidFill>
                  <a:srgbClr val="FFFFFF"/>
                </a:solidFill>
                <a:latin typeface="Montserrat"/>
                <a:cs typeface="Montserrat"/>
              </a:rPr>
              <a:t> </a:t>
            </a:r>
            <a:r>
              <a:rPr sz="1300" spc="-50" dirty="0">
                <a:solidFill>
                  <a:srgbClr val="FFFFFF"/>
                </a:solidFill>
                <a:latin typeface="Montserrat"/>
                <a:cs typeface="Montserrat"/>
              </a:rPr>
              <a:t>details,</a:t>
            </a:r>
            <a:r>
              <a:rPr sz="1300" spc="5" dirty="0">
                <a:solidFill>
                  <a:srgbClr val="FFFFFF"/>
                </a:solidFill>
                <a:latin typeface="Montserrat"/>
                <a:cs typeface="Montserrat"/>
              </a:rPr>
              <a:t> </a:t>
            </a:r>
            <a:r>
              <a:rPr sz="1300" spc="-85" dirty="0">
                <a:solidFill>
                  <a:srgbClr val="FFFFFF"/>
                </a:solidFill>
                <a:latin typeface="Montserrat"/>
                <a:cs typeface="Montserrat"/>
              </a:rPr>
              <a:t>match</a:t>
            </a:r>
            <a:r>
              <a:rPr sz="1300" spc="5" dirty="0">
                <a:solidFill>
                  <a:srgbClr val="FFFFFF"/>
                </a:solidFill>
                <a:latin typeface="Montserrat"/>
                <a:cs typeface="Montserrat"/>
              </a:rPr>
              <a:t> </a:t>
            </a:r>
            <a:r>
              <a:rPr sz="1300" spc="-10" dirty="0">
                <a:solidFill>
                  <a:srgbClr val="FFFFFF"/>
                </a:solidFill>
                <a:latin typeface="Montserrat"/>
                <a:cs typeface="Montserrat"/>
              </a:rPr>
              <a:t>outcomes</a:t>
            </a:r>
            <a:endParaRPr sz="1300" dirty="0">
              <a:latin typeface="Montserrat"/>
              <a:cs typeface="Montserrat"/>
            </a:endParaRPr>
          </a:p>
          <a:p>
            <a:pPr>
              <a:lnSpc>
                <a:spcPct val="100000"/>
              </a:lnSpc>
            </a:pPr>
            <a:endParaRPr sz="1200" dirty="0">
              <a:latin typeface="Montserrat"/>
              <a:cs typeface="Montserrat"/>
            </a:endParaRPr>
          </a:p>
          <a:p>
            <a:pPr>
              <a:lnSpc>
                <a:spcPct val="100000"/>
              </a:lnSpc>
              <a:spcBef>
                <a:spcPts val="1030"/>
              </a:spcBef>
            </a:pPr>
            <a:endParaRPr sz="1200" dirty="0">
              <a:latin typeface="Montserrat"/>
              <a:cs typeface="Montserrat"/>
            </a:endParaRPr>
          </a:p>
          <a:p>
            <a:pPr marL="831215">
              <a:lnSpc>
                <a:spcPct val="100000"/>
              </a:lnSpc>
            </a:pPr>
            <a:r>
              <a:rPr sz="1550" b="1" spc="-110" dirty="0">
                <a:solidFill>
                  <a:srgbClr val="FFCC00"/>
                </a:solidFill>
                <a:latin typeface="Montserrat"/>
                <a:cs typeface="Montserrat"/>
              </a:rPr>
              <a:t>Ball-</a:t>
            </a:r>
            <a:r>
              <a:rPr sz="1550" b="1" spc="-145" dirty="0">
                <a:solidFill>
                  <a:srgbClr val="FFCC00"/>
                </a:solidFill>
                <a:latin typeface="Montserrat"/>
                <a:cs typeface="Montserrat"/>
              </a:rPr>
              <a:t>by-</a:t>
            </a:r>
            <a:r>
              <a:rPr sz="1550" b="1" spc="-114" dirty="0">
                <a:solidFill>
                  <a:srgbClr val="FFCC00"/>
                </a:solidFill>
                <a:latin typeface="Montserrat"/>
                <a:cs typeface="Montserrat"/>
              </a:rPr>
              <a:t>Ball</a:t>
            </a:r>
            <a:r>
              <a:rPr sz="1550" b="1" spc="5" dirty="0">
                <a:solidFill>
                  <a:srgbClr val="FFCC00"/>
                </a:solidFill>
                <a:latin typeface="Montserrat"/>
                <a:cs typeface="Montserrat"/>
              </a:rPr>
              <a:t> </a:t>
            </a:r>
            <a:r>
              <a:rPr sz="1550" b="1" spc="-20" dirty="0">
                <a:solidFill>
                  <a:srgbClr val="FFCC00"/>
                </a:solidFill>
                <a:latin typeface="Montserrat"/>
                <a:cs typeface="Montserrat"/>
              </a:rPr>
              <a:t>Data</a:t>
            </a:r>
            <a:endParaRPr sz="1550" dirty="0">
              <a:latin typeface="Montserrat"/>
              <a:cs typeface="Montserrat"/>
            </a:endParaRPr>
          </a:p>
          <a:p>
            <a:pPr marL="831215">
              <a:lnSpc>
                <a:spcPct val="100000"/>
              </a:lnSpc>
              <a:spcBef>
                <a:spcPts val="1015"/>
              </a:spcBef>
            </a:pPr>
            <a:r>
              <a:rPr sz="1300" spc="-70" dirty="0">
                <a:solidFill>
                  <a:srgbClr val="FFFFFF"/>
                </a:solidFill>
                <a:latin typeface="Montserrat"/>
                <a:cs typeface="Montserrat"/>
              </a:rPr>
              <a:t>Every</a:t>
            </a:r>
            <a:r>
              <a:rPr sz="1300" spc="-15" dirty="0">
                <a:solidFill>
                  <a:srgbClr val="FFFFFF"/>
                </a:solidFill>
                <a:latin typeface="Montserrat"/>
                <a:cs typeface="Montserrat"/>
              </a:rPr>
              <a:t> </a:t>
            </a:r>
            <a:r>
              <a:rPr sz="1300" spc="-50" dirty="0">
                <a:solidFill>
                  <a:srgbClr val="FFFFFF"/>
                </a:solidFill>
                <a:latin typeface="Montserrat"/>
                <a:cs typeface="Montserrat"/>
              </a:rPr>
              <a:t>delivery:</a:t>
            </a:r>
            <a:r>
              <a:rPr sz="1300" spc="-15" dirty="0">
                <a:solidFill>
                  <a:srgbClr val="FFFFFF"/>
                </a:solidFill>
                <a:latin typeface="Montserrat"/>
                <a:cs typeface="Montserrat"/>
              </a:rPr>
              <a:t> </a:t>
            </a:r>
            <a:r>
              <a:rPr sz="1300" spc="-60" dirty="0">
                <a:solidFill>
                  <a:srgbClr val="FFFFFF"/>
                </a:solidFill>
                <a:latin typeface="Montserrat"/>
                <a:cs typeface="Montserrat"/>
              </a:rPr>
              <a:t>bowler,</a:t>
            </a:r>
            <a:r>
              <a:rPr sz="1300" spc="-15" dirty="0">
                <a:solidFill>
                  <a:srgbClr val="FFFFFF"/>
                </a:solidFill>
                <a:latin typeface="Montserrat"/>
                <a:cs typeface="Montserrat"/>
              </a:rPr>
              <a:t> </a:t>
            </a:r>
            <a:r>
              <a:rPr sz="1300" spc="-65" dirty="0">
                <a:solidFill>
                  <a:srgbClr val="FFFFFF"/>
                </a:solidFill>
                <a:latin typeface="Montserrat"/>
                <a:cs typeface="Montserrat"/>
              </a:rPr>
              <a:t>batsman,</a:t>
            </a:r>
            <a:r>
              <a:rPr sz="1300" spc="-10" dirty="0">
                <a:solidFill>
                  <a:srgbClr val="FFFFFF"/>
                </a:solidFill>
                <a:latin typeface="Montserrat"/>
                <a:cs typeface="Montserrat"/>
              </a:rPr>
              <a:t> </a:t>
            </a:r>
            <a:r>
              <a:rPr sz="1300" spc="-60" dirty="0">
                <a:solidFill>
                  <a:srgbClr val="FFFFFF"/>
                </a:solidFill>
                <a:latin typeface="Montserrat"/>
                <a:cs typeface="Montserrat"/>
              </a:rPr>
              <a:t>runs,</a:t>
            </a:r>
            <a:r>
              <a:rPr sz="1300" spc="-15" dirty="0">
                <a:solidFill>
                  <a:srgbClr val="FFFFFF"/>
                </a:solidFill>
                <a:latin typeface="Montserrat"/>
                <a:cs typeface="Montserrat"/>
              </a:rPr>
              <a:t> </a:t>
            </a:r>
            <a:r>
              <a:rPr sz="1300" spc="-60" dirty="0">
                <a:solidFill>
                  <a:srgbClr val="FFFFFF"/>
                </a:solidFill>
                <a:latin typeface="Montserrat"/>
                <a:cs typeface="Montserrat"/>
              </a:rPr>
              <a:t>wickets,</a:t>
            </a:r>
            <a:r>
              <a:rPr sz="1300" spc="-15" dirty="0">
                <a:solidFill>
                  <a:srgbClr val="FFFFFF"/>
                </a:solidFill>
                <a:latin typeface="Montserrat"/>
                <a:cs typeface="Montserrat"/>
              </a:rPr>
              <a:t> </a:t>
            </a:r>
            <a:r>
              <a:rPr sz="1300" spc="-35" dirty="0">
                <a:solidFill>
                  <a:srgbClr val="FFFFFF"/>
                </a:solidFill>
                <a:latin typeface="Montserrat"/>
                <a:cs typeface="Montserrat"/>
              </a:rPr>
              <a:t>extras</a:t>
            </a:r>
            <a:endParaRPr sz="1300" dirty="0">
              <a:latin typeface="Montserrat"/>
              <a:cs typeface="Montserrat"/>
            </a:endParaRPr>
          </a:p>
        </p:txBody>
      </p:sp>
      <p:sp>
        <p:nvSpPr>
          <p:cNvPr id="34" name="object 24">
            <a:extLst>
              <a:ext uri="{FF2B5EF4-FFF2-40B4-BE49-F238E27FC236}">
                <a16:creationId xmlns:a16="http://schemas.microsoft.com/office/drawing/2014/main" id="{86D8C112-624F-6504-2975-B1161E42BAB5}"/>
              </a:ext>
            </a:extLst>
          </p:cNvPr>
          <p:cNvSpPr txBox="1"/>
          <p:nvPr/>
        </p:nvSpPr>
        <p:spPr>
          <a:xfrm>
            <a:off x="7353605" y="1852641"/>
            <a:ext cx="3674110" cy="590550"/>
          </a:xfrm>
          <a:prstGeom prst="rect">
            <a:avLst/>
          </a:prstGeom>
        </p:spPr>
        <p:txBody>
          <a:bodyPr vert="horz" wrap="square" lIns="0" tIns="13970" rIns="0" bIns="0" rtlCol="0">
            <a:spAutoFit/>
          </a:bodyPr>
          <a:lstStyle/>
          <a:p>
            <a:pPr marL="12700">
              <a:lnSpc>
                <a:spcPct val="100000"/>
              </a:lnSpc>
              <a:spcBef>
                <a:spcPts val="110"/>
              </a:spcBef>
            </a:pPr>
            <a:r>
              <a:rPr sz="1550" b="1" spc="-125" dirty="0">
                <a:solidFill>
                  <a:srgbClr val="FFCC00"/>
                </a:solidFill>
                <a:latin typeface="Montserrat"/>
                <a:cs typeface="Montserrat"/>
              </a:rPr>
              <a:t>Player</a:t>
            </a:r>
            <a:r>
              <a:rPr sz="1550" b="1" spc="-55" dirty="0">
                <a:solidFill>
                  <a:srgbClr val="FFCC00"/>
                </a:solidFill>
                <a:latin typeface="Montserrat"/>
                <a:cs typeface="Montserrat"/>
              </a:rPr>
              <a:t> </a:t>
            </a:r>
            <a:r>
              <a:rPr sz="1550" b="1" spc="-20" dirty="0">
                <a:solidFill>
                  <a:srgbClr val="FFCC00"/>
                </a:solidFill>
                <a:latin typeface="Montserrat"/>
                <a:cs typeface="Montserrat"/>
              </a:rPr>
              <a:t>Data</a:t>
            </a:r>
            <a:endParaRPr sz="1550" dirty="0">
              <a:latin typeface="Montserrat"/>
              <a:cs typeface="Montserrat"/>
            </a:endParaRPr>
          </a:p>
          <a:p>
            <a:pPr marL="12700">
              <a:lnSpc>
                <a:spcPct val="100000"/>
              </a:lnSpc>
              <a:spcBef>
                <a:spcPts val="1015"/>
              </a:spcBef>
            </a:pPr>
            <a:r>
              <a:rPr sz="1300" spc="-70" dirty="0">
                <a:solidFill>
                  <a:srgbClr val="FFFFFF"/>
                </a:solidFill>
                <a:latin typeface="Montserrat"/>
                <a:cs typeface="Montserrat"/>
              </a:rPr>
              <a:t>Demographics,</a:t>
            </a:r>
            <a:r>
              <a:rPr sz="1300" spc="25" dirty="0">
                <a:solidFill>
                  <a:srgbClr val="FFFFFF"/>
                </a:solidFill>
                <a:latin typeface="Montserrat"/>
                <a:cs typeface="Montserrat"/>
              </a:rPr>
              <a:t> </a:t>
            </a:r>
            <a:r>
              <a:rPr sz="1300" spc="-75" dirty="0">
                <a:solidFill>
                  <a:srgbClr val="FFFFFF"/>
                </a:solidFill>
                <a:latin typeface="Montserrat"/>
                <a:cs typeface="Montserrat"/>
              </a:rPr>
              <a:t>bowling</a:t>
            </a:r>
            <a:r>
              <a:rPr sz="1300" spc="30" dirty="0">
                <a:solidFill>
                  <a:srgbClr val="FFFFFF"/>
                </a:solidFill>
                <a:latin typeface="Montserrat"/>
                <a:cs typeface="Montserrat"/>
              </a:rPr>
              <a:t> </a:t>
            </a:r>
            <a:r>
              <a:rPr sz="1300" spc="-60" dirty="0">
                <a:solidFill>
                  <a:srgbClr val="FFFFFF"/>
                </a:solidFill>
                <a:latin typeface="Montserrat"/>
                <a:cs typeface="Montserrat"/>
              </a:rPr>
              <a:t>styles,</a:t>
            </a:r>
            <a:r>
              <a:rPr sz="1300" spc="30" dirty="0">
                <a:solidFill>
                  <a:srgbClr val="FFFFFF"/>
                </a:solidFill>
                <a:latin typeface="Montserrat"/>
                <a:cs typeface="Montserrat"/>
              </a:rPr>
              <a:t> </a:t>
            </a:r>
            <a:r>
              <a:rPr sz="1300" spc="-70" dirty="0">
                <a:solidFill>
                  <a:srgbClr val="FFFFFF"/>
                </a:solidFill>
                <a:latin typeface="Montserrat"/>
                <a:cs typeface="Montserrat"/>
              </a:rPr>
              <a:t>batting</a:t>
            </a:r>
            <a:r>
              <a:rPr sz="1300" spc="30" dirty="0">
                <a:solidFill>
                  <a:srgbClr val="FFFFFF"/>
                </a:solidFill>
                <a:latin typeface="Montserrat"/>
                <a:cs typeface="Montserrat"/>
              </a:rPr>
              <a:t> </a:t>
            </a:r>
            <a:r>
              <a:rPr sz="1300" spc="-35" dirty="0">
                <a:solidFill>
                  <a:srgbClr val="FFFFFF"/>
                </a:solidFill>
                <a:latin typeface="Montserrat"/>
                <a:cs typeface="Montserrat"/>
              </a:rPr>
              <a:t>positions</a:t>
            </a:r>
            <a:endParaRPr sz="1300" dirty="0">
              <a:latin typeface="Montserrat"/>
              <a:cs typeface="Montserrat"/>
            </a:endParaRPr>
          </a:p>
        </p:txBody>
      </p:sp>
      <p:sp>
        <p:nvSpPr>
          <p:cNvPr id="35" name="object 25">
            <a:extLst>
              <a:ext uri="{FF2B5EF4-FFF2-40B4-BE49-F238E27FC236}">
                <a16:creationId xmlns:a16="http://schemas.microsoft.com/office/drawing/2014/main" id="{A3FF9E25-52B7-D7E2-A603-4E47C45BF794}"/>
              </a:ext>
            </a:extLst>
          </p:cNvPr>
          <p:cNvSpPr txBox="1"/>
          <p:nvPr/>
        </p:nvSpPr>
        <p:spPr>
          <a:xfrm>
            <a:off x="7353605" y="2790037"/>
            <a:ext cx="3312795" cy="819150"/>
          </a:xfrm>
          <a:prstGeom prst="rect">
            <a:avLst/>
          </a:prstGeom>
        </p:spPr>
        <p:txBody>
          <a:bodyPr vert="horz" wrap="square" lIns="0" tIns="13970" rIns="0" bIns="0" rtlCol="0">
            <a:spAutoFit/>
          </a:bodyPr>
          <a:lstStyle/>
          <a:p>
            <a:pPr marL="12700">
              <a:lnSpc>
                <a:spcPct val="100000"/>
              </a:lnSpc>
              <a:spcBef>
                <a:spcPts val="110"/>
              </a:spcBef>
            </a:pPr>
            <a:r>
              <a:rPr sz="1550" b="1" spc="-165" dirty="0">
                <a:solidFill>
                  <a:srgbClr val="FFCC00"/>
                </a:solidFill>
                <a:latin typeface="Montserrat"/>
                <a:cs typeface="Montserrat"/>
              </a:rPr>
              <a:t>Venue</a:t>
            </a:r>
            <a:r>
              <a:rPr sz="1550" b="1" spc="-15" dirty="0">
                <a:solidFill>
                  <a:srgbClr val="FFCC00"/>
                </a:solidFill>
                <a:latin typeface="Montserrat"/>
                <a:cs typeface="Montserrat"/>
              </a:rPr>
              <a:t> </a:t>
            </a:r>
            <a:r>
              <a:rPr sz="1550" b="1" spc="-20" dirty="0">
                <a:solidFill>
                  <a:srgbClr val="FFCC00"/>
                </a:solidFill>
                <a:latin typeface="Montserrat"/>
                <a:cs typeface="Montserrat"/>
              </a:rPr>
              <a:t>Data</a:t>
            </a:r>
            <a:endParaRPr sz="1550" dirty="0">
              <a:latin typeface="Montserrat"/>
              <a:cs typeface="Montserrat"/>
            </a:endParaRPr>
          </a:p>
          <a:p>
            <a:pPr marL="12700" marR="5080">
              <a:lnSpc>
                <a:spcPct val="115399"/>
              </a:lnSpc>
              <a:spcBef>
                <a:spcPts val="775"/>
              </a:spcBef>
            </a:pPr>
            <a:r>
              <a:rPr sz="1300" spc="-80" dirty="0">
                <a:solidFill>
                  <a:srgbClr val="FFFFFF"/>
                </a:solidFill>
                <a:latin typeface="Montserrat"/>
                <a:cs typeface="Montserrat"/>
              </a:rPr>
              <a:t>Stadium</a:t>
            </a:r>
            <a:r>
              <a:rPr sz="1300" spc="5" dirty="0">
                <a:solidFill>
                  <a:srgbClr val="FFFFFF"/>
                </a:solidFill>
                <a:latin typeface="Montserrat"/>
                <a:cs typeface="Montserrat"/>
              </a:rPr>
              <a:t> </a:t>
            </a:r>
            <a:r>
              <a:rPr sz="1300" spc="-50" dirty="0">
                <a:solidFill>
                  <a:srgbClr val="FFFFFF"/>
                </a:solidFill>
                <a:latin typeface="Montserrat"/>
                <a:cs typeface="Montserrat"/>
              </a:rPr>
              <a:t>details,</a:t>
            </a:r>
            <a:r>
              <a:rPr sz="1300" spc="10" dirty="0">
                <a:solidFill>
                  <a:srgbClr val="FFFFFF"/>
                </a:solidFill>
                <a:latin typeface="Montserrat"/>
                <a:cs typeface="Montserrat"/>
              </a:rPr>
              <a:t> </a:t>
            </a:r>
            <a:r>
              <a:rPr sz="1300" spc="-70" dirty="0">
                <a:solidFill>
                  <a:srgbClr val="FFFFFF"/>
                </a:solidFill>
                <a:latin typeface="Montserrat"/>
                <a:cs typeface="Montserrat"/>
              </a:rPr>
              <a:t>geographical</a:t>
            </a:r>
            <a:r>
              <a:rPr sz="1300" spc="5" dirty="0">
                <a:solidFill>
                  <a:srgbClr val="FFFFFF"/>
                </a:solidFill>
                <a:latin typeface="Montserrat"/>
                <a:cs typeface="Montserrat"/>
              </a:rPr>
              <a:t> </a:t>
            </a:r>
            <a:r>
              <a:rPr sz="1300" spc="-55" dirty="0">
                <a:solidFill>
                  <a:srgbClr val="FFFFFF"/>
                </a:solidFill>
                <a:latin typeface="Montserrat"/>
                <a:cs typeface="Montserrat"/>
              </a:rPr>
              <a:t>factors,</a:t>
            </a:r>
            <a:r>
              <a:rPr sz="1300" spc="10" dirty="0">
                <a:solidFill>
                  <a:srgbClr val="FFFFFF"/>
                </a:solidFill>
                <a:latin typeface="Montserrat"/>
                <a:cs typeface="Montserrat"/>
              </a:rPr>
              <a:t> </a:t>
            </a:r>
            <a:r>
              <a:rPr sz="1300" spc="-40" dirty="0">
                <a:solidFill>
                  <a:srgbClr val="FFFFFF"/>
                </a:solidFill>
                <a:latin typeface="Montserrat"/>
                <a:cs typeface="Montserrat"/>
              </a:rPr>
              <a:t>pitch </a:t>
            </a:r>
            <a:r>
              <a:rPr sz="1300" spc="-10" dirty="0">
                <a:solidFill>
                  <a:srgbClr val="FFFFFF"/>
                </a:solidFill>
                <a:latin typeface="Montserrat"/>
                <a:cs typeface="Montserrat"/>
              </a:rPr>
              <a:t>characteristics</a:t>
            </a:r>
            <a:endParaRPr sz="1300" dirty="0">
              <a:latin typeface="Montserrat"/>
              <a:cs typeface="Montserrat"/>
            </a:endParaRPr>
          </a:p>
        </p:txBody>
      </p:sp>
      <p:sp>
        <p:nvSpPr>
          <p:cNvPr id="37" name="object 23">
            <a:extLst>
              <a:ext uri="{FF2B5EF4-FFF2-40B4-BE49-F238E27FC236}">
                <a16:creationId xmlns:a16="http://schemas.microsoft.com/office/drawing/2014/main" id="{BCF3C500-9DDD-37B8-E378-9F7F3A73BFE8}"/>
              </a:ext>
            </a:extLst>
          </p:cNvPr>
          <p:cNvSpPr txBox="1"/>
          <p:nvPr/>
        </p:nvSpPr>
        <p:spPr>
          <a:xfrm>
            <a:off x="6418423" y="1269444"/>
            <a:ext cx="5544975" cy="2339743"/>
          </a:xfrm>
          <a:prstGeom prst="rect">
            <a:avLst/>
          </a:prstGeom>
          <a:ln>
            <a:solidFill>
              <a:schemeClr val="bg1"/>
            </a:solidFill>
          </a:ln>
        </p:spPr>
        <p:txBody>
          <a:bodyPr vert="horz" wrap="square" lIns="0" tIns="15875" rIns="0" bIns="0" rtlCol="0">
            <a:spAutoFit/>
          </a:bodyPr>
          <a:lstStyle/>
          <a:p>
            <a:pPr marL="12700">
              <a:lnSpc>
                <a:spcPct val="100000"/>
              </a:lnSpc>
              <a:spcBef>
                <a:spcPts val="125"/>
              </a:spcBef>
            </a:pPr>
            <a:endParaRPr sz="1300" dirty="0">
              <a:latin typeface="Montserrat"/>
              <a:cs typeface="Montserrat"/>
            </a:endParaRPr>
          </a:p>
        </p:txBody>
      </p:sp>
      <p:sp>
        <p:nvSpPr>
          <p:cNvPr id="38" name="object 32">
            <a:extLst>
              <a:ext uri="{FF2B5EF4-FFF2-40B4-BE49-F238E27FC236}">
                <a16:creationId xmlns:a16="http://schemas.microsoft.com/office/drawing/2014/main" id="{D311960C-E1EE-C230-EC27-9CB2CFD32591}"/>
              </a:ext>
            </a:extLst>
          </p:cNvPr>
          <p:cNvSpPr txBox="1"/>
          <p:nvPr/>
        </p:nvSpPr>
        <p:spPr>
          <a:xfrm>
            <a:off x="2885750" y="4192384"/>
            <a:ext cx="6124252" cy="2268250"/>
          </a:xfrm>
          <a:prstGeom prst="rect">
            <a:avLst/>
          </a:prstGeom>
          <a:ln>
            <a:solidFill>
              <a:schemeClr val="bg1"/>
            </a:solidFill>
          </a:ln>
        </p:spPr>
        <p:txBody>
          <a:bodyPr vert="horz" wrap="square" lIns="0" tIns="15875" rIns="0" bIns="0" rtlCol="0">
            <a:spAutoFit/>
          </a:bodyPr>
          <a:lstStyle/>
          <a:p>
            <a:pPr marL="12700" algn="ctr">
              <a:lnSpc>
                <a:spcPct val="100000"/>
              </a:lnSpc>
              <a:spcBef>
                <a:spcPts val="125"/>
              </a:spcBef>
            </a:pPr>
            <a:r>
              <a:rPr sz="2000" b="1" spc="-110" dirty="0">
                <a:solidFill>
                  <a:srgbClr val="F0F0F0"/>
                </a:solidFill>
                <a:latin typeface="Montserrat SemiBold"/>
                <a:cs typeface="Montserrat SemiBold"/>
              </a:rPr>
              <a:t>Analysis</a:t>
            </a:r>
            <a:r>
              <a:rPr sz="2000" b="1" spc="-60" dirty="0">
                <a:solidFill>
                  <a:srgbClr val="F0F0F0"/>
                </a:solidFill>
                <a:latin typeface="Montserrat SemiBold"/>
                <a:cs typeface="Montserrat SemiBold"/>
              </a:rPr>
              <a:t> </a:t>
            </a:r>
            <a:r>
              <a:rPr sz="2000" b="1" spc="-45" dirty="0">
                <a:solidFill>
                  <a:srgbClr val="F0F0F0"/>
                </a:solidFill>
                <a:latin typeface="Montserrat SemiBold"/>
                <a:cs typeface="Montserrat SemiBold"/>
              </a:rPr>
              <a:t>Methodology</a:t>
            </a:r>
            <a:endParaRPr sz="2000" dirty="0">
              <a:latin typeface="Montserrat SemiBold"/>
              <a:cs typeface="Montserrat SemiBold"/>
            </a:endParaRPr>
          </a:p>
          <a:p>
            <a:pPr>
              <a:lnSpc>
                <a:spcPct val="100000"/>
              </a:lnSpc>
              <a:spcBef>
                <a:spcPts val="1205"/>
              </a:spcBef>
            </a:pPr>
            <a:endParaRPr sz="1650" dirty="0">
              <a:latin typeface="Montserrat SemiBold"/>
              <a:cs typeface="Montserrat SemiBold"/>
            </a:endParaRPr>
          </a:p>
          <a:p>
            <a:pPr marL="202565" algn="just">
              <a:lnSpc>
                <a:spcPct val="100000"/>
              </a:lnSpc>
            </a:pPr>
            <a:r>
              <a:rPr sz="1550" b="1" spc="-135" dirty="0">
                <a:solidFill>
                  <a:srgbClr val="FFCC00"/>
                </a:solidFill>
                <a:latin typeface="Montserrat"/>
                <a:cs typeface="Montserrat"/>
              </a:rPr>
              <a:t>SQL-</a:t>
            </a:r>
            <a:r>
              <a:rPr sz="1550" b="1" spc="-160" dirty="0">
                <a:solidFill>
                  <a:srgbClr val="FFCC00"/>
                </a:solidFill>
                <a:latin typeface="Montserrat"/>
                <a:cs typeface="Montserrat"/>
              </a:rPr>
              <a:t>Powered</a:t>
            </a:r>
            <a:r>
              <a:rPr sz="1550" b="1" spc="20" dirty="0">
                <a:solidFill>
                  <a:srgbClr val="FFCC00"/>
                </a:solidFill>
                <a:latin typeface="Montserrat"/>
                <a:cs typeface="Montserrat"/>
              </a:rPr>
              <a:t> </a:t>
            </a:r>
            <a:r>
              <a:rPr sz="1550" b="1" spc="-10" dirty="0">
                <a:solidFill>
                  <a:srgbClr val="FFCC00"/>
                </a:solidFill>
                <a:latin typeface="Montserrat"/>
                <a:cs typeface="Montserrat"/>
              </a:rPr>
              <a:t>Analysis</a:t>
            </a:r>
            <a:endParaRPr sz="1550" dirty="0">
              <a:latin typeface="Montserrat"/>
              <a:cs typeface="Montserrat"/>
            </a:endParaRPr>
          </a:p>
          <a:p>
            <a:pPr marL="202565" marR="5080" algn="just">
              <a:lnSpc>
                <a:spcPct val="115399"/>
              </a:lnSpc>
              <a:spcBef>
                <a:spcPts val="775"/>
              </a:spcBef>
            </a:pPr>
            <a:r>
              <a:rPr sz="1300" spc="-85" dirty="0">
                <a:solidFill>
                  <a:srgbClr val="FFFFFF"/>
                </a:solidFill>
                <a:latin typeface="Montserrat"/>
                <a:cs typeface="Montserrat"/>
              </a:rPr>
              <a:t>SQL</a:t>
            </a:r>
            <a:r>
              <a:rPr sz="1300" spc="5" dirty="0">
                <a:solidFill>
                  <a:srgbClr val="FFFFFF"/>
                </a:solidFill>
                <a:latin typeface="Montserrat"/>
                <a:cs typeface="Montserrat"/>
              </a:rPr>
              <a:t> </a:t>
            </a:r>
            <a:r>
              <a:rPr sz="1300" spc="-60" dirty="0">
                <a:solidFill>
                  <a:srgbClr val="FFFFFF"/>
                </a:solidFill>
                <a:latin typeface="Montserrat"/>
                <a:cs typeface="Montserrat"/>
              </a:rPr>
              <a:t>queries</a:t>
            </a:r>
            <a:r>
              <a:rPr sz="1300" spc="5" dirty="0">
                <a:solidFill>
                  <a:srgbClr val="FFFFFF"/>
                </a:solidFill>
                <a:latin typeface="Montserrat"/>
                <a:cs typeface="Montserrat"/>
              </a:rPr>
              <a:t> </a:t>
            </a:r>
            <a:r>
              <a:rPr sz="1300" spc="-75" dirty="0">
                <a:solidFill>
                  <a:srgbClr val="FFFFFF"/>
                </a:solidFill>
                <a:latin typeface="Montserrat"/>
                <a:cs typeface="Montserrat"/>
              </a:rPr>
              <a:t>extracted</a:t>
            </a:r>
            <a:r>
              <a:rPr sz="1300" spc="5" dirty="0">
                <a:solidFill>
                  <a:srgbClr val="FFFFFF"/>
                </a:solidFill>
                <a:latin typeface="Montserrat"/>
                <a:cs typeface="Montserrat"/>
              </a:rPr>
              <a:t> </a:t>
            </a:r>
            <a:r>
              <a:rPr sz="1300" spc="-65" dirty="0">
                <a:solidFill>
                  <a:srgbClr val="FFFFFF"/>
                </a:solidFill>
                <a:latin typeface="Montserrat"/>
                <a:cs typeface="Montserrat"/>
              </a:rPr>
              <a:t>patterns</a:t>
            </a:r>
            <a:r>
              <a:rPr sz="1300" dirty="0">
                <a:solidFill>
                  <a:srgbClr val="FFFFFF"/>
                </a:solidFill>
                <a:latin typeface="Montserrat"/>
                <a:cs typeface="Montserrat"/>
              </a:rPr>
              <a:t> </a:t>
            </a:r>
            <a:r>
              <a:rPr sz="1300" spc="-65" dirty="0">
                <a:solidFill>
                  <a:srgbClr val="FFFFFF"/>
                </a:solidFill>
                <a:latin typeface="Montserrat"/>
                <a:cs typeface="Montserrat"/>
              </a:rPr>
              <a:t>across</a:t>
            </a:r>
            <a:r>
              <a:rPr sz="1300" spc="5" dirty="0">
                <a:solidFill>
                  <a:srgbClr val="FFFFFF"/>
                </a:solidFill>
                <a:latin typeface="Montserrat"/>
                <a:cs typeface="Montserrat"/>
              </a:rPr>
              <a:t> </a:t>
            </a:r>
            <a:r>
              <a:rPr sz="1300" spc="-45" dirty="0">
                <a:solidFill>
                  <a:srgbClr val="FFFFFF"/>
                </a:solidFill>
                <a:latin typeface="Montserrat"/>
                <a:cs typeface="Montserrat"/>
              </a:rPr>
              <a:t>seasons, </a:t>
            </a:r>
            <a:r>
              <a:rPr sz="1300" spc="-75" dirty="0">
                <a:solidFill>
                  <a:srgbClr val="FFFFFF"/>
                </a:solidFill>
                <a:latin typeface="Montserrat"/>
                <a:cs typeface="Montserrat"/>
              </a:rPr>
              <a:t>teams,</a:t>
            </a:r>
            <a:r>
              <a:rPr sz="1300" spc="20" dirty="0">
                <a:solidFill>
                  <a:srgbClr val="FFFFFF"/>
                </a:solidFill>
                <a:latin typeface="Montserrat"/>
                <a:cs typeface="Montserrat"/>
              </a:rPr>
              <a:t> </a:t>
            </a:r>
            <a:r>
              <a:rPr sz="1300" spc="-10" dirty="0">
                <a:solidFill>
                  <a:srgbClr val="FFFFFF"/>
                </a:solidFill>
                <a:latin typeface="Montserrat"/>
                <a:cs typeface="Montserrat"/>
              </a:rPr>
              <a:t>venues:</a:t>
            </a:r>
            <a:endParaRPr sz="1300" dirty="0">
              <a:latin typeface="Montserrat"/>
              <a:cs typeface="Montserrat"/>
            </a:endParaRPr>
          </a:p>
          <a:p>
            <a:pPr marL="393065" marR="858519" algn="just">
              <a:lnSpc>
                <a:spcPct val="153800"/>
              </a:lnSpc>
              <a:spcBef>
                <a:spcPts val="600"/>
              </a:spcBef>
            </a:pPr>
            <a:r>
              <a:rPr sz="1300" spc="-70" dirty="0">
                <a:solidFill>
                  <a:srgbClr val="FFFFFF"/>
                </a:solidFill>
                <a:latin typeface="Montserrat"/>
                <a:cs typeface="Montserrat"/>
              </a:rPr>
              <a:t>Player</a:t>
            </a:r>
            <a:r>
              <a:rPr sz="1300" spc="5" dirty="0">
                <a:solidFill>
                  <a:srgbClr val="FFFFFF"/>
                </a:solidFill>
                <a:latin typeface="Montserrat"/>
                <a:cs typeface="Montserrat"/>
              </a:rPr>
              <a:t> </a:t>
            </a:r>
            <a:r>
              <a:rPr sz="1300" spc="-70" dirty="0">
                <a:solidFill>
                  <a:srgbClr val="FFFFFF"/>
                </a:solidFill>
                <a:latin typeface="Montserrat"/>
                <a:cs typeface="Montserrat"/>
              </a:rPr>
              <a:t>performance</a:t>
            </a:r>
            <a:r>
              <a:rPr sz="1300" spc="10" dirty="0">
                <a:solidFill>
                  <a:srgbClr val="FFFFFF"/>
                </a:solidFill>
                <a:latin typeface="Montserrat"/>
                <a:cs typeface="Montserrat"/>
              </a:rPr>
              <a:t> </a:t>
            </a:r>
            <a:r>
              <a:rPr sz="1300" spc="-65" dirty="0">
                <a:solidFill>
                  <a:srgbClr val="FFFFFF"/>
                </a:solidFill>
                <a:latin typeface="Montserrat"/>
                <a:cs typeface="Montserrat"/>
              </a:rPr>
              <a:t>metrics</a:t>
            </a:r>
            <a:r>
              <a:rPr sz="1300" spc="10" dirty="0">
                <a:solidFill>
                  <a:srgbClr val="FFFFFF"/>
                </a:solidFill>
                <a:latin typeface="Montserrat"/>
                <a:cs typeface="Montserrat"/>
              </a:rPr>
              <a:t> </a:t>
            </a:r>
            <a:r>
              <a:rPr sz="1300" spc="-75" dirty="0">
                <a:solidFill>
                  <a:srgbClr val="FFFFFF"/>
                </a:solidFill>
                <a:latin typeface="Montserrat"/>
                <a:cs typeface="Montserrat"/>
              </a:rPr>
              <a:t>and</a:t>
            </a:r>
            <a:r>
              <a:rPr sz="1300" spc="10" dirty="0">
                <a:solidFill>
                  <a:srgbClr val="FFFFFF"/>
                </a:solidFill>
                <a:latin typeface="Montserrat"/>
                <a:cs typeface="Montserrat"/>
              </a:rPr>
              <a:t> </a:t>
            </a:r>
            <a:r>
              <a:rPr sz="1300" spc="-10" dirty="0">
                <a:solidFill>
                  <a:srgbClr val="FFFFFF"/>
                </a:solidFill>
                <a:latin typeface="Montserrat"/>
                <a:cs typeface="Montserrat"/>
              </a:rPr>
              <a:t>rankings </a:t>
            </a:r>
            <a:r>
              <a:rPr sz="1300" spc="-105" dirty="0">
                <a:solidFill>
                  <a:srgbClr val="FFFFFF"/>
                </a:solidFill>
                <a:latin typeface="Montserrat"/>
                <a:cs typeface="Montserrat"/>
              </a:rPr>
              <a:t>Team</a:t>
            </a:r>
            <a:r>
              <a:rPr sz="1300" dirty="0">
                <a:solidFill>
                  <a:srgbClr val="FFFFFF"/>
                </a:solidFill>
                <a:latin typeface="Montserrat"/>
                <a:cs typeface="Montserrat"/>
              </a:rPr>
              <a:t> </a:t>
            </a:r>
            <a:r>
              <a:rPr sz="1300" spc="-65" dirty="0">
                <a:solidFill>
                  <a:srgbClr val="FFFFFF"/>
                </a:solidFill>
                <a:latin typeface="Montserrat"/>
                <a:cs typeface="Montserrat"/>
              </a:rPr>
              <a:t>win-</a:t>
            </a:r>
            <a:r>
              <a:rPr sz="1300" spc="-55" dirty="0">
                <a:solidFill>
                  <a:srgbClr val="FFFFFF"/>
                </a:solidFill>
                <a:latin typeface="Montserrat"/>
                <a:cs typeface="Montserrat"/>
              </a:rPr>
              <a:t>loss</a:t>
            </a:r>
            <a:r>
              <a:rPr sz="1300" spc="5" dirty="0">
                <a:solidFill>
                  <a:srgbClr val="FFFFFF"/>
                </a:solidFill>
                <a:latin typeface="Montserrat"/>
                <a:cs typeface="Montserrat"/>
              </a:rPr>
              <a:t> </a:t>
            </a:r>
            <a:r>
              <a:rPr sz="1300" spc="-65" dirty="0">
                <a:solidFill>
                  <a:srgbClr val="FFFFFF"/>
                </a:solidFill>
                <a:latin typeface="Montserrat"/>
                <a:cs typeface="Montserrat"/>
              </a:rPr>
              <a:t>patterns</a:t>
            </a:r>
            <a:r>
              <a:rPr sz="1300" spc="5" dirty="0">
                <a:solidFill>
                  <a:srgbClr val="FFFFFF"/>
                </a:solidFill>
                <a:latin typeface="Montserrat"/>
                <a:cs typeface="Montserrat"/>
              </a:rPr>
              <a:t> </a:t>
            </a:r>
            <a:r>
              <a:rPr sz="1300" spc="-70" dirty="0">
                <a:solidFill>
                  <a:srgbClr val="FFFFFF"/>
                </a:solidFill>
                <a:latin typeface="Montserrat"/>
                <a:cs typeface="Montserrat"/>
              </a:rPr>
              <a:t>with</a:t>
            </a:r>
            <a:r>
              <a:rPr sz="1300" dirty="0">
                <a:solidFill>
                  <a:srgbClr val="FFFFFF"/>
                </a:solidFill>
                <a:latin typeface="Montserrat"/>
                <a:cs typeface="Montserrat"/>
              </a:rPr>
              <a:t> </a:t>
            </a:r>
            <a:r>
              <a:rPr sz="1300" spc="-80" dirty="0">
                <a:solidFill>
                  <a:srgbClr val="FFFFFF"/>
                </a:solidFill>
                <a:latin typeface="Montserrat"/>
                <a:cs typeface="Montserrat"/>
              </a:rPr>
              <a:t>venue</a:t>
            </a:r>
            <a:r>
              <a:rPr sz="1300" spc="5" dirty="0">
                <a:solidFill>
                  <a:srgbClr val="FFFFFF"/>
                </a:solidFill>
                <a:latin typeface="Montserrat"/>
                <a:cs typeface="Montserrat"/>
              </a:rPr>
              <a:t> </a:t>
            </a:r>
            <a:r>
              <a:rPr sz="1300" spc="-50" dirty="0">
                <a:solidFill>
                  <a:srgbClr val="FFFFFF"/>
                </a:solidFill>
                <a:latin typeface="Montserrat"/>
                <a:cs typeface="Montserrat"/>
              </a:rPr>
              <a:t>correlations </a:t>
            </a:r>
            <a:r>
              <a:rPr sz="1300" spc="-85" dirty="0">
                <a:solidFill>
                  <a:srgbClr val="FFFFFF"/>
                </a:solidFill>
                <a:latin typeface="Montserrat"/>
                <a:cs typeface="Montserrat"/>
              </a:rPr>
              <a:t>Match</a:t>
            </a:r>
            <a:r>
              <a:rPr sz="1300" spc="20" dirty="0">
                <a:solidFill>
                  <a:srgbClr val="FFFFFF"/>
                </a:solidFill>
                <a:latin typeface="Montserrat"/>
                <a:cs typeface="Montserrat"/>
              </a:rPr>
              <a:t> </a:t>
            </a:r>
            <a:r>
              <a:rPr sz="1300" spc="-65" dirty="0">
                <a:solidFill>
                  <a:srgbClr val="FFFFFF"/>
                </a:solidFill>
                <a:latin typeface="Montserrat"/>
                <a:cs typeface="Montserrat"/>
              </a:rPr>
              <a:t>factor</a:t>
            </a:r>
            <a:r>
              <a:rPr sz="1300" spc="20" dirty="0">
                <a:solidFill>
                  <a:srgbClr val="FFFFFF"/>
                </a:solidFill>
                <a:latin typeface="Montserrat"/>
                <a:cs typeface="Montserrat"/>
              </a:rPr>
              <a:t> </a:t>
            </a:r>
            <a:r>
              <a:rPr sz="1300" spc="-65" dirty="0">
                <a:solidFill>
                  <a:srgbClr val="FFFFFF"/>
                </a:solidFill>
                <a:latin typeface="Montserrat"/>
                <a:cs typeface="Montserrat"/>
              </a:rPr>
              <a:t>analysis</a:t>
            </a:r>
            <a:r>
              <a:rPr sz="1300" spc="20" dirty="0">
                <a:solidFill>
                  <a:srgbClr val="FFFFFF"/>
                </a:solidFill>
                <a:latin typeface="Montserrat"/>
                <a:cs typeface="Montserrat"/>
              </a:rPr>
              <a:t> </a:t>
            </a:r>
            <a:r>
              <a:rPr sz="1300" spc="-55" dirty="0">
                <a:solidFill>
                  <a:srgbClr val="FFFFFF"/>
                </a:solidFill>
                <a:latin typeface="Montserrat"/>
                <a:cs typeface="Montserrat"/>
              </a:rPr>
              <a:t>(toss,</a:t>
            </a:r>
            <a:r>
              <a:rPr sz="1300" spc="20" dirty="0">
                <a:solidFill>
                  <a:srgbClr val="FFFFFF"/>
                </a:solidFill>
                <a:latin typeface="Montserrat"/>
                <a:cs typeface="Montserrat"/>
              </a:rPr>
              <a:t> </a:t>
            </a:r>
            <a:r>
              <a:rPr sz="1300" spc="-70" dirty="0">
                <a:solidFill>
                  <a:srgbClr val="FFFFFF"/>
                </a:solidFill>
                <a:latin typeface="Montserrat"/>
                <a:cs typeface="Montserrat"/>
              </a:rPr>
              <a:t>batting</a:t>
            </a:r>
            <a:r>
              <a:rPr sz="1300" spc="20" dirty="0">
                <a:solidFill>
                  <a:srgbClr val="FFFFFF"/>
                </a:solidFill>
                <a:latin typeface="Montserrat"/>
                <a:cs typeface="Montserrat"/>
              </a:rPr>
              <a:t> </a:t>
            </a:r>
            <a:r>
              <a:rPr sz="1300" spc="-10" dirty="0">
                <a:solidFill>
                  <a:srgbClr val="FFFFFF"/>
                </a:solidFill>
                <a:latin typeface="Montserrat"/>
                <a:cs typeface="Montserrat"/>
              </a:rPr>
              <a:t>order) </a:t>
            </a:r>
            <a:r>
              <a:rPr sz="1300" spc="-70" dirty="0">
                <a:solidFill>
                  <a:srgbClr val="FFFFFF"/>
                </a:solidFill>
                <a:latin typeface="Montserrat"/>
                <a:cs typeface="Montserrat"/>
              </a:rPr>
              <a:t>Player</a:t>
            </a:r>
            <a:r>
              <a:rPr sz="1300" dirty="0">
                <a:solidFill>
                  <a:srgbClr val="FFFFFF"/>
                </a:solidFill>
                <a:latin typeface="Montserrat"/>
                <a:cs typeface="Montserrat"/>
              </a:rPr>
              <a:t> </a:t>
            </a:r>
            <a:r>
              <a:rPr sz="1300" spc="-65" dirty="0">
                <a:solidFill>
                  <a:srgbClr val="FFFFFF"/>
                </a:solidFill>
                <a:latin typeface="Montserrat"/>
                <a:cs typeface="Montserrat"/>
              </a:rPr>
              <a:t>consistency</a:t>
            </a:r>
            <a:r>
              <a:rPr sz="1300" spc="5" dirty="0">
                <a:solidFill>
                  <a:srgbClr val="FFFFFF"/>
                </a:solidFill>
                <a:latin typeface="Montserrat"/>
                <a:cs typeface="Montserrat"/>
              </a:rPr>
              <a:t> </a:t>
            </a:r>
            <a:r>
              <a:rPr sz="1300" spc="-65" dirty="0">
                <a:solidFill>
                  <a:srgbClr val="FFFFFF"/>
                </a:solidFill>
                <a:latin typeface="Montserrat"/>
                <a:cs typeface="Montserrat"/>
              </a:rPr>
              <a:t>tracking</a:t>
            </a:r>
            <a:r>
              <a:rPr sz="1300" dirty="0">
                <a:solidFill>
                  <a:srgbClr val="FFFFFF"/>
                </a:solidFill>
                <a:latin typeface="Montserrat"/>
                <a:cs typeface="Montserrat"/>
              </a:rPr>
              <a:t> </a:t>
            </a:r>
            <a:r>
              <a:rPr sz="1300" spc="-65" dirty="0">
                <a:solidFill>
                  <a:srgbClr val="FFFFFF"/>
                </a:solidFill>
                <a:latin typeface="Montserrat"/>
                <a:cs typeface="Montserrat"/>
              </a:rPr>
              <a:t>across</a:t>
            </a:r>
            <a:r>
              <a:rPr sz="1300" spc="5" dirty="0">
                <a:solidFill>
                  <a:srgbClr val="FFFFFF"/>
                </a:solidFill>
                <a:latin typeface="Montserrat"/>
                <a:cs typeface="Montserrat"/>
              </a:rPr>
              <a:t> </a:t>
            </a:r>
            <a:r>
              <a:rPr sz="1300" spc="-10" dirty="0">
                <a:solidFill>
                  <a:srgbClr val="FFFFFF"/>
                </a:solidFill>
                <a:latin typeface="Montserrat"/>
                <a:cs typeface="Montserrat"/>
              </a:rPr>
              <a:t>seasons</a:t>
            </a:r>
            <a:endParaRPr sz="1300" dirty="0">
              <a:latin typeface="Montserrat"/>
              <a:cs typeface="Montserrat"/>
            </a:endParaRPr>
          </a:p>
        </p:txBody>
      </p:sp>
      <p:sp>
        <p:nvSpPr>
          <p:cNvPr id="41" name="TextBox 40">
            <a:extLst>
              <a:ext uri="{FF2B5EF4-FFF2-40B4-BE49-F238E27FC236}">
                <a16:creationId xmlns:a16="http://schemas.microsoft.com/office/drawing/2014/main" id="{F62F4B92-21BD-2C05-129E-049AE6BCD4A4}"/>
              </a:ext>
            </a:extLst>
          </p:cNvPr>
          <p:cNvSpPr txBox="1"/>
          <p:nvPr/>
        </p:nvSpPr>
        <p:spPr>
          <a:xfrm>
            <a:off x="8429151" y="1234030"/>
            <a:ext cx="1945426" cy="677108"/>
          </a:xfrm>
          <a:prstGeom prst="rect">
            <a:avLst/>
          </a:prstGeom>
          <a:noFill/>
        </p:spPr>
        <p:txBody>
          <a:bodyPr wrap="square" rtlCol="0">
            <a:spAutoFit/>
          </a:bodyPr>
          <a:lstStyle/>
          <a:p>
            <a:r>
              <a:rPr lang="en-IN" sz="2000" b="1" spc="-140" dirty="0">
                <a:solidFill>
                  <a:srgbClr val="F0F0F0"/>
                </a:solidFill>
                <a:latin typeface="Montserrat SemiBold"/>
                <a:cs typeface="Montserrat SemiBold"/>
              </a:rPr>
              <a:t>Data</a:t>
            </a:r>
            <a:r>
              <a:rPr lang="en-IN" sz="2000" b="1" spc="-40" dirty="0">
                <a:solidFill>
                  <a:srgbClr val="F0F0F0"/>
                </a:solidFill>
                <a:latin typeface="Montserrat SemiBold"/>
                <a:cs typeface="Montserrat SemiBold"/>
              </a:rPr>
              <a:t> </a:t>
            </a:r>
            <a:r>
              <a:rPr lang="en-IN" sz="2000" b="1" spc="-10" dirty="0">
                <a:solidFill>
                  <a:srgbClr val="F0F0F0"/>
                </a:solidFill>
                <a:latin typeface="Montserrat SemiBold"/>
                <a:cs typeface="Montserrat SemiBold"/>
              </a:rPr>
              <a:t>Sources</a:t>
            </a:r>
            <a:endParaRPr lang="en-IN" sz="2000" dirty="0">
              <a:latin typeface="Montserrat SemiBold"/>
              <a:cs typeface="Montserrat SemiBold"/>
            </a:endParaRPr>
          </a:p>
          <a:p>
            <a:endParaRPr lang="en-IN" dirty="0"/>
          </a:p>
        </p:txBody>
      </p:sp>
    </p:spTree>
    <p:extLst>
      <p:ext uri="{BB962C8B-B14F-4D97-AF65-F5344CB8AC3E}">
        <p14:creationId xmlns:p14="http://schemas.microsoft.com/office/powerpoint/2010/main" val="416960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3B10CDEE-0843-154C-452A-E13FDB5607E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D9BAD65-8CDD-9B17-AB27-DB10989AFF34}"/>
              </a:ext>
            </a:extLst>
          </p:cNvPr>
          <p:cNvSpPr txBox="1"/>
          <p:nvPr/>
        </p:nvSpPr>
        <p:spPr>
          <a:xfrm>
            <a:off x="0" y="0"/>
            <a:ext cx="12192000" cy="584775"/>
          </a:xfrm>
          <a:prstGeom prst="rect">
            <a:avLst/>
          </a:prstGeom>
          <a:noFill/>
        </p:spPr>
        <p:txBody>
          <a:bodyPr wrap="square">
            <a:spAutoFit/>
          </a:bodyPr>
          <a:lstStyle/>
          <a:p>
            <a:pPr algn="ctr"/>
            <a:r>
              <a:rPr lang="en-US" sz="3200" b="1" dirty="0">
                <a:solidFill>
                  <a:schemeClr val="accent2"/>
                </a:solidFill>
                <a:latin typeface="Montserrat" panose="00000500000000000000" pitchFamily="2" charset="0"/>
              </a:rPr>
              <a:t>Strategic</a:t>
            </a:r>
            <a:r>
              <a:rPr lang="en-US" sz="3200" b="1" i="0" dirty="0">
                <a:solidFill>
                  <a:schemeClr val="accent2"/>
                </a:solidFill>
                <a:effectLst/>
                <a:latin typeface="Montserrat" panose="00000500000000000000" pitchFamily="2" charset="0"/>
              </a:rPr>
              <a:t> Takeaways</a:t>
            </a:r>
            <a:endParaRPr lang="en-IN" sz="3200" b="1" dirty="0">
              <a:solidFill>
                <a:schemeClr val="accent2"/>
              </a:solidFill>
              <a:latin typeface="Montserrat" panose="00000500000000000000" pitchFamily="2" charset="0"/>
            </a:endParaRPr>
          </a:p>
        </p:txBody>
      </p:sp>
      <p:sp>
        <p:nvSpPr>
          <p:cNvPr id="5" name="Rounded Rectangle 131">
            <a:extLst>
              <a:ext uri="{FF2B5EF4-FFF2-40B4-BE49-F238E27FC236}">
                <a16:creationId xmlns:a16="http://schemas.microsoft.com/office/drawing/2014/main" id="{AB050A18-56B4-C7B4-1AE4-F3503DECE7F0}"/>
              </a:ext>
            </a:extLst>
          </p:cNvPr>
          <p:cNvSpPr/>
          <p:nvPr/>
        </p:nvSpPr>
        <p:spPr>
          <a:xfrm>
            <a:off x="706381" y="1119320"/>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Batting Champions &amp; Strike Rates</a:t>
            </a:r>
          </a:p>
        </p:txBody>
      </p:sp>
      <p:sp>
        <p:nvSpPr>
          <p:cNvPr id="12" name="Rounded Rectangle 131">
            <a:extLst>
              <a:ext uri="{FF2B5EF4-FFF2-40B4-BE49-F238E27FC236}">
                <a16:creationId xmlns:a16="http://schemas.microsoft.com/office/drawing/2014/main" id="{E21ED8E5-D93B-F5F2-A96A-BCFBAD4432E1}"/>
              </a:ext>
            </a:extLst>
          </p:cNvPr>
          <p:cNvSpPr/>
          <p:nvPr/>
        </p:nvSpPr>
        <p:spPr>
          <a:xfrm>
            <a:off x="4534722" y="1119320"/>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Bowling Stars &amp; Economy Rates</a:t>
            </a:r>
          </a:p>
        </p:txBody>
      </p:sp>
      <p:sp>
        <p:nvSpPr>
          <p:cNvPr id="13" name="Rounded Rectangle 131">
            <a:extLst>
              <a:ext uri="{FF2B5EF4-FFF2-40B4-BE49-F238E27FC236}">
                <a16:creationId xmlns:a16="http://schemas.microsoft.com/office/drawing/2014/main" id="{389E6C06-BC16-362E-E99F-6BDE982E4F9F}"/>
              </a:ext>
            </a:extLst>
          </p:cNvPr>
          <p:cNvSpPr/>
          <p:nvPr/>
        </p:nvSpPr>
        <p:spPr>
          <a:xfrm>
            <a:off x="706381" y="3008678"/>
            <a:ext cx="2160000" cy="1327028"/>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Win-Loss Patterns &amp; Venue Impact</a:t>
            </a:r>
          </a:p>
        </p:txBody>
      </p:sp>
      <p:sp>
        <p:nvSpPr>
          <p:cNvPr id="14" name="Rounded Rectangle 131">
            <a:extLst>
              <a:ext uri="{FF2B5EF4-FFF2-40B4-BE49-F238E27FC236}">
                <a16:creationId xmlns:a16="http://schemas.microsoft.com/office/drawing/2014/main" id="{3927CF25-7D99-BC51-D1DB-06C855EC97B2}"/>
              </a:ext>
            </a:extLst>
          </p:cNvPr>
          <p:cNvSpPr/>
          <p:nvPr/>
        </p:nvSpPr>
        <p:spPr>
          <a:xfrm>
            <a:off x="804862" y="5392092"/>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Strategic KPIs for Team Success</a:t>
            </a:r>
          </a:p>
        </p:txBody>
      </p:sp>
      <p:sp>
        <p:nvSpPr>
          <p:cNvPr id="15" name="Rounded Rectangle 131">
            <a:extLst>
              <a:ext uri="{FF2B5EF4-FFF2-40B4-BE49-F238E27FC236}">
                <a16:creationId xmlns:a16="http://schemas.microsoft.com/office/drawing/2014/main" id="{56B591B4-99FA-5466-9961-987DFA02A22E}"/>
              </a:ext>
            </a:extLst>
          </p:cNvPr>
          <p:cNvSpPr/>
          <p:nvPr/>
        </p:nvSpPr>
        <p:spPr>
          <a:xfrm>
            <a:off x="4534722" y="3008678"/>
            <a:ext cx="2160000" cy="1563494"/>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Team Insights: RCB Performance Analysis</a:t>
            </a:r>
          </a:p>
        </p:txBody>
      </p:sp>
      <p:sp>
        <p:nvSpPr>
          <p:cNvPr id="16" name="Rounded Rectangle 131">
            <a:extLst>
              <a:ext uri="{FF2B5EF4-FFF2-40B4-BE49-F238E27FC236}">
                <a16:creationId xmlns:a16="http://schemas.microsoft.com/office/drawing/2014/main" id="{33087237-E375-7912-3FF4-B66C6E7AF111}"/>
              </a:ext>
            </a:extLst>
          </p:cNvPr>
          <p:cNvSpPr/>
          <p:nvPr/>
        </p:nvSpPr>
        <p:spPr>
          <a:xfrm>
            <a:off x="8363062" y="3266009"/>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All-rounders &amp; Consistent Performers</a:t>
            </a:r>
          </a:p>
        </p:txBody>
      </p:sp>
      <p:sp>
        <p:nvSpPr>
          <p:cNvPr id="17" name="Rounded Rectangle 131">
            <a:extLst>
              <a:ext uri="{FF2B5EF4-FFF2-40B4-BE49-F238E27FC236}">
                <a16:creationId xmlns:a16="http://schemas.microsoft.com/office/drawing/2014/main" id="{6286A0F0-6417-F645-55D1-D8F676724960}"/>
              </a:ext>
            </a:extLst>
          </p:cNvPr>
          <p:cNvSpPr/>
          <p:nvPr/>
        </p:nvSpPr>
        <p:spPr>
          <a:xfrm>
            <a:off x="8363062" y="1139925"/>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Toss Decision Impact</a:t>
            </a:r>
          </a:p>
        </p:txBody>
      </p:sp>
      <p:sp>
        <p:nvSpPr>
          <p:cNvPr id="18" name="Rounded Rectangle 131">
            <a:extLst>
              <a:ext uri="{FF2B5EF4-FFF2-40B4-BE49-F238E27FC236}">
                <a16:creationId xmlns:a16="http://schemas.microsoft.com/office/drawing/2014/main" id="{BFEF2F71-4A82-348E-D7B2-73D892E75D06}"/>
              </a:ext>
            </a:extLst>
          </p:cNvPr>
          <p:cNvSpPr/>
          <p:nvPr/>
        </p:nvSpPr>
        <p:spPr>
          <a:xfrm>
            <a:off x="4181690" y="5392092"/>
            <a:ext cx="2866063" cy="1187222"/>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19" name="Rounded Rectangle 131">
            <a:extLst>
              <a:ext uri="{FF2B5EF4-FFF2-40B4-BE49-F238E27FC236}">
                <a16:creationId xmlns:a16="http://schemas.microsoft.com/office/drawing/2014/main" id="{EDB457D5-6F08-DF0F-B575-1293A9FC15EB}"/>
              </a:ext>
            </a:extLst>
          </p:cNvPr>
          <p:cNvSpPr/>
          <p:nvPr/>
        </p:nvSpPr>
        <p:spPr>
          <a:xfrm>
            <a:off x="8454140" y="5392092"/>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Key Findings &amp; Conclusion</a:t>
            </a:r>
          </a:p>
        </p:txBody>
      </p:sp>
      <p:cxnSp>
        <p:nvCxnSpPr>
          <p:cNvPr id="3" name="Straight Connector 2">
            <a:extLst>
              <a:ext uri="{FF2B5EF4-FFF2-40B4-BE49-F238E27FC236}">
                <a16:creationId xmlns:a16="http://schemas.microsoft.com/office/drawing/2014/main" id="{7EA391D2-3B36-65D7-FCE0-462D6A8E9ADB}"/>
              </a:ext>
            </a:extLst>
          </p:cNvPr>
          <p:cNvCxnSpPr>
            <a:cxnSpLocks/>
          </p:cNvCxnSpPr>
          <p:nvPr/>
        </p:nvCxnSpPr>
        <p:spPr>
          <a:xfrm>
            <a:off x="143069" y="2565918"/>
            <a:ext cx="11905861" cy="0"/>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689A9E6D-8A52-5B68-25C9-07C9AD57D733}"/>
              </a:ext>
            </a:extLst>
          </p:cNvPr>
          <p:cNvCxnSpPr>
            <a:cxnSpLocks/>
          </p:cNvCxnSpPr>
          <p:nvPr/>
        </p:nvCxnSpPr>
        <p:spPr>
          <a:xfrm>
            <a:off x="3632719" y="848590"/>
            <a:ext cx="0" cy="5944096"/>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9" name="Straight Connector 8">
            <a:extLst>
              <a:ext uri="{FF2B5EF4-FFF2-40B4-BE49-F238E27FC236}">
                <a16:creationId xmlns:a16="http://schemas.microsoft.com/office/drawing/2014/main" id="{EC31052F-9507-BA8F-8328-E29138BA76A6}"/>
              </a:ext>
            </a:extLst>
          </p:cNvPr>
          <p:cNvCxnSpPr>
            <a:cxnSpLocks/>
          </p:cNvCxnSpPr>
          <p:nvPr/>
        </p:nvCxnSpPr>
        <p:spPr>
          <a:xfrm>
            <a:off x="7647992" y="848590"/>
            <a:ext cx="0" cy="5944096"/>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20" name="Straight Connector 19">
            <a:extLst>
              <a:ext uri="{FF2B5EF4-FFF2-40B4-BE49-F238E27FC236}">
                <a16:creationId xmlns:a16="http://schemas.microsoft.com/office/drawing/2014/main" id="{AEF63703-A193-DA6C-C262-4E33BBB7BB30}"/>
              </a:ext>
            </a:extLst>
          </p:cNvPr>
          <p:cNvCxnSpPr>
            <a:cxnSpLocks/>
          </p:cNvCxnSpPr>
          <p:nvPr/>
        </p:nvCxnSpPr>
        <p:spPr>
          <a:xfrm>
            <a:off x="143069" y="5050971"/>
            <a:ext cx="11905861" cy="0"/>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675404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F9D2B63-22BF-3601-D059-70D068F95A93}"/>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4F9C5D11-E058-4368-DFC6-C558AE788330}"/>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341F37C-B1A5-349E-5641-8055FE7D59A5}"/>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TextBox 4">
            <a:extLst>
              <a:ext uri="{FF2B5EF4-FFF2-40B4-BE49-F238E27FC236}">
                <a16:creationId xmlns:a16="http://schemas.microsoft.com/office/drawing/2014/main" id="{54ED236D-BD9C-0E2D-F4E5-B1587FBBD197}"/>
              </a:ext>
            </a:extLst>
          </p:cNvPr>
          <p:cNvSpPr txBox="1"/>
          <p:nvPr/>
        </p:nvSpPr>
        <p:spPr>
          <a:xfrm>
            <a:off x="1381125" y="7880"/>
            <a:ext cx="897138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Batting Champions &amp; Strike Rates</a:t>
            </a:r>
          </a:p>
        </p:txBody>
      </p:sp>
      <p:sp>
        <p:nvSpPr>
          <p:cNvPr id="48" name="object 11">
            <a:extLst>
              <a:ext uri="{FF2B5EF4-FFF2-40B4-BE49-F238E27FC236}">
                <a16:creationId xmlns:a16="http://schemas.microsoft.com/office/drawing/2014/main" id="{AFD6922C-1450-AA3C-4352-FBCE3E7DB9B3}"/>
              </a:ext>
            </a:extLst>
          </p:cNvPr>
          <p:cNvSpPr txBox="1"/>
          <p:nvPr/>
        </p:nvSpPr>
        <p:spPr>
          <a:xfrm>
            <a:off x="7666928" y="1141587"/>
            <a:ext cx="1951989" cy="26352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3970" rIns="0" bIns="0" rtlCol="0">
            <a:spAutoFit/>
          </a:bodyPr>
          <a:lstStyle/>
          <a:p>
            <a:pPr marL="12700">
              <a:lnSpc>
                <a:spcPct val="100000"/>
              </a:lnSpc>
              <a:spcBef>
                <a:spcPts val="110"/>
              </a:spcBef>
            </a:pPr>
            <a:r>
              <a:rPr sz="1550" b="1" spc="-175" dirty="0">
                <a:solidFill>
                  <a:srgbClr val="FFCC00"/>
                </a:solidFill>
                <a:latin typeface="Montserrat"/>
                <a:cs typeface="Montserrat"/>
              </a:rPr>
              <a:t>Top</a:t>
            </a:r>
            <a:r>
              <a:rPr sz="1550" b="1" spc="-45" dirty="0">
                <a:solidFill>
                  <a:srgbClr val="FFCC00"/>
                </a:solidFill>
                <a:latin typeface="Montserrat"/>
                <a:cs typeface="Montserrat"/>
              </a:rPr>
              <a:t> </a:t>
            </a:r>
            <a:r>
              <a:rPr sz="1550" b="1" spc="-125" dirty="0">
                <a:solidFill>
                  <a:srgbClr val="FFCC00"/>
                </a:solidFill>
                <a:latin typeface="Montserrat"/>
                <a:cs typeface="Montserrat"/>
              </a:rPr>
              <a:t>Batting</a:t>
            </a:r>
            <a:r>
              <a:rPr sz="1550" b="1" spc="-45" dirty="0">
                <a:solidFill>
                  <a:srgbClr val="FFCC00"/>
                </a:solidFill>
                <a:latin typeface="Montserrat"/>
                <a:cs typeface="Montserrat"/>
              </a:rPr>
              <a:t> </a:t>
            </a:r>
            <a:r>
              <a:rPr sz="1550" b="1" spc="-125" dirty="0">
                <a:solidFill>
                  <a:srgbClr val="FFCC00"/>
                </a:solidFill>
                <a:latin typeface="Montserrat"/>
                <a:cs typeface="Montserrat"/>
              </a:rPr>
              <a:t>Averages</a:t>
            </a:r>
            <a:endParaRPr sz="1550" dirty="0">
              <a:latin typeface="Montserrat"/>
              <a:cs typeface="Montserrat"/>
            </a:endParaRPr>
          </a:p>
        </p:txBody>
      </p:sp>
      <p:sp>
        <p:nvSpPr>
          <p:cNvPr id="3594" name="object 7">
            <a:extLst>
              <a:ext uri="{FF2B5EF4-FFF2-40B4-BE49-F238E27FC236}">
                <a16:creationId xmlns:a16="http://schemas.microsoft.com/office/drawing/2014/main" id="{1D3B4DEF-A114-D080-257E-1951C5572302}"/>
              </a:ext>
            </a:extLst>
          </p:cNvPr>
          <p:cNvSpPr txBox="1"/>
          <p:nvPr/>
        </p:nvSpPr>
        <p:spPr>
          <a:xfrm>
            <a:off x="3050636" y="542527"/>
            <a:ext cx="517271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D0D5DA"/>
                </a:solidFill>
                <a:latin typeface="Montserrat"/>
                <a:cs typeface="Montserrat"/>
              </a:rPr>
              <a:t>Highlighting</a:t>
            </a:r>
            <a:r>
              <a:rPr sz="1300" dirty="0">
                <a:solidFill>
                  <a:srgbClr val="D0D5DA"/>
                </a:solidFill>
                <a:latin typeface="Montserrat"/>
                <a:cs typeface="Montserrat"/>
              </a:rPr>
              <a:t> </a:t>
            </a:r>
            <a:r>
              <a:rPr sz="1300" spc="-60" dirty="0">
                <a:solidFill>
                  <a:srgbClr val="D0D5DA"/>
                </a:solidFill>
                <a:latin typeface="Montserrat"/>
                <a:cs typeface="Montserrat"/>
              </a:rPr>
              <a:t>IPL's</a:t>
            </a:r>
            <a:r>
              <a:rPr sz="1300" spc="5" dirty="0">
                <a:solidFill>
                  <a:srgbClr val="D0D5DA"/>
                </a:solidFill>
                <a:latin typeface="Montserrat"/>
                <a:cs typeface="Montserrat"/>
              </a:rPr>
              <a:t> </a:t>
            </a:r>
            <a:r>
              <a:rPr sz="1300" spc="-70" dirty="0">
                <a:solidFill>
                  <a:srgbClr val="D0D5DA"/>
                </a:solidFill>
                <a:latin typeface="Montserrat"/>
                <a:cs typeface="Montserrat"/>
              </a:rPr>
              <a:t>top</a:t>
            </a:r>
            <a:r>
              <a:rPr sz="1300" spc="5" dirty="0">
                <a:solidFill>
                  <a:srgbClr val="D0D5DA"/>
                </a:solidFill>
                <a:latin typeface="Montserrat"/>
                <a:cs typeface="Montserrat"/>
              </a:rPr>
              <a:t> </a:t>
            </a:r>
            <a:r>
              <a:rPr sz="1300" spc="-70" dirty="0">
                <a:solidFill>
                  <a:srgbClr val="D0D5DA"/>
                </a:solidFill>
                <a:latin typeface="Montserrat"/>
                <a:cs typeface="Montserrat"/>
              </a:rPr>
              <a:t>performers</a:t>
            </a:r>
            <a:r>
              <a:rPr sz="1300" dirty="0">
                <a:solidFill>
                  <a:srgbClr val="D0D5DA"/>
                </a:solidFill>
                <a:latin typeface="Montserrat"/>
                <a:cs typeface="Montserrat"/>
              </a:rPr>
              <a:t> </a:t>
            </a:r>
            <a:r>
              <a:rPr sz="1300" spc="-75" dirty="0">
                <a:solidFill>
                  <a:srgbClr val="D0D5DA"/>
                </a:solidFill>
                <a:latin typeface="Montserrat"/>
                <a:cs typeface="Montserrat"/>
              </a:rPr>
              <a:t>by</a:t>
            </a:r>
            <a:r>
              <a:rPr sz="1300" spc="5" dirty="0">
                <a:solidFill>
                  <a:srgbClr val="D0D5DA"/>
                </a:solidFill>
                <a:latin typeface="Montserrat"/>
                <a:cs typeface="Montserrat"/>
              </a:rPr>
              <a:t> </a:t>
            </a:r>
            <a:r>
              <a:rPr sz="1300" spc="-70" dirty="0">
                <a:solidFill>
                  <a:srgbClr val="D0D5DA"/>
                </a:solidFill>
                <a:latin typeface="Montserrat"/>
                <a:cs typeface="Montserrat"/>
              </a:rPr>
              <a:t>batting</a:t>
            </a:r>
            <a:r>
              <a:rPr sz="1300" spc="5" dirty="0">
                <a:solidFill>
                  <a:srgbClr val="D0D5DA"/>
                </a:solidFill>
                <a:latin typeface="Montserrat"/>
                <a:cs typeface="Montserrat"/>
              </a:rPr>
              <a:t> </a:t>
            </a:r>
            <a:r>
              <a:rPr sz="1300" spc="-75" dirty="0">
                <a:solidFill>
                  <a:srgbClr val="D0D5DA"/>
                </a:solidFill>
                <a:latin typeface="Montserrat"/>
                <a:cs typeface="Montserrat"/>
              </a:rPr>
              <a:t>average</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65" dirty="0">
                <a:solidFill>
                  <a:srgbClr val="D0D5DA"/>
                </a:solidFill>
                <a:latin typeface="Montserrat"/>
                <a:cs typeface="Montserrat"/>
              </a:rPr>
              <a:t>strike</a:t>
            </a:r>
            <a:r>
              <a:rPr sz="1300" spc="5" dirty="0">
                <a:solidFill>
                  <a:srgbClr val="D0D5DA"/>
                </a:solidFill>
                <a:latin typeface="Montserrat"/>
                <a:cs typeface="Montserrat"/>
              </a:rPr>
              <a:t> </a:t>
            </a:r>
            <a:r>
              <a:rPr sz="1300" spc="-20" dirty="0">
                <a:solidFill>
                  <a:srgbClr val="D0D5DA"/>
                </a:solidFill>
                <a:latin typeface="Montserrat"/>
                <a:cs typeface="Montserrat"/>
              </a:rPr>
              <a:t>rate</a:t>
            </a:r>
            <a:endParaRPr sz="1300" dirty="0">
              <a:latin typeface="Montserrat"/>
              <a:cs typeface="Montserrat"/>
            </a:endParaRPr>
          </a:p>
        </p:txBody>
      </p:sp>
      <p:sp>
        <p:nvSpPr>
          <p:cNvPr id="3596" name="TextBox 3595">
            <a:extLst>
              <a:ext uri="{FF2B5EF4-FFF2-40B4-BE49-F238E27FC236}">
                <a16:creationId xmlns:a16="http://schemas.microsoft.com/office/drawing/2014/main" id="{50D9CED5-6144-DFA0-ABAD-643012C42C03}"/>
              </a:ext>
            </a:extLst>
          </p:cNvPr>
          <p:cNvSpPr txBox="1"/>
          <p:nvPr/>
        </p:nvSpPr>
        <p:spPr>
          <a:xfrm>
            <a:off x="172156" y="1843005"/>
            <a:ext cx="5384581" cy="2862322"/>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u="sng" dirty="0">
                <a:solidFill>
                  <a:schemeClr val="bg1"/>
                </a:solidFill>
              </a:rPr>
              <a:t>Batting Champions – Average Runs per Innings:</a:t>
            </a:r>
          </a:p>
          <a:p>
            <a:pPr>
              <a:buNone/>
            </a:pPr>
            <a:r>
              <a:rPr lang="en-US" dirty="0">
                <a:solidFill>
                  <a:schemeClr val="bg1"/>
                </a:solidFill>
              </a:rPr>
              <a:t>This analysis evaluates the top batting averages across all IPL seasons, led by GJ Maxwell (37.93) and MEK Hussey (35.87), with RCB's own V Kohli (30.59) also ranking among the top 10. It helps identify consistent performers who could be valuable assets in future auctions. Players with higher averages demonstrate reliability and the potential to anchor innings, making them strong contenders for retention or strategic bidding.</a:t>
            </a:r>
          </a:p>
        </p:txBody>
      </p:sp>
      <p:graphicFrame>
        <p:nvGraphicFramePr>
          <p:cNvPr id="4" name="Chart 3">
            <a:extLst>
              <a:ext uri="{FF2B5EF4-FFF2-40B4-BE49-F238E27FC236}">
                <a16:creationId xmlns:a16="http://schemas.microsoft.com/office/drawing/2014/main" id="{F033EDE2-2B74-906B-8E30-C900F173AB9E}"/>
              </a:ext>
            </a:extLst>
          </p:cNvPr>
          <p:cNvGraphicFramePr>
            <a:graphicFrameLocks/>
          </p:cNvGraphicFramePr>
          <p:nvPr>
            <p:extLst>
              <p:ext uri="{D42A27DB-BD31-4B8C-83A1-F6EECF244321}">
                <p14:modId xmlns:p14="http://schemas.microsoft.com/office/powerpoint/2010/main" val="792310498"/>
              </p:ext>
            </p:extLst>
          </p:nvPr>
        </p:nvGraphicFramePr>
        <p:xfrm>
          <a:off x="5841242" y="1571374"/>
          <a:ext cx="6100011" cy="504779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67520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98A27AD1-DFFC-8784-F86C-67C6EEA1DD99}"/>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4BE075A7-BD68-C995-F243-079F164178D0}"/>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26D7CA5D-32E7-3C73-CF5F-244E47BDFBEA}"/>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A7599F1A-7A25-A967-FB58-661FDB599CC2}"/>
              </a:ext>
            </a:extLst>
          </p:cNvPr>
          <p:cNvSpPr txBox="1"/>
          <p:nvPr/>
        </p:nvSpPr>
        <p:spPr>
          <a:xfrm>
            <a:off x="1461018" y="0"/>
            <a:ext cx="897138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Batting Champions &amp; Strike Rates</a:t>
            </a:r>
          </a:p>
        </p:txBody>
      </p:sp>
      <p:sp>
        <p:nvSpPr>
          <p:cNvPr id="4" name="object 7">
            <a:extLst>
              <a:ext uri="{FF2B5EF4-FFF2-40B4-BE49-F238E27FC236}">
                <a16:creationId xmlns:a16="http://schemas.microsoft.com/office/drawing/2014/main" id="{CA8AECEA-13C5-1C97-0B3B-A57C7B9C2C33}"/>
              </a:ext>
            </a:extLst>
          </p:cNvPr>
          <p:cNvSpPr txBox="1"/>
          <p:nvPr/>
        </p:nvSpPr>
        <p:spPr>
          <a:xfrm>
            <a:off x="3043607" y="547648"/>
            <a:ext cx="517271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D0D5DA"/>
                </a:solidFill>
                <a:latin typeface="Montserrat"/>
                <a:cs typeface="Montserrat"/>
              </a:rPr>
              <a:t>Highlighting</a:t>
            </a:r>
            <a:r>
              <a:rPr sz="1300" dirty="0">
                <a:solidFill>
                  <a:srgbClr val="D0D5DA"/>
                </a:solidFill>
                <a:latin typeface="Montserrat"/>
                <a:cs typeface="Montserrat"/>
              </a:rPr>
              <a:t> </a:t>
            </a:r>
            <a:r>
              <a:rPr sz="1300" spc="-60" dirty="0">
                <a:solidFill>
                  <a:srgbClr val="D0D5DA"/>
                </a:solidFill>
                <a:latin typeface="Montserrat"/>
                <a:cs typeface="Montserrat"/>
              </a:rPr>
              <a:t>IPL's</a:t>
            </a:r>
            <a:r>
              <a:rPr sz="1300" spc="5" dirty="0">
                <a:solidFill>
                  <a:srgbClr val="D0D5DA"/>
                </a:solidFill>
                <a:latin typeface="Montserrat"/>
                <a:cs typeface="Montserrat"/>
              </a:rPr>
              <a:t> </a:t>
            </a:r>
            <a:r>
              <a:rPr sz="1300" spc="-70" dirty="0">
                <a:solidFill>
                  <a:srgbClr val="D0D5DA"/>
                </a:solidFill>
                <a:latin typeface="Montserrat"/>
                <a:cs typeface="Montserrat"/>
              </a:rPr>
              <a:t>top</a:t>
            </a:r>
            <a:r>
              <a:rPr sz="1300" spc="5" dirty="0">
                <a:solidFill>
                  <a:srgbClr val="D0D5DA"/>
                </a:solidFill>
                <a:latin typeface="Montserrat"/>
                <a:cs typeface="Montserrat"/>
              </a:rPr>
              <a:t> </a:t>
            </a:r>
            <a:r>
              <a:rPr sz="1300" spc="-70" dirty="0">
                <a:solidFill>
                  <a:srgbClr val="D0D5DA"/>
                </a:solidFill>
                <a:latin typeface="Montserrat"/>
                <a:cs typeface="Montserrat"/>
              </a:rPr>
              <a:t>performers</a:t>
            </a:r>
            <a:r>
              <a:rPr sz="1300" dirty="0">
                <a:solidFill>
                  <a:srgbClr val="D0D5DA"/>
                </a:solidFill>
                <a:latin typeface="Montserrat"/>
                <a:cs typeface="Montserrat"/>
              </a:rPr>
              <a:t> </a:t>
            </a:r>
            <a:r>
              <a:rPr sz="1300" spc="-75" dirty="0">
                <a:solidFill>
                  <a:srgbClr val="D0D5DA"/>
                </a:solidFill>
                <a:latin typeface="Montserrat"/>
                <a:cs typeface="Montserrat"/>
              </a:rPr>
              <a:t>by</a:t>
            </a:r>
            <a:r>
              <a:rPr sz="1300" spc="5" dirty="0">
                <a:solidFill>
                  <a:srgbClr val="D0D5DA"/>
                </a:solidFill>
                <a:latin typeface="Montserrat"/>
                <a:cs typeface="Montserrat"/>
              </a:rPr>
              <a:t> </a:t>
            </a:r>
            <a:r>
              <a:rPr sz="1300" spc="-70" dirty="0">
                <a:solidFill>
                  <a:srgbClr val="D0D5DA"/>
                </a:solidFill>
                <a:latin typeface="Montserrat"/>
                <a:cs typeface="Montserrat"/>
              </a:rPr>
              <a:t>batting</a:t>
            </a:r>
            <a:r>
              <a:rPr sz="1300" spc="5" dirty="0">
                <a:solidFill>
                  <a:srgbClr val="D0D5DA"/>
                </a:solidFill>
                <a:latin typeface="Montserrat"/>
                <a:cs typeface="Montserrat"/>
              </a:rPr>
              <a:t> </a:t>
            </a:r>
            <a:r>
              <a:rPr sz="1300" spc="-75" dirty="0">
                <a:solidFill>
                  <a:srgbClr val="D0D5DA"/>
                </a:solidFill>
                <a:latin typeface="Montserrat"/>
                <a:cs typeface="Montserrat"/>
              </a:rPr>
              <a:t>average</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65" dirty="0">
                <a:solidFill>
                  <a:srgbClr val="D0D5DA"/>
                </a:solidFill>
                <a:latin typeface="Montserrat"/>
                <a:cs typeface="Montserrat"/>
              </a:rPr>
              <a:t>strike</a:t>
            </a:r>
            <a:r>
              <a:rPr sz="1300" spc="5" dirty="0">
                <a:solidFill>
                  <a:srgbClr val="D0D5DA"/>
                </a:solidFill>
                <a:latin typeface="Montserrat"/>
                <a:cs typeface="Montserrat"/>
              </a:rPr>
              <a:t> </a:t>
            </a:r>
            <a:r>
              <a:rPr sz="1300" spc="-20" dirty="0">
                <a:solidFill>
                  <a:srgbClr val="D0D5DA"/>
                </a:solidFill>
                <a:latin typeface="Montserrat"/>
                <a:cs typeface="Montserrat"/>
              </a:rPr>
              <a:t>rate</a:t>
            </a:r>
            <a:endParaRPr sz="1300" dirty="0">
              <a:latin typeface="Montserrat"/>
              <a:cs typeface="Montserrat"/>
            </a:endParaRPr>
          </a:p>
        </p:txBody>
      </p:sp>
      <p:sp>
        <p:nvSpPr>
          <p:cNvPr id="8" name="object 41">
            <a:extLst>
              <a:ext uri="{FF2B5EF4-FFF2-40B4-BE49-F238E27FC236}">
                <a16:creationId xmlns:a16="http://schemas.microsoft.com/office/drawing/2014/main" id="{57F01BEA-F5A0-3085-CE83-97AE731D7354}"/>
              </a:ext>
            </a:extLst>
          </p:cNvPr>
          <p:cNvSpPr txBox="1"/>
          <p:nvPr/>
        </p:nvSpPr>
        <p:spPr>
          <a:xfrm>
            <a:off x="7498810" y="1317674"/>
            <a:ext cx="1477010" cy="263525"/>
          </a:xfrm>
          <a:prstGeom prst="rect">
            <a:avLst/>
          </a:prstGeom>
        </p:spPr>
        <p:txBody>
          <a:bodyPr vert="horz" wrap="square" lIns="0" tIns="13970" rIns="0" bIns="0" rtlCol="0">
            <a:spAutoFit/>
          </a:bodyPr>
          <a:lstStyle/>
          <a:p>
            <a:pPr marL="12700">
              <a:spcBef>
                <a:spcPts val="110"/>
              </a:spcBef>
            </a:pPr>
            <a:r>
              <a:rPr sz="1550" b="1" kern="0" spc="-175" dirty="0">
                <a:solidFill>
                  <a:srgbClr val="FFCC00"/>
                </a:solidFill>
                <a:latin typeface="Montserrat"/>
                <a:cs typeface="Montserrat"/>
              </a:rPr>
              <a:t>Top</a:t>
            </a:r>
            <a:r>
              <a:rPr sz="1550" b="1" kern="0" spc="-25" dirty="0">
                <a:solidFill>
                  <a:srgbClr val="FFCC00"/>
                </a:solidFill>
                <a:latin typeface="Montserrat"/>
                <a:cs typeface="Montserrat"/>
              </a:rPr>
              <a:t> </a:t>
            </a:r>
            <a:r>
              <a:rPr sz="1550" b="1" kern="0" spc="-125" dirty="0">
                <a:solidFill>
                  <a:srgbClr val="FFCC00"/>
                </a:solidFill>
                <a:latin typeface="Montserrat"/>
                <a:cs typeface="Montserrat"/>
              </a:rPr>
              <a:t>Strike</a:t>
            </a:r>
            <a:r>
              <a:rPr sz="1550" b="1" kern="0" spc="-25" dirty="0">
                <a:solidFill>
                  <a:srgbClr val="FFCC00"/>
                </a:solidFill>
                <a:latin typeface="Montserrat"/>
                <a:cs typeface="Montserrat"/>
              </a:rPr>
              <a:t> </a:t>
            </a:r>
            <a:r>
              <a:rPr sz="1550" b="1" kern="0" spc="-105" dirty="0">
                <a:solidFill>
                  <a:srgbClr val="FFCC00"/>
                </a:solidFill>
                <a:latin typeface="Montserrat"/>
                <a:cs typeface="Montserrat"/>
              </a:rPr>
              <a:t>Rates</a:t>
            </a:r>
            <a:endParaRPr sz="1550" kern="0" dirty="0">
              <a:solidFill>
                <a:sysClr val="windowText" lastClr="000000"/>
              </a:solidFill>
              <a:latin typeface="Montserrat"/>
              <a:cs typeface="Montserrat"/>
            </a:endParaRPr>
          </a:p>
        </p:txBody>
      </p:sp>
      <p:sp>
        <p:nvSpPr>
          <p:cNvPr id="28" name="TextBox 27">
            <a:extLst>
              <a:ext uri="{FF2B5EF4-FFF2-40B4-BE49-F238E27FC236}">
                <a16:creationId xmlns:a16="http://schemas.microsoft.com/office/drawing/2014/main" id="{D2B02033-1960-7380-DE48-B5A33BD0D8A9}"/>
              </a:ext>
            </a:extLst>
          </p:cNvPr>
          <p:cNvSpPr txBox="1"/>
          <p:nvPr/>
        </p:nvSpPr>
        <p:spPr>
          <a:xfrm>
            <a:off x="228600" y="2551837"/>
            <a:ext cx="5285095" cy="2308324"/>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u="sng" dirty="0">
                <a:ln>
                  <a:solidFill>
                    <a:schemeClr val="bg1"/>
                  </a:solidFill>
                </a:ln>
                <a:solidFill>
                  <a:schemeClr val="bg1"/>
                </a:solidFill>
              </a:rPr>
              <a:t>Top Strike Rates :</a:t>
            </a:r>
          </a:p>
          <a:p>
            <a:pPr>
              <a:buNone/>
            </a:pPr>
            <a:r>
              <a:rPr lang="en-US" dirty="0">
                <a:ln>
                  <a:solidFill>
                    <a:schemeClr val="bg1"/>
                  </a:solidFill>
                </a:ln>
                <a:solidFill>
                  <a:schemeClr val="bg1"/>
                </a:solidFill>
              </a:rPr>
              <a:t>This query identifies the Top players with the highest strike rates over the seasons, led by SK Raina at a blistering 139.05, measuring how quickly players score runs. High strike rate batsmen are valuable in T20 formats for accelerating innings. For RCB, such players could be prioritized for aggressive middle-order roles or targeted in the upcoming auction.</a:t>
            </a:r>
          </a:p>
        </p:txBody>
      </p:sp>
      <p:graphicFrame>
        <p:nvGraphicFramePr>
          <p:cNvPr id="5" name="Chart 4">
            <a:extLst>
              <a:ext uri="{FF2B5EF4-FFF2-40B4-BE49-F238E27FC236}">
                <a16:creationId xmlns:a16="http://schemas.microsoft.com/office/drawing/2014/main" id="{1BDF01E5-D33C-B646-939D-B711DA36E81A}"/>
              </a:ext>
            </a:extLst>
          </p:cNvPr>
          <p:cNvGraphicFramePr>
            <a:graphicFrameLocks/>
          </p:cNvGraphicFramePr>
          <p:nvPr>
            <p:extLst>
              <p:ext uri="{D42A27DB-BD31-4B8C-83A1-F6EECF244321}">
                <p14:modId xmlns:p14="http://schemas.microsoft.com/office/powerpoint/2010/main" val="568880578"/>
              </p:ext>
            </p:extLst>
          </p:nvPr>
        </p:nvGraphicFramePr>
        <p:xfrm>
          <a:off x="6095999" y="1623252"/>
          <a:ext cx="5722961" cy="469455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49813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C88BB77-D103-2B20-B6E6-EC0C89012B99}"/>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A3EBD00C-6DE9-10CD-762D-36067BBE60B7}"/>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FF23E7B7-4F60-5219-B864-AB9BA280351B}"/>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4" name="TextBox 3">
            <a:extLst>
              <a:ext uri="{FF2B5EF4-FFF2-40B4-BE49-F238E27FC236}">
                <a16:creationId xmlns:a16="http://schemas.microsoft.com/office/drawing/2014/main" id="{165B9F90-F338-387D-50F8-F054610FF4F9}"/>
              </a:ext>
            </a:extLst>
          </p:cNvPr>
          <p:cNvSpPr txBox="1"/>
          <p:nvPr/>
        </p:nvSpPr>
        <p:spPr>
          <a:xfrm>
            <a:off x="2150487" y="0"/>
            <a:ext cx="7891027"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Bowling Stars</a:t>
            </a:r>
          </a:p>
        </p:txBody>
      </p:sp>
      <p:sp>
        <p:nvSpPr>
          <p:cNvPr id="6" name="TextBox 5">
            <a:extLst>
              <a:ext uri="{FF2B5EF4-FFF2-40B4-BE49-F238E27FC236}">
                <a16:creationId xmlns:a16="http://schemas.microsoft.com/office/drawing/2014/main" id="{630F71DF-CE11-55F2-1CD0-3E8CCFC8619C}"/>
              </a:ext>
            </a:extLst>
          </p:cNvPr>
          <p:cNvSpPr txBox="1"/>
          <p:nvPr/>
        </p:nvSpPr>
        <p:spPr>
          <a:xfrm>
            <a:off x="3345508" y="578525"/>
            <a:ext cx="6097554" cy="292388"/>
          </a:xfrm>
          <a:prstGeom prst="rect">
            <a:avLst/>
          </a:prstGeom>
          <a:noFill/>
        </p:spPr>
        <p:txBody>
          <a:bodyPr wrap="square">
            <a:spAutoFit/>
          </a:bodyPr>
          <a:lstStyle/>
          <a:p>
            <a:pPr marL="12700">
              <a:lnSpc>
                <a:spcPct val="100000"/>
              </a:lnSpc>
              <a:spcBef>
                <a:spcPts val="125"/>
              </a:spcBef>
            </a:pPr>
            <a:r>
              <a:rPr lang="en-US" sz="1300" spc="-70" dirty="0">
                <a:solidFill>
                  <a:srgbClr val="D0D5DA"/>
                </a:solidFill>
                <a:latin typeface="Montserrat"/>
                <a:cs typeface="Montserrat"/>
              </a:rPr>
              <a:t>Showcasing</a:t>
            </a:r>
            <a:r>
              <a:rPr lang="en-US" sz="1300" spc="10" dirty="0">
                <a:solidFill>
                  <a:srgbClr val="D0D5DA"/>
                </a:solidFill>
                <a:latin typeface="Montserrat"/>
                <a:cs typeface="Montserrat"/>
              </a:rPr>
              <a:t> </a:t>
            </a:r>
            <a:r>
              <a:rPr lang="en-US" sz="1300" spc="-60" dirty="0">
                <a:solidFill>
                  <a:srgbClr val="D0D5DA"/>
                </a:solidFill>
                <a:latin typeface="Montserrat"/>
                <a:cs typeface="Montserrat"/>
              </a:rPr>
              <a:t>IPL's</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wicket-</a:t>
            </a:r>
            <a:r>
              <a:rPr lang="en-US" sz="1300" spc="-75" dirty="0">
                <a:solidFill>
                  <a:srgbClr val="D0D5DA"/>
                </a:solidFill>
                <a:latin typeface="Montserrat"/>
                <a:cs typeface="Montserrat"/>
              </a:rPr>
              <a:t>takers</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and</a:t>
            </a:r>
            <a:r>
              <a:rPr lang="en-US" sz="1300" spc="15" dirty="0">
                <a:solidFill>
                  <a:srgbClr val="D0D5DA"/>
                </a:solidFill>
                <a:latin typeface="Montserrat"/>
                <a:cs typeface="Montserrat"/>
              </a:rPr>
              <a:t> </a:t>
            </a:r>
            <a:r>
              <a:rPr lang="en-US" sz="1300" spc="-55" dirty="0">
                <a:solidFill>
                  <a:srgbClr val="D0D5DA"/>
                </a:solidFill>
                <a:latin typeface="Montserrat"/>
                <a:cs typeface="Montserrat"/>
              </a:rPr>
              <a:t>their</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bowling</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performance</a:t>
            </a:r>
            <a:r>
              <a:rPr lang="en-US" sz="1300" spc="15" dirty="0">
                <a:solidFill>
                  <a:srgbClr val="D0D5DA"/>
                </a:solidFill>
                <a:latin typeface="Montserrat"/>
                <a:cs typeface="Montserrat"/>
              </a:rPr>
              <a:t> </a:t>
            </a:r>
            <a:r>
              <a:rPr lang="en-US" sz="1300" spc="-20" dirty="0">
                <a:solidFill>
                  <a:srgbClr val="D0D5DA"/>
                </a:solidFill>
                <a:latin typeface="Montserrat"/>
                <a:cs typeface="Montserrat"/>
              </a:rPr>
              <a:t>metrics</a:t>
            </a:r>
            <a:endParaRPr lang="en-US" sz="1300" dirty="0">
              <a:latin typeface="Montserrat"/>
              <a:cs typeface="Montserrat"/>
            </a:endParaRPr>
          </a:p>
        </p:txBody>
      </p:sp>
      <p:sp>
        <p:nvSpPr>
          <p:cNvPr id="7" name="object 11">
            <a:extLst>
              <a:ext uri="{FF2B5EF4-FFF2-40B4-BE49-F238E27FC236}">
                <a16:creationId xmlns:a16="http://schemas.microsoft.com/office/drawing/2014/main" id="{63A682EA-4E4E-71B7-5F5C-E45A65B41FDA}"/>
              </a:ext>
            </a:extLst>
          </p:cNvPr>
          <p:cNvSpPr txBox="1"/>
          <p:nvPr/>
        </p:nvSpPr>
        <p:spPr>
          <a:xfrm>
            <a:off x="7545421" y="1144820"/>
            <a:ext cx="1685366" cy="261417"/>
          </a:xfrm>
          <a:prstGeom prst="rect">
            <a:avLst/>
          </a:prstGeom>
        </p:spPr>
        <p:txBody>
          <a:bodyPr vert="horz" wrap="square" lIns="0" tIns="13970" rIns="0" bIns="0" rtlCol="0">
            <a:spAutoFit/>
          </a:bodyPr>
          <a:lstStyle/>
          <a:p>
            <a:pPr marL="12700">
              <a:lnSpc>
                <a:spcPct val="100000"/>
              </a:lnSpc>
              <a:spcBef>
                <a:spcPts val="110"/>
              </a:spcBef>
            </a:pPr>
            <a:r>
              <a:rPr sz="1550" b="1" spc="-175" dirty="0">
                <a:solidFill>
                  <a:srgbClr val="FFCC00"/>
                </a:solidFill>
                <a:latin typeface="Montserrat"/>
                <a:cs typeface="Montserrat"/>
              </a:rPr>
              <a:t>Top</a:t>
            </a:r>
            <a:r>
              <a:rPr sz="1550" b="1" spc="-30" dirty="0">
                <a:solidFill>
                  <a:srgbClr val="FFCC00"/>
                </a:solidFill>
                <a:latin typeface="Montserrat"/>
                <a:cs typeface="Montserrat"/>
              </a:rPr>
              <a:t> </a:t>
            </a:r>
            <a:r>
              <a:rPr sz="1550" b="1" spc="-150" dirty="0">
                <a:solidFill>
                  <a:srgbClr val="FFCC00"/>
                </a:solidFill>
                <a:latin typeface="Montserrat"/>
                <a:cs typeface="Montserrat"/>
              </a:rPr>
              <a:t>Wicket</a:t>
            </a:r>
            <a:r>
              <a:rPr sz="1550" b="1" spc="-25" dirty="0">
                <a:solidFill>
                  <a:srgbClr val="FFCC00"/>
                </a:solidFill>
                <a:latin typeface="Montserrat"/>
                <a:cs typeface="Montserrat"/>
              </a:rPr>
              <a:t> </a:t>
            </a:r>
            <a:r>
              <a:rPr sz="1550" b="1" spc="-110" dirty="0">
                <a:solidFill>
                  <a:srgbClr val="FFCC00"/>
                </a:solidFill>
                <a:latin typeface="Montserrat"/>
                <a:cs typeface="Montserrat"/>
              </a:rPr>
              <a:t>Takers</a:t>
            </a:r>
            <a:endParaRPr sz="1550" dirty="0">
              <a:latin typeface="Montserrat"/>
              <a:cs typeface="Montserrat"/>
            </a:endParaRPr>
          </a:p>
        </p:txBody>
      </p:sp>
      <p:sp>
        <p:nvSpPr>
          <p:cNvPr id="25" name="object 37">
            <a:extLst>
              <a:ext uri="{FF2B5EF4-FFF2-40B4-BE49-F238E27FC236}">
                <a16:creationId xmlns:a16="http://schemas.microsoft.com/office/drawing/2014/main" id="{9FC39877-6338-EAE5-5CE7-78004F8C59EB}"/>
              </a:ext>
            </a:extLst>
          </p:cNvPr>
          <p:cNvSpPr txBox="1"/>
          <p:nvPr/>
        </p:nvSpPr>
        <p:spPr>
          <a:xfrm>
            <a:off x="7553639" y="6558429"/>
            <a:ext cx="3164205" cy="177165"/>
          </a:xfrm>
          <a:prstGeom prst="rect">
            <a:avLst/>
          </a:prstGeom>
        </p:spPr>
        <p:txBody>
          <a:bodyPr vert="horz" wrap="square" lIns="0" tIns="11430" rIns="0" bIns="0" rtlCol="0">
            <a:spAutoFit/>
          </a:bodyPr>
          <a:lstStyle/>
          <a:p>
            <a:pPr marL="12700">
              <a:lnSpc>
                <a:spcPct val="100000"/>
              </a:lnSpc>
              <a:spcBef>
                <a:spcPts val="90"/>
              </a:spcBef>
            </a:pPr>
            <a:r>
              <a:rPr sz="1000" spc="-70" dirty="0">
                <a:solidFill>
                  <a:srgbClr val="9CA2AF"/>
                </a:solidFill>
                <a:latin typeface="Montserrat"/>
                <a:cs typeface="Montserrat"/>
              </a:rPr>
              <a:t>Total</a:t>
            </a:r>
            <a:r>
              <a:rPr sz="1000" spc="-15" dirty="0">
                <a:solidFill>
                  <a:srgbClr val="9CA2AF"/>
                </a:solidFill>
                <a:latin typeface="Montserrat"/>
                <a:cs typeface="Montserrat"/>
              </a:rPr>
              <a:t> </a:t>
            </a:r>
            <a:r>
              <a:rPr sz="1000" spc="-70" dirty="0">
                <a:solidFill>
                  <a:srgbClr val="9CA2AF"/>
                </a:solidFill>
                <a:latin typeface="Montserrat"/>
                <a:cs typeface="Montserrat"/>
              </a:rPr>
              <a:t>Wickets</a:t>
            </a:r>
            <a:r>
              <a:rPr sz="1000" spc="-15"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85" dirty="0">
                <a:solidFill>
                  <a:srgbClr val="9CA2AF"/>
                </a:solidFill>
                <a:latin typeface="Montserrat"/>
                <a:cs typeface="Montserrat"/>
              </a:rPr>
              <a:t>Sum</a:t>
            </a:r>
            <a:r>
              <a:rPr sz="1000" spc="-10" dirty="0">
                <a:solidFill>
                  <a:srgbClr val="9CA2AF"/>
                </a:solidFill>
                <a:latin typeface="Montserrat"/>
                <a:cs typeface="Montserrat"/>
              </a:rPr>
              <a:t> </a:t>
            </a:r>
            <a:r>
              <a:rPr sz="1000" spc="-50" dirty="0">
                <a:solidFill>
                  <a:srgbClr val="9CA2AF"/>
                </a:solidFill>
                <a:latin typeface="Montserrat"/>
                <a:cs typeface="Montserrat"/>
              </a:rPr>
              <a:t>of</a:t>
            </a:r>
            <a:r>
              <a:rPr sz="1000" spc="-15" dirty="0">
                <a:solidFill>
                  <a:srgbClr val="9CA2AF"/>
                </a:solidFill>
                <a:latin typeface="Montserrat"/>
                <a:cs typeface="Montserrat"/>
              </a:rPr>
              <a:t> </a:t>
            </a:r>
            <a:r>
              <a:rPr sz="1000" spc="-40" dirty="0">
                <a:solidFill>
                  <a:srgbClr val="9CA2AF"/>
                </a:solidFill>
                <a:latin typeface="Montserrat"/>
                <a:cs typeface="Montserrat"/>
              </a:rPr>
              <a:t>all</a:t>
            </a:r>
            <a:r>
              <a:rPr sz="1000" spc="-15" dirty="0">
                <a:solidFill>
                  <a:srgbClr val="9CA2AF"/>
                </a:solidFill>
                <a:latin typeface="Montserrat"/>
                <a:cs typeface="Montserrat"/>
              </a:rPr>
              <a:t> </a:t>
            </a:r>
            <a:r>
              <a:rPr sz="1000" spc="-60" dirty="0">
                <a:solidFill>
                  <a:srgbClr val="9CA2AF"/>
                </a:solidFill>
                <a:latin typeface="Montserrat"/>
                <a:cs typeface="Montserrat"/>
              </a:rPr>
              <a:t>wickets</a:t>
            </a:r>
            <a:r>
              <a:rPr sz="1000" spc="-10" dirty="0">
                <a:solidFill>
                  <a:srgbClr val="9CA2AF"/>
                </a:solidFill>
                <a:latin typeface="Montserrat"/>
                <a:cs typeface="Montserrat"/>
              </a:rPr>
              <a:t> </a:t>
            </a:r>
            <a:r>
              <a:rPr sz="1000" spc="-65" dirty="0">
                <a:solidFill>
                  <a:srgbClr val="9CA2AF"/>
                </a:solidFill>
                <a:latin typeface="Montserrat"/>
                <a:cs typeface="Montserrat"/>
              </a:rPr>
              <a:t>taken</a:t>
            </a:r>
            <a:r>
              <a:rPr sz="1000" spc="-15" dirty="0">
                <a:solidFill>
                  <a:srgbClr val="9CA2AF"/>
                </a:solidFill>
                <a:latin typeface="Montserrat"/>
                <a:cs typeface="Montserrat"/>
              </a:rPr>
              <a:t> </a:t>
            </a:r>
            <a:r>
              <a:rPr sz="1000" spc="-60" dirty="0">
                <a:solidFill>
                  <a:srgbClr val="9CA2AF"/>
                </a:solidFill>
                <a:latin typeface="Montserrat"/>
                <a:cs typeface="Montserrat"/>
              </a:rPr>
              <a:t>across</a:t>
            </a:r>
            <a:r>
              <a:rPr sz="1000" spc="-15" dirty="0">
                <a:solidFill>
                  <a:srgbClr val="9CA2AF"/>
                </a:solidFill>
                <a:latin typeface="Montserrat"/>
                <a:cs typeface="Montserrat"/>
              </a:rPr>
              <a:t> </a:t>
            </a:r>
            <a:r>
              <a:rPr sz="1000" spc="-45" dirty="0">
                <a:solidFill>
                  <a:srgbClr val="9CA2AF"/>
                </a:solidFill>
                <a:latin typeface="Montserrat"/>
                <a:cs typeface="Montserrat"/>
              </a:rPr>
              <a:t>seasons</a:t>
            </a:r>
            <a:endParaRPr sz="1000">
              <a:latin typeface="Montserrat"/>
              <a:cs typeface="Montserrat"/>
            </a:endParaRPr>
          </a:p>
        </p:txBody>
      </p:sp>
      <p:sp>
        <p:nvSpPr>
          <p:cNvPr id="39" name="TextBox 38">
            <a:extLst>
              <a:ext uri="{FF2B5EF4-FFF2-40B4-BE49-F238E27FC236}">
                <a16:creationId xmlns:a16="http://schemas.microsoft.com/office/drawing/2014/main" id="{56176747-2344-F6D2-B7E6-51CDCF1176D0}"/>
              </a:ext>
            </a:extLst>
          </p:cNvPr>
          <p:cNvSpPr txBox="1"/>
          <p:nvPr/>
        </p:nvSpPr>
        <p:spPr>
          <a:xfrm>
            <a:off x="361712" y="2551837"/>
            <a:ext cx="6097554" cy="2031325"/>
          </a:xfrm>
          <a:prstGeom prst="rect">
            <a:avLst/>
          </a:prstGeom>
          <a:noFill/>
          <a:ln>
            <a:solidFill>
              <a:schemeClr val="bg1"/>
            </a:solidFill>
          </a:ln>
          <a:effectLst>
            <a:glow rad="63500">
              <a:schemeClr val="accent1">
                <a:satMod val="175000"/>
                <a:alpha val="40000"/>
              </a:schemeClr>
            </a:glow>
          </a:effectLst>
        </p:spPr>
        <p:txBody>
          <a:bodyPr wrap="square">
            <a:spAutoFit/>
          </a:bodyPr>
          <a:lstStyle/>
          <a:p>
            <a:r>
              <a:rPr lang="en-US" u="sng" dirty="0">
                <a:solidFill>
                  <a:schemeClr val="bg1"/>
                </a:solidFill>
              </a:rPr>
              <a:t>Top Wicket-Takers by Season:</a:t>
            </a:r>
          </a:p>
          <a:p>
            <a:r>
              <a:rPr lang="en-US" dirty="0">
                <a:solidFill>
                  <a:schemeClr val="bg1"/>
                </a:solidFill>
              </a:rPr>
              <a:t>This query identifies the highest wicket-takers across each IPL season by aggregating total dismissals per bowler. It highlights bowlers with consistent match-winning impact. For RCB, such insights are crucial in evaluating past performers and targeting top wicket-takers for strengthening the bowling unit in upcoming auctions.</a:t>
            </a:r>
            <a:endParaRPr lang="en-IN" dirty="0">
              <a:solidFill>
                <a:schemeClr val="bg1"/>
              </a:solidFill>
            </a:endParaRPr>
          </a:p>
        </p:txBody>
      </p:sp>
      <p:graphicFrame>
        <p:nvGraphicFramePr>
          <p:cNvPr id="3" name="Chart 2">
            <a:extLst>
              <a:ext uri="{FF2B5EF4-FFF2-40B4-BE49-F238E27FC236}">
                <a16:creationId xmlns:a16="http://schemas.microsoft.com/office/drawing/2014/main" id="{90E59E84-CF77-236B-D811-037484598355}"/>
              </a:ext>
            </a:extLst>
          </p:cNvPr>
          <p:cNvGraphicFramePr>
            <a:graphicFrameLocks/>
          </p:cNvGraphicFramePr>
          <p:nvPr>
            <p:extLst>
              <p:ext uri="{D42A27DB-BD31-4B8C-83A1-F6EECF244321}">
                <p14:modId xmlns:p14="http://schemas.microsoft.com/office/powerpoint/2010/main" val="607487286"/>
              </p:ext>
            </p:extLst>
          </p:nvPr>
        </p:nvGraphicFramePr>
        <p:xfrm>
          <a:off x="6649716" y="2217931"/>
          <a:ext cx="4972050" cy="40543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05774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9F9086FA-C886-C43D-B810-6C94E7F976B8}"/>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704486CE-F525-AF44-6C2E-70DA5C957A20}"/>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ADD0A6C-2C40-18A9-F016-30DEB57DF97F}"/>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2DB3AE27-6A5C-0234-612B-C6F390178EF8}"/>
              </a:ext>
            </a:extLst>
          </p:cNvPr>
          <p:cNvSpPr txBox="1"/>
          <p:nvPr/>
        </p:nvSpPr>
        <p:spPr>
          <a:xfrm>
            <a:off x="2075842" y="0"/>
            <a:ext cx="7891027"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Bowling Stars</a:t>
            </a:r>
          </a:p>
        </p:txBody>
      </p:sp>
      <p:sp>
        <p:nvSpPr>
          <p:cNvPr id="4" name="TextBox 3">
            <a:extLst>
              <a:ext uri="{FF2B5EF4-FFF2-40B4-BE49-F238E27FC236}">
                <a16:creationId xmlns:a16="http://schemas.microsoft.com/office/drawing/2014/main" id="{CD84FFC3-ADB7-3FDC-3CF1-C799D77DF04C}"/>
              </a:ext>
            </a:extLst>
          </p:cNvPr>
          <p:cNvSpPr txBox="1"/>
          <p:nvPr/>
        </p:nvSpPr>
        <p:spPr>
          <a:xfrm>
            <a:off x="3345508" y="578525"/>
            <a:ext cx="6097554" cy="292388"/>
          </a:xfrm>
          <a:prstGeom prst="rect">
            <a:avLst/>
          </a:prstGeom>
          <a:noFill/>
        </p:spPr>
        <p:txBody>
          <a:bodyPr wrap="square">
            <a:spAutoFit/>
          </a:bodyPr>
          <a:lstStyle/>
          <a:p>
            <a:pPr marL="12700">
              <a:lnSpc>
                <a:spcPct val="100000"/>
              </a:lnSpc>
              <a:spcBef>
                <a:spcPts val="125"/>
              </a:spcBef>
            </a:pPr>
            <a:r>
              <a:rPr lang="en-US" sz="1300" spc="-70" dirty="0">
                <a:solidFill>
                  <a:srgbClr val="D0D5DA"/>
                </a:solidFill>
                <a:latin typeface="Montserrat"/>
                <a:cs typeface="Montserrat"/>
              </a:rPr>
              <a:t>Showcasing</a:t>
            </a:r>
            <a:r>
              <a:rPr lang="en-US" sz="1300" spc="10" dirty="0">
                <a:solidFill>
                  <a:srgbClr val="D0D5DA"/>
                </a:solidFill>
                <a:latin typeface="Montserrat"/>
                <a:cs typeface="Montserrat"/>
              </a:rPr>
              <a:t> </a:t>
            </a:r>
            <a:r>
              <a:rPr lang="en-US" sz="1300" spc="-60" dirty="0">
                <a:solidFill>
                  <a:srgbClr val="D0D5DA"/>
                </a:solidFill>
                <a:latin typeface="Montserrat"/>
                <a:cs typeface="Montserrat"/>
              </a:rPr>
              <a:t>IPL's</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wicket-</a:t>
            </a:r>
            <a:r>
              <a:rPr lang="en-US" sz="1300" spc="-75" dirty="0">
                <a:solidFill>
                  <a:srgbClr val="D0D5DA"/>
                </a:solidFill>
                <a:latin typeface="Montserrat"/>
                <a:cs typeface="Montserrat"/>
              </a:rPr>
              <a:t>takers</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and</a:t>
            </a:r>
            <a:r>
              <a:rPr lang="en-US" sz="1300" spc="15" dirty="0">
                <a:solidFill>
                  <a:srgbClr val="D0D5DA"/>
                </a:solidFill>
                <a:latin typeface="Montserrat"/>
                <a:cs typeface="Montserrat"/>
              </a:rPr>
              <a:t> </a:t>
            </a:r>
            <a:r>
              <a:rPr lang="en-US" sz="1300" spc="-55" dirty="0">
                <a:solidFill>
                  <a:srgbClr val="D0D5DA"/>
                </a:solidFill>
                <a:latin typeface="Montserrat"/>
                <a:cs typeface="Montserrat"/>
              </a:rPr>
              <a:t>their</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bowling</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performance</a:t>
            </a:r>
            <a:r>
              <a:rPr lang="en-US" sz="1300" spc="15" dirty="0">
                <a:solidFill>
                  <a:srgbClr val="D0D5DA"/>
                </a:solidFill>
                <a:latin typeface="Montserrat"/>
                <a:cs typeface="Montserrat"/>
              </a:rPr>
              <a:t> </a:t>
            </a:r>
            <a:r>
              <a:rPr lang="en-US" sz="1300" spc="-20" dirty="0">
                <a:solidFill>
                  <a:srgbClr val="D0D5DA"/>
                </a:solidFill>
                <a:latin typeface="Montserrat"/>
                <a:cs typeface="Montserrat"/>
              </a:rPr>
              <a:t>metrics</a:t>
            </a:r>
            <a:endParaRPr lang="en-US" sz="1300" dirty="0">
              <a:latin typeface="Montserrat"/>
              <a:cs typeface="Montserrat"/>
            </a:endParaRPr>
          </a:p>
        </p:txBody>
      </p:sp>
      <p:sp>
        <p:nvSpPr>
          <p:cNvPr id="5" name="object 41">
            <a:extLst>
              <a:ext uri="{FF2B5EF4-FFF2-40B4-BE49-F238E27FC236}">
                <a16:creationId xmlns:a16="http://schemas.microsoft.com/office/drawing/2014/main" id="{EB60DA8C-3ABA-D033-9A67-0FCAC5D80D7A}"/>
              </a:ext>
            </a:extLst>
          </p:cNvPr>
          <p:cNvSpPr txBox="1"/>
          <p:nvPr/>
        </p:nvSpPr>
        <p:spPr>
          <a:xfrm>
            <a:off x="7192010" y="1050865"/>
            <a:ext cx="2021205" cy="263525"/>
          </a:xfrm>
          <a:prstGeom prst="rect">
            <a:avLst/>
          </a:prstGeom>
        </p:spPr>
        <p:txBody>
          <a:bodyPr vert="horz" wrap="square" lIns="0" tIns="13970" rIns="0" bIns="0" rtlCol="0">
            <a:spAutoFit/>
          </a:bodyPr>
          <a:lstStyle/>
          <a:p>
            <a:pPr marL="12700">
              <a:lnSpc>
                <a:spcPct val="100000"/>
              </a:lnSpc>
              <a:spcBef>
                <a:spcPts val="110"/>
              </a:spcBef>
            </a:pPr>
            <a:r>
              <a:rPr sz="1550" b="1" spc="-175" dirty="0">
                <a:solidFill>
                  <a:srgbClr val="FFCC00"/>
                </a:solidFill>
                <a:latin typeface="Montserrat"/>
                <a:cs typeface="Montserrat"/>
              </a:rPr>
              <a:t>Top</a:t>
            </a:r>
            <a:r>
              <a:rPr sz="1550" b="1" spc="-20" dirty="0">
                <a:solidFill>
                  <a:srgbClr val="FFCC00"/>
                </a:solidFill>
                <a:latin typeface="Montserrat"/>
                <a:cs typeface="Montserrat"/>
              </a:rPr>
              <a:t> </a:t>
            </a:r>
            <a:r>
              <a:rPr sz="1550" b="1" spc="-145" dirty="0">
                <a:solidFill>
                  <a:srgbClr val="FFCC00"/>
                </a:solidFill>
                <a:latin typeface="Montserrat"/>
                <a:cs typeface="Montserrat"/>
              </a:rPr>
              <a:t>Bowling</a:t>
            </a:r>
            <a:r>
              <a:rPr sz="1550" b="1" spc="-20" dirty="0">
                <a:solidFill>
                  <a:srgbClr val="FFCC00"/>
                </a:solidFill>
                <a:latin typeface="Montserrat"/>
                <a:cs typeface="Montserrat"/>
              </a:rPr>
              <a:t> </a:t>
            </a:r>
            <a:r>
              <a:rPr sz="1550" b="1" spc="-120" dirty="0">
                <a:solidFill>
                  <a:srgbClr val="FFCC00"/>
                </a:solidFill>
                <a:latin typeface="Montserrat"/>
                <a:cs typeface="Montserrat"/>
              </a:rPr>
              <a:t>Averages</a:t>
            </a:r>
            <a:endParaRPr sz="1550" dirty="0">
              <a:latin typeface="Montserrat"/>
              <a:cs typeface="Montserrat"/>
            </a:endParaRPr>
          </a:p>
        </p:txBody>
      </p:sp>
      <p:sp>
        <p:nvSpPr>
          <p:cNvPr id="19" name="object 67">
            <a:extLst>
              <a:ext uri="{FF2B5EF4-FFF2-40B4-BE49-F238E27FC236}">
                <a16:creationId xmlns:a16="http://schemas.microsoft.com/office/drawing/2014/main" id="{71318876-DEE4-4F81-B26E-E9979D73AE04}"/>
              </a:ext>
            </a:extLst>
          </p:cNvPr>
          <p:cNvSpPr txBox="1"/>
          <p:nvPr/>
        </p:nvSpPr>
        <p:spPr>
          <a:xfrm>
            <a:off x="7134903" y="6581144"/>
            <a:ext cx="2872105" cy="177165"/>
          </a:xfrm>
          <a:prstGeom prst="rect">
            <a:avLst/>
          </a:prstGeom>
        </p:spPr>
        <p:txBody>
          <a:bodyPr vert="horz" wrap="square" lIns="0" tIns="11430" rIns="0" bIns="0" rtlCol="0">
            <a:spAutoFit/>
          </a:bodyPr>
          <a:lstStyle/>
          <a:p>
            <a:pPr marL="12700">
              <a:lnSpc>
                <a:spcPct val="100000"/>
              </a:lnSpc>
              <a:spcBef>
                <a:spcPts val="90"/>
              </a:spcBef>
            </a:pPr>
            <a:r>
              <a:rPr sz="1000" spc="-65" dirty="0">
                <a:solidFill>
                  <a:srgbClr val="9CA2AF"/>
                </a:solidFill>
                <a:latin typeface="Montserrat"/>
                <a:cs typeface="Montserrat"/>
              </a:rPr>
              <a:t>Bowling</a:t>
            </a:r>
            <a:r>
              <a:rPr sz="1000" spc="-20" dirty="0">
                <a:solidFill>
                  <a:srgbClr val="9CA2AF"/>
                </a:solidFill>
                <a:latin typeface="Montserrat"/>
                <a:cs typeface="Montserrat"/>
              </a:rPr>
              <a:t> </a:t>
            </a:r>
            <a:r>
              <a:rPr sz="1000" spc="-70" dirty="0">
                <a:solidFill>
                  <a:srgbClr val="9CA2AF"/>
                </a:solidFill>
                <a:latin typeface="Montserrat"/>
                <a:cs typeface="Montserrat"/>
              </a:rPr>
              <a:t>Average</a:t>
            </a:r>
            <a:r>
              <a:rPr sz="1000" spc="-20"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70" dirty="0">
                <a:solidFill>
                  <a:srgbClr val="9CA2AF"/>
                </a:solidFill>
                <a:latin typeface="Montserrat"/>
                <a:cs typeface="Montserrat"/>
              </a:rPr>
              <a:t>Total</a:t>
            </a:r>
            <a:r>
              <a:rPr sz="1000" spc="-20" dirty="0">
                <a:solidFill>
                  <a:srgbClr val="9CA2AF"/>
                </a:solidFill>
                <a:latin typeface="Montserrat"/>
                <a:cs typeface="Montserrat"/>
              </a:rPr>
              <a:t> </a:t>
            </a:r>
            <a:r>
              <a:rPr sz="1000" spc="-70" dirty="0">
                <a:solidFill>
                  <a:srgbClr val="9CA2AF"/>
                </a:solidFill>
                <a:latin typeface="Montserrat"/>
                <a:cs typeface="Montserrat"/>
              </a:rPr>
              <a:t>Wickets</a:t>
            </a:r>
            <a:r>
              <a:rPr sz="1000" spc="-15" dirty="0">
                <a:solidFill>
                  <a:srgbClr val="9CA2AF"/>
                </a:solidFill>
                <a:latin typeface="Montserrat"/>
                <a:cs typeface="Montserrat"/>
              </a:rPr>
              <a:t> </a:t>
            </a:r>
            <a:r>
              <a:rPr sz="1000" dirty="0">
                <a:solidFill>
                  <a:srgbClr val="9CA2AF"/>
                </a:solidFill>
                <a:latin typeface="Montserrat"/>
                <a:cs typeface="Montserrat"/>
              </a:rPr>
              <a:t>/</a:t>
            </a:r>
            <a:r>
              <a:rPr sz="1000" spc="-20" dirty="0">
                <a:solidFill>
                  <a:srgbClr val="9CA2AF"/>
                </a:solidFill>
                <a:latin typeface="Montserrat"/>
                <a:cs typeface="Montserrat"/>
              </a:rPr>
              <a:t> </a:t>
            </a:r>
            <a:r>
              <a:rPr sz="1000" spc="-60" dirty="0">
                <a:solidFill>
                  <a:srgbClr val="9CA2AF"/>
                </a:solidFill>
                <a:latin typeface="Montserrat"/>
                <a:cs typeface="Montserrat"/>
              </a:rPr>
              <a:t>Innings</a:t>
            </a:r>
            <a:r>
              <a:rPr sz="1000" spc="-20" dirty="0">
                <a:solidFill>
                  <a:srgbClr val="9CA2AF"/>
                </a:solidFill>
                <a:latin typeface="Montserrat"/>
                <a:cs typeface="Montserrat"/>
              </a:rPr>
              <a:t> </a:t>
            </a:r>
            <a:r>
              <a:rPr sz="1000" spc="-50" dirty="0">
                <a:solidFill>
                  <a:srgbClr val="9CA2AF"/>
                </a:solidFill>
                <a:latin typeface="Montserrat"/>
                <a:cs typeface="Montserrat"/>
              </a:rPr>
              <a:t>Bowled</a:t>
            </a:r>
            <a:endParaRPr sz="1000" dirty="0">
              <a:latin typeface="Montserrat"/>
              <a:cs typeface="Montserrat"/>
            </a:endParaRPr>
          </a:p>
        </p:txBody>
      </p:sp>
      <p:sp>
        <p:nvSpPr>
          <p:cNvPr id="22" name="TextBox 21">
            <a:extLst>
              <a:ext uri="{FF2B5EF4-FFF2-40B4-BE49-F238E27FC236}">
                <a16:creationId xmlns:a16="http://schemas.microsoft.com/office/drawing/2014/main" id="{3728A68B-CE77-A3CC-6872-C94291518302}"/>
              </a:ext>
            </a:extLst>
          </p:cNvPr>
          <p:cNvSpPr txBox="1"/>
          <p:nvPr/>
        </p:nvSpPr>
        <p:spPr>
          <a:xfrm>
            <a:off x="205757" y="2413338"/>
            <a:ext cx="5111831" cy="2862322"/>
          </a:xfrm>
          <a:prstGeom prst="rect">
            <a:avLst/>
          </a:prstGeom>
          <a:noFill/>
          <a:ln>
            <a:solidFill>
              <a:schemeClr val="bg1"/>
            </a:solidFill>
          </a:ln>
          <a:effectLst>
            <a:glow rad="63500">
              <a:schemeClr val="accent1">
                <a:satMod val="175000"/>
                <a:alpha val="40000"/>
              </a:schemeClr>
            </a:glow>
          </a:effectLst>
        </p:spPr>
        <p:txBody>
          <a:bodyPr wrap="square">
            <a:spAutoFit/>
          </a:bodyPr>
          <a:lstStyle/>
          <a:p>
            <a:r>
              <a:rPr lang="en-US" b="1" u="sng" dirty="0">
                <a:solidFill>
                  <a:schemeClr val="bg1"/>
                </a:solidFill>
              </a:rPr>
              <a:t>Bowling Performance</a:t>
            </a:r>
          </a:p>
          <a:p>
            <a:r>
              <a:rPr lang="en-US" dirty="0">
                <a:solidFill>
                  <a:schemeClr val="bg1"/>
                </a:solidFill>
              </a:rPr>
              <a:t>This query tracks each bowler's bowling average (runs conceded per wicket) across IPL seasons, led by JD Unadkat (28.08) and YS Chahal (25.50). It helps evaluate a player's consistency and impact across different IPL years. For RCB, analyzing seasonal wicket trends supports decisions on retaining effective bowlers or scouting potential replacements for future auctions.</a:t>
            </a:r>
          </a:p>
        </p:txBody>
      </p:sp>
      <p:graphicFrame>
        <p:nvGraphicFramePr>
          <p:cNvPr id="21" name="Chart 20">
            <a:extLst>
              <a:ext uri="{FF2B5EF4-FFF2-40B4-BE49-F238E27FC236}">
                <a16:creationId xmlns:a16="http://schemas.microsoft.com/office/drawing/2014/main" id="{BD5E8DCF-6F8C-1865-853F-2ED54EC1FAB7}"/>
              </a:ext>
            </a:extLst>
          </p:cNvPr>
          <p:cNvGraphicFramePr>
            <a:graphicFrameLocks/>
          </p:cNvGraphicFramePr>
          <p:nvPr>
            <p:extLst>
              <p:ext uri="{D42A27DB-BD31-4B8C-83A1-F6EECF244321}">
                <p14:modId xmlns:p14="http://schemas.microsoft.com/office/powerpoint/2010/main" val="1106108933"/>
              </p:ext>
            </p:extLst>
          </p:nvPr>
        </p:nvGraphicFramePr>
        <p:xfrm>
          <a:off x="6771564" y="1743446"/>
          <a:ext cx="4572000" cy="428886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30885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A721643-2B61-A554-F5CB-8ED0D20743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364D08-6F62-CC14-AE5B-E25A667AF4A2}"/>
              </a:ext>
            </a:extLst>
          </p:cNvPr>
          <p:cNvSpPr txBox="1"/>
          <p:nvPr/>
        </p:nvSpPr>
        <p:spPr>
          <a:xfrm>
            <a:off x="3047223" y="0"/>
            <a:ext cx="609755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Toss Decision Impact</a:t>
            </a:r>
          </a:p>
        </p:txBody>
      </p:sp>
      <p:sp>
        <p:nvSpPr>
          <p:cNvPr id="5" name="object 7">
            <a:extLst>
              <a:ext uri="{FF2B5EF4-FFF2-40B4-BE49-F238E27FC236}">
                <a16:creationId xmlns:a16="http://schemas.microsoft.com/office/drawing/2014/main" id="{7FE6556F-1ED9-3A62-A300-FDD2BEF4EB00}"/>
              </a:ext>
            </a:extLst>
          </p:cNvPr>
          <p:cNvSpPr txBox="1"/>
          <p:nvPr/>
        </p:nvSpPr>
        <p:spPr>
          <a:xfrm>
            <a:off x="2874645" y="611054"/>
            <a:ext cx="6442710" cy="216085"/>
          </a:xfrm>
          <a:prstGeom prst="rect">
            <a:avLst/>
          </a:prstGeom>
        </p:spPr>
        <p:txBody>
          <a:bodyPr vert="horz" wrap="square" lIns="0" tIns="15875" rIns="0" bIns="0" rtlCol="0" anchor="t">
            <a:spAutoFit/>
          </a:bodyPr>
          <a:lstStyle/>
          <a:p>
            <a:pPr marL="12700">
              <a:lnSpc>
                <a:spcPct val="100000"/>
              </a:lnSpc>
              <a:spcBef>
                <a:spcPts val="125"/>
              </a:spcBef>
            </a:pPr>
            <a:r>
              <a:rPr sz="1300" spc="-95" dirty="0">
                <a:solidFill>
                  <a:srgbClr val="D0D5DA"/>
                </a:solidFill>
                <a:latin typeface="Montserrat"/>
                <a:cs typeface="Montserrat"/>
              </a:rPr>
              <a:t>How</a:t>
            </a:r>
            <a:r>
              <a:rPr sz="1300" spc="-15" dirty="0">
                <a:solidFill>
                  <a:srgbClr val="D0D5DA"/>
                </a:solidFill>
                <a:latin typeface="Montserrat"/>
                <a:cs typeface="Montserrat"/>
              </a:rPr>
              <a:t> </a:t>
            </a:r>
            <a:r>
              <a:rPr sz="1300" spc="-65" dirty="0">
                <a:solidFill>
                  <a:srgbClr val="D0D5DA"/>
                </a:solidFill>
                <a:latin typeface="Montserrat"/>
                <a:cs typeface="Montserrat"/>
              </a:rPr>
              <a:t>winning</a:t>
            </a:r>
            <a:r>
              <a:rPr sz="1300" spc="-10" dirty="0">
                <a:solidFill>
                  <a:srgbClr val="D0D5DA"/>
                </a:solidFill>
                <a:latin typeface="Montserrat"/>
                <a:cs typeface="Montserrat"/>
              </a:rPr>
              <a:t> </a:t>
            </a:r>
            <a:r>
              <a:rPr sz="1300" spc="-60" dirty="0">
                <a:solidFill>
                  <a:srgbClr val="D0D5DA"/>
                </a:solidFill>
                <a:latin typeface="Montserrat"/>
                <a:cs typeface="Montserrat"/>
              </a:rPr>
              <a:t>the</a:t>
            </a:r>
            <a:r>
              <a:rPr sz="1300" spc="-10" dirty="0">
                <a:solidFill>
                  <a:srgbClr val="D0D5DA"/>
                </a:solidFill>
                <a:latin typeface="Montserrat"/>
                <a:cs typeface="Montserrat"/>
              </a:rPr>
              <a:t> </a:t>
            </a:r>
            <a:r>
              <a:rPr sz="1300" spc="-60" dirty="0">
                <a:solidFill>
                  <a:srgbClr val="D0D5DA"/>
                </a:solidFill>
                <a:latin typeface="Montserrat"/>
                <a:cs typeface="Montserrat"/>
              </a:rPr>
              <a:t>toss</a:t>
            </a:r>
            <a:r>
              <a:rPr sz="1300" spc="-10" dirty="0">
                <a:solidFill>
                  <a:srgbClr val="D0D5DA"/>
                </a:solidFill>
                <a:latin typeface="Montserrat"/>
                <a:cs typeface="Montserrat"/>
              </a:rPr>
              <a:t> </a:t>
            </a:r>
            <a:r>
              <a:rPr sz="1300" spc="-75" dirty="0">
                <a:solidFill>
                  <a:srgbClr val="D0D5DA"/>
                </a:solidFill>
                <a:latin typeface="Montserrat"/>
                <a:cs typeface="Montserrat"/>
              </a:rPr>
              <a:t>and</a:t>
            </a:r>
            <a:r>
              <a:rPr sz="1300" spc="-15" dirty="0">
                <a:solidFill>
                  <a:srgbClr val="D0D5DA"/>
                </a:solidFill>
                <a:latin typeface="Montserrat"/>
                <a:cs typeface="Montserrat"/>
              </a:rPr>
              <a:t> </a:t>
            </a:r>
            <a:r>
              <a:rPr sz="1300" spc="-65" dirty="0">
                <a:solidFill>
                  <a:srgbClr val="D0D5DA"/>
                </a:solidFill>
                <a:latin typeface="Montserrat"/>
                <a:cs typeface="Montserrat"/>
              </a:rPr>
              <a:t>choosing</a:t>
            </a:r>
            <a:r>
              <a:rPr sz="1300" spc="-10" dirty="0">
                <a:solidFill>
                  <a:srgbClr val="D0D5DA"/>
                </a:solidFill>
                <a:latin typeface="Montserrat"/>
                <a:cs typeface="Montserrat"/>
              </a:rPr>
              <a:t> </a:t>
            </a:r>
            <a:r>
              <a:rPr sz="1300" spc="-75" dirty="0">
                <a:solidFill>
                  <a:srgbClr val="D0D5DA"/>
                </a:solidFill>
                <a:latin typeface="Montserrat"/>
                <a:cs typeface="Montserrat"/>
              </a:rPr>
              <a:t>to</a:t>
            </a:r>
            <a:r>
              <a:rPr sz="1300" spc="-10" dirty="0">
                <a:solidFill>
                  <a:srgbClr val="D0D5DA"/>
                </a:solidFill>
                <a:latin typeface="Montserrat"/>
                <a:cs typeface="Montserrat"/>
              </a:rPr>
              <a:t> </a:t>
            </a:r>
            <a:r>
              <a:rPr sz="1300" spc="-65" dirty="0">
                <a:solidFill>
                  <a:srgbClr val="D0D5DA"/>
                </a:solidFill>
                <a:latin typeface="Montserrat"/>
                <a:cs typeface="Montserrat"/>
              </a:rPr>
              <a:t>bat</a:t>
            </a:r>
            <a:r>
              <a:rPr sz="1300" spc="-10" dirty="0">
                <a:solidFill>
                  <a:srgbClr val="D0D5DA"/>
                </a:solidFill>
                <a:latin typeface="Montserrat"/>
                <a:cs typeface="Montserrat"/>
              </a:rPr>
              <a:t> </a:t>
            </a:r>
            <a:r>
              <a:rPr sz="1300" spc="-50" dirty="0">
                <a:solidFill>
                  <a:srgbClr val="D0D5DA"/>
                </a:solidFill>
                <a:latin typeface="Montserrat"/>
                <a:cs typeface="Montserrat"/>
              </a:rPr>
              <a:t>or</a:t>
            </a:r>
            <a:r>
              <a:rPr sz="1300" spc="-10" dirty="0">
                <a:solidFill>
                  <a:srgbClr val="D0D5DA"/>
                </a:solidFill>
                <a:latin typeface="Montserrat"/>
                <a:cs typeface="Montserrat"/>
              </a:rPr>
              <a:t> </a:t>
            </a:r>
            <a:r>
              <a:rPr sz="1300" spc="-55" dirty="0">
                <a:solidFill>
                  <a:srgbClr val="D0D5DA"/>
                </a:solidFill>
                <a:latin typeface="Montserrat"/>
                <a:cs typeface="Montserrat"/>
              </a:rPr>
              <a:t>field</a:t>
            </a:r>
            <a:r>
              <a:rPr sz="1300" spc="-15" dirty="0">
                <a:solidFill>
                  <a:srgbClr val="D0D5DA"/>
                </a:solidFill>
                <a:latin typeface="Montserrat"/>
                <a:cs typeface="Montserrat"/>
              </a:rPr>
              <a:t> </a:t>
            </a:r>
            <a:r>
              <a:rPr sz="1300" spc="-55" dirty="0">
                <a:solidFill>
                  <a:srgbClr val="D0D5DA"/>
                </a:solidFill>
                <a:latin typeface="Montserrat"/>
                <a:cs typeface="Montserrat"/>
              </a:rPr>
              <a:t>affects</a:t>
            </a:r>
            <a:r>
              <a:rPr sz="1300" spc="-10" dirty="0">
                <a:solidFill>
                  <a:srgbClr val="D0D5DA"/>
                </a:solidFill>
                <a:latin typeface="Montserrat"/>
                <a:cs typeface="Montserrat"/>
              </a:rPr>
              <a:t> </a:t>
            </a:r>
            <a:r>
              <a:rPr sz="1300" spc="-85" dirty="0">
                <a:solidFill>
                  <a:srgbClr val="D0D5DA"/>
                </a:solidFill>
                <a:latin typeface="Montserrat"/>
                <a:cs typeface="Montserrat"/>
              </a:rPr>
              <a:t>match</a:t>
            </a:r>
            <a:r>
              <a:rPr sz="1300" spc="-10" dirty="0">
                <a:solidFill>
                  <a:srgbClr val="D0D5DA"/>
                </a:solidFill>
                <a:latin typeface="Montserrat"/>
                <a:cs typeface="Montserrat"/>
              </a:rPr>
              <a:t> </a:t>
            </a:r>
            <a:r>
              <a:rPr sz="1300" spc="-80" dirty="0">
                <a:solidFill>
                  <a:srgbClr val="D0D5DA"/>
                </a:solidFill>
                <a:latin typeface="Montserrat"/>
                <a:cs typeface="Montserrat"/>
              </a:rPr>
              <a:t>outcomes</a:t>
            </a:r>
            <a:r>
              <a:rPr sz="1300" spc="-10" dirty="0">
                <a:solidFill>
                  <a:srgbClr val="D0D5DA"/>
                </a:solidFill>
                <a:latin typeface="Montserrat"/>
                <a:cs typeface="Montserrat"/>
              </a:rPr>
              <a:t> </a:t>
            </a:r>
            <a:endParaRPr lang="en-US" sz="1300" spc="-10" dirty="0">
              <a:solidFill>
                <a:srgbClr val="D0D5DA"/>
              </a:solidFill>
              <a:latin typeface="Montserrat"/>
              <a:cs typeface="Montserrat"/>
            </a:endParaRPr>
          </a:p>
        </p:txBody>
      </p:sp>
      <p:sp>
        <p:nvSpPr>
          <p:cNvPr id="29" name="TextBox 28">
            <a:extLst>
              <a:ext uri="{FF2B5EF4-FFF2-40B4-BE49-F238E27FC236}">
                <a16:creationId xmlns:a16="http://schemas.microsoft.com/office/drawing/2014/main" id="{B26AEA1B-FC22-F6AF-AB0B-53F224EF0C54}"/>
              </a:ext>
            </a:extLst>
          </p:cNvPr>
          <p:cNvSpPr txBox="1"/>
          <p:nvPr/>
        </p:nvSpPr>
        <p:spPr>
          <a:xfrm>
            <a:off x="6310326" y="1577613"/>
            <a:ext cx="5662522" cy="2123658"/>
          </a:xfrm>
          <a:prstGeom prst="rect">
            <a:avLst/>
          </a:prstGeom>
          <a:noFill/>
          <a:ln>
            <a:solidFill>
              <a:schemeClr val="bg1"/>
            </a:solidFill>
          </a:ln>
          <a:effectLst>
            <a:glow rad="63500">
              <a:schemeClr val="accent1">
                <a:satMod val="175000"/>
                <a:alpha val="40000"/>
              </a:schemeClr>
            </a:glow>
          </a:effectLst>
        </p:spPr>
        <p:txBody>
          <a:bodyPr wrap="square" lIns="91440" tIns="45720" rIns="91440" bIns="45720" anchor="t">
            <a:spAutoFit/>
          </a:bodyPr>
          <a:lstStyle/>
          <a:p>
            <a:pPr algn="ctr"/>
            <a:r>
              <a:rPr lang="en-US" b="1" u="sng" dirty="0">
                <a:solidFill>
                  <a:schemeClr val="bg1"/>
                </a:solidFill>
                <a:effectLst>
                  <a:outerShdw blurRad="38100" dist="38100" dir="2700000" algn="tl">
                    <a:srgbClr val="000000">
                      <a:alpha val="43137"/>
                    </a:srgbClr>
                  </a:outerShdw>
                </a:effectLst>
              </a:rPr>
              <a:t>Impact of Toss Decision on Match Decision</a:t>
            </a:r>
            <a:endParaRPr lang="en-US"/>
          </a:p>
          <a:p>
            <a:endParaRPr lang="en-US" b="1" u="sng" dirty="0">
              <a:solidFill>
                <a:schemeClr val="bg1"/>
              </a:solidFill>
              <a:effectLst>
                <a:outerShdw blurRad="38100" dist="38100" dir="2700000" algn="tl">
                  <a:srgbClr val="000000">
                    <a:alpha val="43137"/>
                  </a:srgbClr>
                </a:outerShdw>
              </a:effectLst>
            </a:endParaRPr>
          </a:p>
          <a:p>
            <a:pPr>
              <a:buNone/>
            </a:pPr>
            <a:r>
              <a:rPr lang="en-US" sz="1600" dirty="0">
                <a:solidFill>
                  <a:schemeClr val="bg1"/>
                </a:solidFill>
              </a:rPr>
              <a:t>This analyzes how toss decisions (bat or field first) influence match outcomes across different venues. It calculates the percentage of matches won by teams that won the toss. These insights help RCB optimize match-day strategies based on venue-specific trends and inform decisions during high-pressure toss moments.</a:t>
            </a:r>
          </a:p>
        </p:txBody>
      </p:sp>
      <p:graphicFrame>
        <p:nvGraphicFramePr>
          <p:cNvPr id="6" name="Chart 5">
            <a:extLst>
              <a:ext uri="{FF2B5EF4-FFF2-40B4-BE49-F238E27FC236}">
                <a16:creationId xmlns:a16="http://schemas.microsoft.com/office/drawing/2014/main" id="{C0CE20ED-38D4-043B-F0D0-5F36957A263B}"/>
              </a:ext>
            </a:extLst>
          </p:cNvPr>
          <p:cNvGraphicFramePr/>
          <p:nvPr>
            <p:extLst>
              <p:ext uri="{D42A27DB-BD31-4B8C-83A1-F6EECF244321}">
                <p14:modId xmlns:p14="http://schemas.microsoft.com/office/powerpoint/2010/main" val="316739397"/>
              </p:ext>
            </p:extLst>
          </p:nvPr>
        </p:nvGraphicFramePr>
        <p:xfrm>
          <a:off x="150164" y="1326240"/>
          <a:ext cx="5945835" cy="51837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2964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C5DF3BE-E24A-D1A1-DB50-491502FC502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722A5D1-0390-1C91-04B1-D10E5B8FCA3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AF4C7256-0839-6678-D167-954F0EF3160E}"/>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33" name="TextBox 32">
            <a:extLst>
              <a:ext uri="{FF2B5EF4-FFF2-40B4-BE49-F238E27FC236}">
                <a16:creationId xmlns:a16="http://schemas.microsoft.com/office/drawing/2014/main" id="{890F5E42-EE55-C9ED-235F-5043C033F2DC}"/>
              </a:ext>
            </a:extLst>
          </p:cNvPr>
          <p:cNvSpPr txBox="1"/>
          <p:nvPr/>
        </p:nvSpPr>
        <p:spPr>
          <a:xfrm>
            <a:off x="1566075" y="84329"/>
            <a:ext cx="8053095" cy="584775"/>
          </a:xfrm>
          <a:prstGeom prst="rect">
            <a:avLst/>
          </a:prstGeom>
          <a:noFill/>
        </p:spPr>
        <p:txBody>
          <a:bodyPr wrap="square" lIns="91440" tIns="45720" rIns="91440" bIns="45720" anchor="t">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Win-Loss Pattern </a:t>
            </a:r>
          </a:p>
        </p:txBody>
      </p:sp>
      <p:sp>
        <p:nvSpPr>
          <p:cNvPr id="39" name="TextBox 38">
            <a:extLst>
              <a:ext uri="{FF2B5EF4-FFF2-40B4-BE49-F238E27FC236}">
                <a16:creationId xmlns:a16="http://schemas.microsoft.com/office/drawing/2014/main" id="{9CBF725E-34B9-D8E4-4A48-B71E7E15FEEA}"/>
              </a:ext>
            </a:extLst>
          </p:cNvPr>
          <p:cNvSpPr txBox="1"/>
          <p:nvPr/>
        </p:nvSpPr>
        <p:spPr>
          <a:xfrm>
            <a:off x="6735317" y="1336809"/>
            <a:ext cx="5212602" cy="3539430"/>
          </a:xfrm>
          <a:prstGeom prst="rect">
            <a:avLst/>
          </a:prstGeom>
          <a:noFill/>
          <a:ln>
            <a:solidFill>
              <a:schemeClr val="bg1"/>
            </a:solidFill>
          </a:ln>
          <a:effectLst>
            <a:glow rad="63500">
              <a:schemeClr val="accent1">
                <a:satMod val="175000"/>
                <a:alpha val="40000"/>
              </a:schemeClr>
            </a:glow>
          </a:effectLst>
        </p:spPr>
        <p:txBody>
          <a:bodyPr wrap="square" lIns="91440" tIns="45720" rIns="91440" bIns="45720" anchor="t">
            <a:spAutoFit/>
          </a:bodyPr>
          <a:lstStyle/>
          <a:p>
            <a:pPr algn="ctr"/>
            <a:r>
              <a:rPr lang="en-IN" b="1" u="sng" dirty="0">
                <a:solidFill>
                  <a:schemeClr val="bg1"/>
                </a:solidFill>
                <a:effectLst>
                  <a:outerShdw blurRad="38100" dist="38100" dir="2700000" algn="tl">
                    <a:srgbClr val="000000">
                      <a:alpha val="43137"/>
                    </a:srgbClr>
                  </a:outerShdw>
                </a:effectLst>
              </a:rPr>
              <a:t>RCB's Venue-Wise Performance</a:t>
            </a:r>
            <a:endParaRPr lang="en-US" b="1" u="sng" dirty="0">
              <a:solidFill>
                <a:schemeClr val="bg1"/>
              </a:solidFill>
              <a:effectLst>
                <a:outerShdw blurRad="38100" dist="38100" dir="2700000" algn="tl">
                  <a:srgbClr val="000000">
                    <a:alpha val="43137"/>
                  </a:srgbClr>
                </a:outerShdw>
              </a:effectLst>
            </a:endParaRPr>
          </a:p>
          <a:p>
            <a:endParaRPr lang="en-IN" sz="1600" dirty="0">
              <a:solidFill>
                <a:schemeClr val="bg1"/>
              </a:solidFill>
            </a:endParaRPr>
          </a:p>
          <a:p>
            <a:r>
              <a:rPr lang="en-IN" sz="1600" dirty="0">
                <a:solidFill>
                  <a:schemeClr val="bg1"/>
                </a:solidFill>
              </a:rPr>
              <a:t>RCB have a mixed win-loss record by venue. They have played most matches at M </a:t>
            </a:r>
            <a:r>
              <a:rPr lang="en-IN" sz="1600" dirty="0" err="1">
                <a:solidFill>
                  <a:schemeClr val="bg1"/>
                </a:solidFill>
              </a:rPr>
              <a:t>Chinnaswamy</a:t>
            </a:r>
            <a:r>
              <a:rPr lang="en-IN" sz="1600" dirty="0">
                <a:solidFill>
                  <a:schemeClr val="bg1"/>
                </a:solidFill>
              </a:rPr>
              <a:t> Stadium, their home ground, with an almost equal number of wins (16) and losses (11), showing moderate home advantage. At several venues like Feroz Shah Kotla and Maharashtra Cricket Association Stadium, RCB have maintained an unbeaten record, reflecting strong adaptability. However, venues like Wankhede Stadium and Rajiv Gandhi International Stadium have seen more losses than wins, indicating challenging conditions. Improving performance at these tough venues could enhance RCB's overall success and consistency.</a:t>
            </a:r>
            <a:endParaRPr lang="en-US" sz="1600">
              <a:solidFill>
                <a:schemeClr val="bg1"/>
              </a:solidFill>
            </a:endParaRPr>
          </a:p>
        </p:txBody>
      </p:sp>
      <p:sp>
        <p:nvSpPr>
          <p:cNvPr id="40" name="object 7">
            <a:extLst>
              <a:ext uri="{FF2B5EF4-FFF2-40B4-BE49-F238E27FC236}">
                <a16:creationId xmlns:a16="http://schemas.microsoft.com/office/drawing/2014/main" id="{62DC269D-A3C3-5CAC-4461-B94FA0A8F310}"/>
              </a:ext>
            </a:extLst>
          </p:cNvPr>
          <p:cNvSpPr txBox="1"/>
          <p:nvPr/>
        </p:nvSpPr>
        <p:spPr>
          <a:xfrm>
            <a:off x="2866249" y="611054"/>
            <a:ext cx="5452745" cy="215444"/>
          </a:xfrm>
          <a:prstGeom prst="rect">
            <a:avLst/>
          </a:prstGeom>
        </p:spPr>
        <p:txBody>
          <a:bodyPr vert="horz" wrap="square" lIns="0" tIns="15240" rIns="0" bIns="0" rtlCol="0" anchor="t">
            <a:spAutoFit/>
          </a:bodyPr>
          <a:lstStyle/>
          <a:p>
            <a:pPr marL="12700" algn="ctr">
              <a:lnSpc>
                <a:spcPct val="100000"/>
              </a:lnSpc>
              <a:spcBef>
                <a:spcPts val="120"/>
              </a:spcBef>
            </a:pPr>
            <a:r>
              <a:rPr sz="1300" spc="-95" dirty="0">
                <a:solidFill>
                  <a:srgbClr val="D0D5DA"/>
                </a:solidFill>
                <a:latin typeface="Montserrat"/>
                <a:cs typeface="Montserrat"/>
              </a:rPr>
              <a:t>How</a:t>
            </a:r>
            <a:r>
              <a:rPr sz="1300" dirty="0">
                <a:solidFill>
                  <a:srgbClr val="D0D5DA"/>
                </a:solidFill>
                <a:latin typeface="Montserrat"/>
                <a:cs typeface="Montserrat"/>
              </a:rPr>
              <a:t> </a:t>
            </a:r>
            <a:r>
              <a:rPr sz="1300" spc="-75" dirty="0">
                <a:solidFill>
                  <a:srgbClr val="D0D5DA"/>
                </a:solidFill>
                <a:latin typeface="Montserrat"/>
                <a:cs typeface="Montserrat"/>
              </a:rPr>
              <a:t>venues</a:t>
            </a:r>
            <a:r>
              <a:rPr sz="1300" dirty="0">
                <a:solidFill>
                  <a:srgbClr val="D0D5DA"/>
                </a:solidFill>
                <a:latin typeface="Montserrat"/>
                <a:cs typeface="Montserrat"/>
              </a:rPr>
              <a:t> </a:t>
            </a:r>
            <a:r>
              <a:rPr sz="1300" spc="-60" dirty="0">
                <a:solidFill>
                  <a:srgbClr val="D0D5DA"/>
                </a:solidFill>
                <a:latin typeface="Montserrat"/>
                <a:cs typeface="Montserrat"/>
              </a:rPr>
              <a:t>affect</a:t>
            </a:r>
            <a:r>
              <a:rPr sz="1300" dirty="0">
                <a:solidFill>
                  <a:srgbClr val="D0D5DA"/>
                </a:solidFill>
                <a:latin typeface="Montserrat"/>
                <a:cs typeface="Montserrat"/>
              </a:rPr>
              <a:t> </a:t>
            </a:r>
            <a:r>
              <a:rPr sz="1300" spc="-90" dirty="0">
                <a:solidFill>
                  <a:srgbClr val="D0D5DA"/>
                </a:solidFill>
                <a:latin typeface="Montserrat"/>
                <a:cs typeface="Montserrat"/>
              </a:rPr>
              <a:t>team</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endParaRPr lang="en-US" sz="1300" spc="-10" dirty="0">
              <a:solidFill>
                <a:srgbClr val="D0D5DA"/>
              </a:solidFill>
              <a:latin typeface="Montserrat"/>
              <a:cs typeface="Montserrat"/>
            </a:endParaRPr>
          </a:p>
        </p:txBody>
      </p:sp>
      <p:sp>
        <p:nvSpPr>
          <p:cNvPr id="4" name="TextBox 3">
            <a:extLst>
              <a:ext uri="{FF2B5EF4-FFF2-40B4-BE49-F238E27FC236}">
                <a16:creationId xmlns:a16="http://schemas.microsoft.com/office/drawing/2014/main" id="{80B0F0E6-6FAC-1ECF-C661-35F3FD98D0CA}"/>
              </a:ext>
            </a:extLst>
          </p:cNvPr>
          <p:cNvSpPr txBox="1"/>
          <p:nvPr/>
        </p:nvSpPr>
        <p:spPr>
          <a:xfrm>
            <a:off x="804862" y="1045446"/>
            <a:ext cx="6093724" cy="307777"/>
          </a:xfrm>
          <a:prstGeom prst="rect">
            <a:avLst/>
          </a:prstGeom>
          <a:noFill/>
        </p:spPr>
        <p:txBody>
          <a:bodyPr wrap="square">
            <a:spAutoFit/>
          </a:bodyPr>
          <a:lstStyle/>
          <a:p>
            <a:pPr algn="ctr" rtl="0">
              <a:defRPr sz="1400" b="1" i="0" u="none" strike="noStrike" kern="1200" spc="0" baseline="0">
                <a:solidFill>
                  <a:srgbClr val="FFFFFF"/>
                </a:solidFill>
                <a:latin typeface="+mn-lt"/>
                <a:ea typeface="+mn-ea"/>
                <a:cs typeface="+mn-cs"/>
              </a:defRPr>
            </a:pPr>
            <a:r>
              <a:rPr lang="en-US" dirty="0"/>
              <a:t>RCB Win Loss Pattern by Venue</a:t>
            </a:r>
          </a:p>
        </p:txBody>
      </p:sp>
      <p:graphicFrame>
        <p:nvGraphicFramePr>
          <p:cNvPr id="5" name="Chart 4">
            <a:extLst>
              <a:ext uri="{FF2B5EF4-FFF2-40B4-BE49-F238E27FC236}">
                <a16:creationId xmlns:a16="http://schemas.microsoft.com/office/drawing/2014/main" id="{DA1D9BB1-12D7-81DC-C0FE-9F140FACC2F4}"/>
              </a:ext>
            </a:extLst>
          </p:cNvPr>
          <p:cNvGraphicFramePr>
            <a:graphicFrameLocks/>
          </p:cNvGraphicFramePr>
          <p:nvPr>
            <p:extLst>
              <p:ext uri="{D42A27DB-BD31-4B8C-83A1-F6EECF244321}">
                <p14:modId xmlns:p14="http://schemas.microsoft.com/office/powerpoint/2010/main" val="1776212523"/>
              </p:ext>
            </p:extLst>
          </p:nvPr>
        </p:nvGraphicFramePr>
        <p:xfrm>
          <a:off x="368490" y="1353223"/>
          <a:ext cx="6251385" cy="47609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27917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7D33707-92B0-EFBA-A06E-CF938EC83092}"/>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546ABF8A-AE25-4D01-41E0-C55A63A331F5}"/>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10617109" y="0"/>
            <a:ext cx="1574890" cy="895739"/>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5ECF15C7-D87C-828F-605A-52A23B99F80D}"/>
              </a:ext>
            </a:extLst>
          </p:cNvPr>
          <p:cNvPicPr>
            <a:picLocks noChangeAspect="1"/>
          </p:cNvPicPr>
          <p:nvPr/>
        </p:nvPicPr>
        <p:blipFill>
          <a:blip r:embed="rId2"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6" name="TextBox 5">
            <a:extLst>
              <a:ext uri="{FF2B5EF4-FFF2-40B4-BE49-F238E27FC236}">
                <a16:creationId xmlns:a16="http://schemas.microsoft.com/office/drawing/2014/main" id="{AD8E3E81-6B25-A1DD-511A-6AE9AF1CFB96}"/>
              </a:ext>
            </a:extLst>
          </p:cNvPr>
          <p:cNvSpPr txBox="1"/>
          <p:nvPr/>
        </p:nvSpPr>
        <p:spPr>
          <a:xfrm>
            <a:off x="1133573" y="155481"/>
            <a:ext cx="9760598"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Team Insights: RCB Performance Analysis</a:t>
            </a:r>
          </a:p>
        </p:txBody>
      </p:sp>
      <p:sp>
        <p:nvSpPr>
          <p:cNvPr id="13" name="TextBox 12">
            <a:extLst>
              <a:ext uri="{FF2B5EF4-FFF2-40B4-BE49-F238E27FC236}">
                <a16:creationId xmlns:a16="http://schemas.microsoft.com/office/drawing/2014/main" id="{3DDCD17A-C037-AE7E-0636-E93F9D843C46}"/>
              </a:ext>
            </a:extLst>
          </p:cNvPr>
          <p:cNvSpPr txBox="1"/>
          <p:nvPr/>
        </p:nvSpPr>
        <p:spPr>
          <a:xfrm>
            <a:off x="2649894" y="4989953"/>
            <a:ext cx="9342276" cy="1754326"/>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b="1" u="sng" dirty="0">
                <a:solidFill>
                  <a:schemeClr val="bg1"/>
                </a:solidFill>
              </a:rPr>
              <a:t>RCB's Seasonal Performance Overview (2013–2016):</a:t>
            </a:r>
          </a:p>
          <a:p>
            <a:pPr>
              <a:buNone/>
            </a:pPr>
            <a:r>
              <a:rPr lang="en-US" dirty="0">
                <a:solidFill>
                  <a:schemeClr val="bg1"/>
                </a:solidFill>
              </a:rPr>
              <a:t>This analysis tracks RCB’s win percentage across IPL seasons from 2013 to 2016. The data reveals </a:t>
            </a:r>
            <a:r>
              <a:rPr lang="en-US" b="1" dirty="0">
                <a:solidFill>
                  <a:schemeClr val="bg1"/>
                </a:solidFill>
              </a:rPr>
              <a:t>fluctuating form</a:t>
            </a:r>
            <a:r>
              <a:rPr lang="en-US" dirty="0">
                <a:solidFill>
                  <a:schemeClr val="bg1"/>
                </a:solidFill>
              </a:rPr>
              <a:t>, with the </a:t>
            </a:r>
            <a:r>
              <a:rPr lang="en-US" b="1" dirty="0">
                <a:solidFill>
                  <a:schemeClr val="bg1"/>
                </a:solidFill>
              </a:rPr>
              <a:t>highest win rate at 56.25% in both 2013 and 2016</a:t>
            </a:r>
            <a:r>
              <a:rPr lang="en-US" dirty="0">
                <a:solidFill>
                  <a:schemeClr val="bg1"/>
                </a:solidFill>
              </a:rPr>
              <a:t> (9 wins in 16 matches each) and the </a:t>
            </a:r>
            <a:r>
              <a:rPr lang="en-US" b="1" dirty="0">
                <a:solidFill>
                  <a:schemeClr val="bg1"/>
                </a:solidFill>
              </a:rPr>
              <a:t>lowest at 35.71% in 2014</a:t>
            </a:r>
            <a:r>
              <a:rPr lang="en-US" dirty="0">
                <a:solidFill>
                  <a:schemeClr val="bg1"/>
                </a:solidFill>
              </a:rPr>
              <a:t> (5 wins in 14 matches), while 2015 saw a moderate 50% win rate (8 wins in 14). With an overall average of 49.55% across these four seasons, such fluctuations highlight the need for greater consistency in team selection and leadership—when preparing for future auctions and squad rebuilding.</a:t>
            </a:r>
          </a:p>
        </p:txBody>
      </p:sp>
      <p:sp>
        <p:nvSpPr>
          <p:cNvPr id="14" name="object 7">
            <a:extLst>
              <a:ext uri="{FF2B5EF4-FFF2-40B4-BE49-F238E27FC236}">
                <a16:creationId xmlns:a16="http://schemas.microsoft.com/office/drawing/2014/main" id="{64B67AA7-F08B-403E-915A-54101D0A0298}"/>
              </a:ext>
            </a:extLst>
          </p:cNvPr>
          <p:cNvSpPr txBox="1"/>
          <p:nvPr/>
        </p:nvSpPr>
        <p:spPr>
          <a:xfrm>
            <a:off x="2246316" y="687188"/>
            <a:ext cx="7258050" cy="227329"/>
          </a:xfrm>
          <a:prstGeom prst="rect">
            <a:avLst/>
          </a:prstGeom>
        </p:spPr>
        <p:txBody>
          <a:bodyPr vert="horz" wrap="square" lIns="0" tIns="15875" rIns="0" bIns="0" rtlCol="0">
            <a:spAutoFit/>
          </a:bodyPr>
          <a:lstStyle/>
          <a:p>
            <a:pPr marL="12700">
              <a:lnSpc>
                <a:spcPct val="100000"/>
              </a:lnSpc>
              <a:spcBef>
                <a:spcPts val="125"/>
              </a:spcBef>
            </a:pPr>
            <a:r>
              <a:rPr sz="1300" spc="-65" dirty="0">
                <a:solidFill>
                  <a:srgbClr val="D0D5DA"/>
                </a:solidFill>
                <a:latin typeface="Montserrat"/>
                <a:cs typeface="Montserrat"/>
              </a:rPr>
              <a:t>Analyzing</a:t>
            </a:r>
            <a:r>
              <a:rPr sz="1300" spc="-5" dirty="0">
                <a:solidFill>
                  <a:srgbClr val="D0D5DA"/>
                </a:solidFill>
                <a:latin typeface="Montserrat"/>
                <a:cs typeface="Montserrat"/>
              </a:rPr>
              <a:t> </a:t>
            </a:r>
            <a:r>
              <a:rPr sz="1300" spc="-75" dirty="0">
                <a:solidFill>
                  <a:srgbClr val="D0D5DA"/>
                </a:solidFill>
                <a:latin typeface="Montserrat"/>
                <a:cs typeface="Montserrat"/>
              </a:rPr>
              <a:t>Royal</a:t>
            </a:r>
            <a:r>
              <a:rPr sz="1300" dirty="0">
                <a:solidFill>
                  <a:srgbClr val="D0D5DA"/>
                </a:solidFill>
                <a:latin typeface="Montserrat"/>
                <a:cs typeface="Montserrat"/>
              </a:rPr>
              <a:t> </a:t>
            </a:r>
            <a:r>
              <a:rPr sz="1300" spc="-60" dirty="0">
                <a:solidFill>
                  <a:srgbClr val="D0D5DA"/>
                </a:solidFill>
                <a:latin typeface="Montserrat"/>
                <a:cs typeface="Montserrat"/>
              </a:rPr>
              <a:t>Challengers</a:t>
            </a:r>
            <a:r>
              <a:rPr sz="1300" dirty="0">
                <a:solidFill>
                  <a:srgbClr val="D0D5DA"/>
                </a:solidFill>
                <a:latin typeface="Montserrat"/>
                <a:cs typeface="Montserrat"/>
              </a:rPr>
              <a:t> </a:t>
            </a:r>
            <a:r>
              <a:rPr sz="1300" spc="-65" dirty="0">
                <a:solidFill>
                  <a:srgbClr val="D0D5DA"/>
                </a:solidFill>
                <a:latin typeface="Montserrat"/>
                <a:cs typeface="Montserrat"/>
              </a:rPr>
              <a:t>Bangalore's</a:t>
            </a:r>
            <a:r>
              <a:rPr sz="1300" spc="-5" dirty="0">
                <a:solidFill>
                  <a:srgbClr val="D0D5DA"/>
                </a:solidFill>
                <a:latin typeface="Montserrat"/>
                <a:cs typeface="Montserrat"/>
              </a:rPr>
              <a:t> </a:t>
            </a:r>
            <a:r>
              <a:rPr sz="1300" spc="-60" dirty="0">
                <a:solidFill>
                  <a:srgbClr val="D0D5DA"/>
                </a:solidFill>
                <a:latin typeface="Montserrat"/>
                <a:cs typeface="Montserrat"/>
              </a:rPr>
              <a:t>journey,</a:t>
            </a:r>
            <a:r>
              <a:rPr sz="1300"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trends,</a:t>
            </a:r>
            <a:r>
              <a:rPr sz="1300" dirty="0">
                <a:solidFill>
                  <a:srgbClr val="D0D5DA"/>
                </a:solidFill>
                <a:latin typeface="Montserrat"/>
                <a:cs typeface="Montserrat"/>
              </a:rPr>
              <a:t> </a:t>
            </a:r>
            <a:r>
              <a:rPr sz="1300" spc="-75" dirty="0">
                <a:solidFill>
                  <a:srgbClr val="D0D5DA"/>
                </a:solidFill>
                <a:latin typeface="Montserrat"/>
                <a:cs typeface="Montserrat"/>
              </a:rPr>
              <a:t>and</a:t>
            </a:r>
            <a:r>
              <a:rPr sz="1300" spc="-5" dirty="0">
                <a:solidFill>
                  <a:srgbClr val="D0D5DA"/>
                </a:solidFill>
                <a:latin typeface="Montserrat"/>
                <a:cs typeface="Montserrat"/>
              </a:rPr>
              <a:t> </a:t>
            </a:r>
            <a:r>
              <a:rPr sz="1300" spc="-70" dirty="0">
                <a:solidFill>
                  <a:srgbClr val="D0D5DA"/>
                </a:solidFill>
                <a:latin typeface="Montserrat"/>
                <a:cs typeface="Montserrat"/>
              </a:rPr>
              <a:t>strategic</a:t>
            </a:r>
            <a:r>
              <a:rPr sz="1300" dirty="0">
                <a:solidFill>
                  <a:srgbClr val="D0D5DA"/>
                </a:solidFill>
                <a:latin typeface="Montserrat"/>
                <a:cs typeface="Montserrat"/>
              </a:rPr>
              <a:t> </a:t>
            </a:r>
            <a:r>
              <a:rPr sz="1300" spc="-20" dirty="0">
                <a:solidFill>
                  <a:srgbClr val="D0D5DA"/>
                </a:solidFill>
                <a:latin typeface="Montserrat"/>
                <a:cs typeface="Montserrat"/>
              </a:rPr>
              <a:t>challenges</a:t>
            </a:r>
            <a:endParaRPr sz="1300" dirty="0">
              <a:latin typeface="Montserrat"/>
              <a:cs typeface="Montserrat"/>
            </a:endParaRPr>
          </a:p>
        </p:txBody>
      </p:sp>
      <p:graphicFrame>
        <p:nvGraphicFramePr>
          <p:cNvPr id="3" name="Chart 2">
            <a:extLst>
              <a:ext uri="{FF2B5EF4-FFF2-40B4-BE49-F238E27FC236}">
                <a16:creationId xmlns:a16="http://schemas.microsoft.com/office/drawing/2014/main" id="{94B16610-F692-75A9-228B-6900466C051D}"/>
              </a:ext>
            </a:extLst>
          </p:cNvPr>
          <p:cNvGraphicFramePr>
            <a:graphicFrameLocks/>
          </p:cNvGraphicFramePr>
          <p:nvPr>
            <p:extLst>
              <p:ext uri="{D42A27DB-BD31-4B8C-83A1-F6EECF244321}">
                <p14:modId xmlns:p14="http://schemas.microsoft.com/office/powerpoint/2010/main" val="3013156573"/>
              </p:ext>
            </p:extLst>
          </p:nvPr>
        </p:nvGraphicFramePr>
        <p:xfrm>
          <a:off x="2649894" y="800796"/>
          <a:ext cx="8564342" cy="40754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7056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83B11E6-68A0-4BBF-9414-D08395DB93A6}"/>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7C88F752-F39B-F04D-F864-0745CACFD41E}"/>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711012" y="0"/>
            <a:ext cx="2480988" cy="1411094"/>
          </a:xfrm>
          <a:prstGeom prst="rect">
            <a:avLst/>
          </a:prstGeom>
        </p:spPr>
      </p:pic>
      <p:sp>
        <p:nvSpPr>
          <p:cNvPr id="4" name="TextBox 3">
            <a:extLst>
              <a:ext uri="{FF2B5EF4-FFF2-40B4-BE49-F238E27FC236}">
                <a16:creationId xmlns:a16="http://schemas.microsoft.com/office/drawing/2014/main" id="{B47EBAD1-FD69-DB96-1BE7-D8C73F17F06C}"/>
              </a:ext>
            </a:extLst>
          </p:cNvPr>
          <p:cNvSpPr txBox="1"/>
          <p:nvPr/>
        </p:nvSpPr>
        <p:spPr>
          <a:xfrm>
            <a:off x="1231641" y="148456"/>
            <a:ext cx="8847752" cy="646331"/>
          </a:xfrm>
          <a:prstGeom prst="rect">
            <a:avLst/>
          </a:prstGeom>
          <a:noFill/>
        </p:spPr>
        <p:txBody>
          <a:bodyPr wrap="square">
            <a:spAutoFit/>
          </a:bodyPr>
          <a:lstStyle/>
          <a:p>
            <a:pPr algn="ctr"/>
            <a:r>
              <a:rPr lang="en-US" sz="36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Strategic KPIs for Team Success</a:t>
            </a:r>
          </a:p>
        </p:txBody>
      </p:sp>
      <p:sp>
        <p:nvSpPr>
          <p:cNvPr id="5" name="object 7">
            <a:extLst>
              <a:ext uri="{FF2B5EF4-FFF2-40B4-BE49-F238E27FC236}">
                <a16:creationId xmlns:a16="http://schemas.microsoft.com/office/drawing/2014/main" id="{6F0655A6-C0B5-14CB-E028-C37E2AC2B29C}"/>
              </a:ext>
            </a:extLst>
          </p:cNvPr>
          <p:cNvSpPr txBox="1"/>
          <p:nvPr/>
        </p:nvSpPr>
        <p:spPr>
          <a:xfrm>
            <a:off x="2453691" y="724719"/>
            <a:ext cx="6176010" cy="227329"/>
          </a:xfrm>
          <a:prstGeom prst="rect">
            <a:avLst/>
          </a:prstGeom>
        </p:spPr>
        <p:txBody>
          <a:bodyPr vert="horz" wrap="square" lIns="0" tIns="15875" rIns="0" bIns="0" rtlCol="0">
            <a:spAutoFit/>
          </a:bodyPr>
          <a:lstStyle/>
          <a:p>
            <a:pPr marL="12700">
              <a:lnSpc>
                <a:spcPct val="100000"/>
              </a:lnSpc>
              <a:spcBef>
                <a:spcPts val="125"/>
              </a:spcBef>
            </a:pPr>
            <a:r>
              <a:rPr sz="1300" spc="-85" dirty="0">
                <a:solidFill>
                  <a:srgbClr val="D0D5DA"/>
                </a:solidFill>
                <a:latin typeface="Montserrat"/>
                <a:cs typeface="Montserrat"/>
              </a:rPr>
              <a:t>Key</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spc="10" dirty="0">
                <a:solidFill>
                  <a:srgbClr val="D0D5DA"/>
                </a:solidFill>
                <a:latin typeface="Montserrat"/>
                <a:cs typeface="Montserrat"/>
              </a:rPr>
              <a:t> </a:t>
            </a:r>
            <a:r>
              <a:rPr sz="1300" spc="-60" dirty="0">
                <a:solidFill>
                  <a:srgbClr val="D0D5DA"/>
                </a:solidFill>
                <a:latin typeface="Montserrat"/>
                <a:cs typeface="Montserrat"/>
              </a:rPr>
              <a:t>Indicators</a:t>
            </a:r>
            <a:r>
              <a:rPr sz="1300" spc="10" dirty="0">
                <a:solidFill>
                  <a:srgbClr val="D0D5DA"/>
                </a:solidFill>
                <a:latin typeface="Montserrat"/>
                <a:cs typeface="Montserrat"/>
              </a:rPr>
              <a:t> </a:t>
            </a:r>
            <a:r>
              <a:rPr sz="1300" spc="-60" dirty="0">
                <a:solidFill>
                  <a:srgbClr val="D0D5DA"/>
                </a:solidFill>
                <a:latin typeface="Montserrat"/>
                <a:cs typeface="Montserrat"/>
              </a:rPr>
              <a:t>that</a:t>
            </a:r>
            <a:r>
              <a:rPr sz="1300" spc="10" dirty="0">
                <a:solidFill>
                  <a:srgbClr val="D0D5DA"/>
                </a:solidFill>
                <a:latin typeface="Montserrat"/>
                <a:cs typeface="Montserrat"/>
              </a:rPr>
              <a:t> </a:t>
            </a:r>
            <a:r>
              <a:rPr sz="1300" spc="-65" dirty="0">
                <a:solidFill>
                  <a:srgbClr val="D0D5DA"/>
                </a:solidFill>
                <a:latin typeface="Montserrat"/>
                <a:cs typeface="Montserrat"/>
              </a:rPr>
              <a:t>drive</a:t>
            </a:r>
            <a:r>
              <a:rPr sz="1300" spc="10" dirty="0">
                <a:solidFill>
                  <a:srgbClr val="D0D5DA"/>
                </a:solidFill>
                <a:latin typeface="Montserrat"/>
                <a:cs typeface="Montserrat"/>
              </a:rPr>
              <a:t> </a:t>
            </a:r>
            <a:r>
              <a:rPr sz="1300" spc="-70" dirty="0">
                <a:solidFill>
                  <a:srgbClr val="D0D5DA"/>
                </a:solidFill>
                <a:latin typeface="Montserrat"/>
                <a:cs typeface="Montserrat"/>
              </a:rPr>
              <a:t>strategic</a:t>
            </a:r>
            <a:r>
              <a:rPr sz="1300" spc="10" dirty="0">
                <a:solidFill>
                  <a:srgbClr val="D0D5DA"/>
                </a:solidFill>
                <a:latin typeface="Montserrat"/>
                <a:cs typeface="Montserrat"/>
              </a:rPr>
              <a:t> </a:t>
            </a:r>
            <a:r>
              <a:rPr sz="1300" spc="-65" dirty="0">
                <a:solidFill>
                  <a:srgbClr val="D0D5DA"/>
                </a:solidFill>
                <a:latin typeface="Montserrat"/>
                <a:cs typeface="Montserrat"/>
              </a:rPr>
              <a:t>decisions</a:t>
            </a:r>
            <a:r>
              <a:rPr sz="1300" spc="10" dirty="0">
                <a:solidFill>
                  <a:srgbClr val="D0D5DA"/>
                </a:solidFill>
                <a:latin typeface="Montserrat"/>
                <a:cs typeface="Montserrat"/>
              </a:rPr>
              <a:t> </a:t>
            </a:r>
            <a:r>
              <a:rPr sz="1300" spc="-75" dirty="0">
                <a:solidFill>
                  <a:srgbClr val="D0D5DA"/>
                </a:solidFill>
                <a:latin typeface="Montserrat"/>
                <a:cs typeface="Montserrat"/>
              </a:rPr>
              <a:t>and</a:t>
            </a:r>
            <a:r>
              <a:rPr sz="1300" spc="5" dirty="0">
                <a:solidFill>
                  <a:srgbClr val="D0D5DA"/>
                </a:solidFill>
                <a:latin typeface="Montserrat"/>
                <a:cs typeface="Montserrat"/>
              </a:rPr>
              <a:t> </a:t>
            </a:r>
            <a:r>
              <a:rPr sz="1300" spc="-90" dirty="0">
                <a:solidFill>
                  <a:srgbClr val="D0D5DA"/>
                </a:solidFill>
                <a:latin typeface="Montserrat"/>
                <a:cs typeface="Montserrat"/>
              </a:rPr>
              <a:t>team</a:t>
            </a:r>
            <a:r>
              <a:rPr sz="1300" spc="10" dirty="0">
                <a:solidFill>
                  <a:srgbClr val="D0D5DA"/>
                </a:solidFill>
                <a:latin typeface="Montserrat"/>
                <a:cs typeface="Montserrat"/>
              </a:rPr>
              <a:t> </a:t>
            </a:r>
            <a:r>
              <a:rPr sz="1300" spc="-40" dirty="0">
                <a:solidFill>
                  <a:srgbClr val="D0D5DA"/>
                </a:solidFill>
                <a:latin typeface="Montserrat"/>
                <a:cs typeface="Montserrat"/>
              </a:rPr>
              <a:t>performance</a:t>
            </a:r>
            <a:endParaRPr sz="1300" dirty="0">
              <a:latin typeface="Montserrat"/>
              <a:cs typeface="Montserrat"/>
            </a:endParaRPr>
          </a:p>
        </p:txBody>
      </p:sp>
      <p:sp>
        <p:nvSpPr>
          <p:cNvPr id="6" name="Rectangle: Rounded Corners 5">
            <a:extLst>
              <a:ext uri="{FF2B5EF4-FFF2-40B4-BE49-F238E27FC236}">
                <a16:creationId xmlns:a16="http://schemas.microsoft.com/office/drawing/2014/main" id="{9E41CAE6-7C17-9CCF-B10A-594505D6AC86}"/>
              </a:ext>
            </a:extLst>
          </p:cNvPr>
          <p:cNvSpPr/>
          <p:nvPr/>
        </p:nvSpPr>
        <p:spPr>
          <a:xfrm>
            <a:off x="415928" y="1337300"/>
            <a:ext cx="5099180" cy="4081526"/>
          </a:xfrm>
          <a:prstGeom prst="roundRect">
            <a:avLst>
              <a:gd name="adj" fmla="val 3225"/>
            </a:avLst>
          </a:prstGeom>
          <a:ln w="9525" cap="flat" cmpd="sng" algn="ctr">
            <a:solidFill>
              <a:schemeClr val="bg1"/>
            </a:solidFill>
            <a:prstDash val="solid"/>
            <a:round/>
            <a:headEnd type="none" w="med" len="med"/>
            <a:tailEnd type="none" w="med" len="med"/>
          </a:ln>
          <a:effectLst>
            <a:glow rad="63500">
              <a:schemeClr val="accent1">
                <a:satMod val="175000"/>
                <a:alpha val="40000"/>
              </a:schemeClr>
            </a:glow>
          </a:effectLst>
        </p:spPr>
        <p:style>
          <a:lnRef idx="0">
            <a:scrgbClr r="0" g="0" b="0"/>
          </a:lnRef>
          <a:fillRef idx="1001">
            <a:schemeClr val="dk2"/>
          </a:fillRef>
          <a:effectRef idx="0">
            <a:scrgbClr r="0" g="0" b="0"/>
          </a:effectRef>
          <a:fontRef idx="minor">
            <a:schemeClr val="accen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7" name="Rectangle: Rounded Corners 6">
            <a:extLst>
              <a:ext uri="{FF2B5EF4-FFF2-40B4-BE49-F238E27FC236}">
                <a16:creationId xmlns:a16="http://schemas.microsoft.com/office/drawing/2014/main" id="{78F349EE-B9ED-3CBF-B4FE-20926F7EB0C2}"/>
              </a:ext>
            </a:extLst>
          </p:cNvPr>
          <p:cNvSpPr/>
          <p:nvPr/>
        </p:nvSpPr>
        <p:spPr>
          <a:xfrm>
            <a:off x="6465358" y="1415144"/>
            <a:ext cx="5265142" cy="3977250"/>
          </a:xfrm>
          <a:prstGeom prst="roundRect">
            <a:avLst>
              <a:gd name="adj" fmla="val 1811"/>
            </a:avLst>
          </a:prstGeom>
          <a:ln w="9525" cap="flat" cmpd="sng" algn="ctr">
            <a:solidFill>
              <a:schemeClr val="bg1"/>
            </a:solidFill>
            <a:prstDash val="solid"/>
            <a:round/>
            <a:headEnd type="none" w="med" len="med"/>
            <a:tailEnd type="none" w="med" len="med"/>
          </a:ln>
          <a:effectLst>
            <a:glow rad="63500">
              <a:schemeClr val="accent1">
                <a:satMod val="175000"/>
                <a:alpha val="40000"/>
              </a:schemeClr>
            </a:glow>
          </a:effectLst>
        </p:spPr>
        <p:style>
          <a:lnRef idx="0">
            <a:scrgbClr r="0" g="0" b="0"/>
          </a:lnRef>
          <a:fillRef idx="1001">
            <a:schemeClr val="dk2"/>
          </a:fillRef>
          <a:effectRef idx="0">
            <a:scrgbClr r="0" g="0" b="0"/>
          </a:effectRef>
          <a:fontRef idx="minor">
            <a:schemeClr val="accen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9" name="object 8">
            <a:extLst>
              <a:ext uri="{FF2B5EF4-FFF2-40B4-BE49-F238E27FC236}">
                <a16:creationId xmlns:a16="http://schemas.microsoft.com/office/drawing/2014/main" id="{6F68D615-521B-8101-5F45-60C380F50184}"/>
              </a:ext>
            </a:extLst>
          </p:cNvPr>
          <p:cNvSpPr txBox="1"/>
          <p:nvPr/>
        </p:nvSpPr>
        <p:spPr>
          <a:xfrm>
            <a:off x="5209792" y="1093468"/>
            <a:ext cx="2256946" cy="260328"/>
          </a:xfrm>
          <a:prstGeom prst="rect">
            <a:avLst/>
          </a:prstGeom>
        </p:spPr>
        <p:txBody>
          <a:bodyPr vert="horz" wrap="square" lIns="0" tIns="13970" rIns="0" bIns="0" rtlCol="0">
            <a:spAutoFit/>
          </a:bodyPr>
          <a:lstStyle/>
          <a:p>
            <a:pPr marL="12700">
              <a:lnSpc>
                <a:spcPct val="100000"/>
              </a:lnSpc>
              <a:spcBef>
                <a:spcPts val="110"/>
              </a:spcBef>
            </a:pPr>
            <a:r>
              <a:rPr sz="1600" b="1" spc="-135" dirty="0">
                <a:solidFill>
                  <a:srgbClr val="FFCC00"/>
                </a:solidFill>
                <a:latin typeface="Montserrat"/>
                <a:cs typeface="Montserrat"/>
              </a:rPr>
              <a:t>Performance</a:t>
            </a:r>
            <a:r>
              <a:rPr sz="1600" b="1" spc="-55" dirty="0">
                <a:solidFill>
                  <a:srgbClr val="FFCC00"/>
                </a:solidFill>
                <a:latin typeface="Montserrat"/>
                <a:cs typeface="Montserrat"/>
              </a:rPr>
              <a:t> </a:t>
            </a:r>
            <a:r>
              <a:rPr sz="1600" b="1" spc="-95" dirty="0">
                <a:solidFill>
                  <a:srgbClr val="FFCC00"/>
                </a:solidFill>
                <a:latin typeface="Montserrat"/>
                <a:cs typeface="Montserrat"/>
              </a:rPr>
              <a:t>Metrics</a:t>
            </a:r>
            <a:endParaRPr sz="1600" dirty="0">
              <a:latin typeface="Montserrat"/>
              <a:cs typeface="Montserrat"/>
            </a:endParaRPr>
          </a:p>
        </p:txBody>
      </p:sp>
      <p:sp>
        <p:nvSpPr>
          <p:cNvPr id="10" name="object 9">
            <a:extLst>
              <a:ext uri="{FF2B5EF4-FFF2-40B4-BE49-F238E27FC236}">
                <a16:creationId xmlns:a16="http://schemas.microsoft.com/office/drawing/2014/main" id="{74A21BD3-3BFB-5D61-151A-6702566210F4}"/>
              </a:ext>
            </a:extLst>
          </p:cNvPr>
          <p:cNvSpPr txBox="1"/>
          <p:nvPr/>
        </p:nvSpPr>
        <p:spPr>
          <a:xfrm>
            <a:off x="4525347" y="1942558"/>
            <a:ext cx="934000"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dirty="0">
                <a:ln w="0">
                  <a:solidFill>
                    <a:schemeClr val="accent2"/>
                  </a:solidFill>
                </a:ln>
                <a:gradFill>
                  <a:gsLst>
                    <a:gs pos="0">
                      <a:schemeClr val="accent5">
                        <a:lumMod val="50000"/>
                      </a:schemeClr>
                    </a:gs>
                    <a:gs pos="50000">
                      <a:schemeClr val="accent5"/>
                    </a:gs>
                    <a:gs pos="100000">
                      <a:schemeClr val="accent5">
                        <a:lumMod val="60000"/>
                        <a:lumOff val="40000"/>
                      </a:schemeClr>
                    </a:gs>
                  </a:gsLst>
                  <a:lin ang="5400000"/>
                </a:gradFill>
                <a:effectLst>
                  <a:outerShdw blurRad="38100" dist="38100" dir="2700000" algn="tl">
                    <a:srgbClr val="000000">
                      <a:alpha val="43137"/>
                    </a:srgbClr>
                  </a:outerShdw>
                  <a:reflection blurRad="6350" stA="53000" endA="300" endPos="35500" dir="5400000" sy="-90000" algn="bl" rotWithShape="0"/>
                </a:effectLst>
                <a:latin typeface="Montserrat"/>
                <a:cs typeface="Montserrat"/>
              </a:rPr>
              <a:t>Team Success</a:t>
            </a:r>
          </a:p>
        </p:txBody>
      </p:sp>
      <p:sp>
        <p:nvSpPr>
          <p:cNvPr id="11" name="object 10">
            <a:extLst>
              <a:ext uri="{FF2B5EF4-FFF2-40B4-BE49-F238E27FC236}">
                <a16:creationId xmlns:a16="http://schemas.microsoft.com/office/drawing/2014/main" id="{C59FF7C7-DD29-4EDE-0D4C-C32D7144DF17}"/>
              </a:ext>
            </a:extLst>
          </p:cNvPr>
          <p:cNvSpPr txBox="1"/>
          <p:nvPr/>
        </p:nvSpPr>
        <p:spPr>
          <a:xfrm>
            <a:off x="755265" y="1700078"/>
            <a:ext cx="2985770" cy="809625"/>
          </a:xfrm>
          <a:prstGeom prst="rect">
            <a:avLst/>
          </a:prstGeom>
        </p:spPr>
        <p:txBody>
          <a:bodyPr vert="horz" wrap="square" lIns="0" tIns="95250" rIns="0" bIns="0" rtlCol="0">
            <a:spAutoFit/>
          </a:bodyPr>
          <a:lstStyle/>
          <a:p>
            <a:pPr marL="12700">
              <a:lnSpc>
                <a:spcPct val="100000"/>
              </a:lnSpc>
              <a:spcBef>
                <a:spcPts val="750"/>
              </a:spcBef>
            </a:pPr>
            <a:r>
              <a:rPr sz="1350" b="1" spc="-50" dirty="0">
                <a:solidFill>
                  <a:srgbClr val="93C4FD"/>
                </a:solidFill>
                <a:latin typeface="Montserrat"/>
                <a:cs typeface="Montserrat"/>
              </a:rPr>
              <a:t>1.</a:t>
            </a:r>
            <a:r>
              <a:rPr sz="1350" b="1" spc="-35" dirty="0">
                <a:solidFill>
                  <a:srgbClr val="93C4FD"/>
                </a:solidFill>
                <a:latin typeface="Montserrat"/>
                <a:cs typeface="Montserrat"/>
              </a:rPr>
              <a:t> </a:t>
            </a:r>
            <a:r>
              <a:rPr sz="1350" b="1" spc="-125" dirty="0">
                <a:solidFill>
                  <a:srgbClr val="93C4FD"/>
                </a:solidFill>
                <a:latin typeface="Montserrat"/>
                <a:cs typeface="Montserrat"/>
              </a:rPr>
              <a:t>Win</a:t>
            </a:r>
            <a:r>
              <a:rPr sz="1350" b="1" spc="-35" dirty="0">
                <a:solidFill>
                  <a:srgbClr val="93C4FD"/>
                </a:solidFill>
                <a:latin typeface="Montserrat"/>
                <a:cs typeface="Montserrat"/>
              </a:rPr>
              <a:t> </a:t>
            </a:r>
            <a:r>
              <a:rPr sz="1350" b="1" spc="-10" dirty="0">
                <a:solidFill>
                  <a:srgbClr val="93C4FD"/>
                </a:solidFill>
                <a:latin typeface="Montserrat"/>
                <a:cs typeface="Montserrat"/>
              </a:rPr>
              <a:t>Percentage</a:t>
            </a:r>
            <a:endParaRPr sz="1350" dirty="0">
              <a:latin typeface="Montserrat"/>
              <a:cs typeface="Montserrat"/>
            </a:endParaRPr>
          </a:p>
          <a:p>
            <a:pPr marL="12700">
              <a:lnSpc>
                <a:spcPct val="100000"/>
              </a:lnSpc>
              <a:spcBef>
                <a:spcPts val="530"/>
              </a:spcBef>
            </a:pPr>
            <a:r>
              <a:rPr sz="1150" spc="-70" dirty="0">
                <a:solidFill>
                  <a:srgbClr val="D0D5DA"/>
                </a:solidFill>
                <a:latin typeface="Montserrat"/>
                <a:cs typeface="Montserrat"/>
              </a:rPr>
              <a:t>Measures</a:t>
            </a:r>
            <a:r>
              <a:rPr sz="1150" spc="5" dirty="0">
                <a:solidFill>
                  <a:srgbClr val="D0D5DA"/>
                </a:solidFill>
                <a:latin typeface="Montserrat"/>
                <a:cs typeface="Montserrat"/>
              </a:rPr>
              <a:t> </a:t>
            </a:r>
            <a:r>
              <a:rPr sz="1150" spc="-70" dirty="0">
                <a:solidFill>
                  <a:srgbClr val="D0D5DA"/>
                </a:solidFill>
                <a:latin typeface="Montserrat"/>
                <a:cs typeface="Montserrat"/>
              </a:rPr>
              <a:t>overall</a:t>
            </a:r>
            <a:r>
              <a:rPr sz="1150" spc="5" dirty="0">
                <a:solidFill>
                  <a:srgbClr val="D0D5DA"/>
                </a:solidFill>
                <a:latin typeface="Montserrat"/>
                <a:cs typeface="Montserrat"/>
              </a:rPr>
              <a:t> </a:t>
            </a:r>
            <a:r>
              <a:rPr sz="1150" spc="-70" dirty="0">
                <a:solidFill>
                  <a:srgbClr val="D0D5DA"/>
                </a:solidFill>
                <a:latin typeface="Montserrat"/>
                <a:cs typeface="Montserrat"/>
              </a:rPr>
              <a:t>success</a:t>
            </a:r>
            <a:r>
              <a:rPr sz="1150" spc="10" dirty="0">
                <a:solidFill>
                  <a:srgbClr val="D0D5DA"/>
                </a:solidFill>
                <a:latin typeface="Montserrat"/>
                <a:cs typeface="Montserrat"/>
              </a:rPr>
              <a:t> </a:t>
            </a:r>
            <a:r>
              <a:rPr sz="1150" spc="-80" dirty="0">
                <a:solidFill>
                  <a:srgbClr val="D0D5DA"/>
                </a:solidFill>
                <a:latin typeface="Montserrat"/>
                <a:cs typeface="Montserrat"/>
              </a:rPr>
              <a:t>rate</a:t>
            </a:r>
            <a:r>
              <a:rPr sz="1150" spc="5" dirty="0">
                <a:solidFill>
                  <a:srgbClr val="D0D5DA"/>
                </a:solidFill>
                <a:latin typeface="Montserrat"/>
                <a:cs typeface="Montserrat"/>
              </a:rPr>
              <a:t> </a:t>
            </a:r>
            <a:r>
              <a:rPr sz="1150" spc="-70" dirty="0">
                <a:solidFill>
                  <a:srgbClr val="D0D5DA"/>
                </a:solidFill>
                <a:latin typeface="Montserrat"/>
                <a:cs typeface="Montserrat"/>
              </a:rPr>
              <a:t>across</a:t>
            </a:r>
            <a:r>
              <a:rPr sz="1150" spc="5" dirty="0">
                <a:solidFill>
                  <a:srgbClr val="D0D5DA"/>
                </a:solidFill>
                <a:latin typeface="Montserrat"/>
                <a:cs typeface="Montserrat"/>
              </a:rPr>
              <a:t> </a:t>
            </a:r>
            <a:r>
              <a:rPr sz="1150" spc="-35" dirty="0">
                <a:solidFill>
                  <a:srgbClr val="D0D5DA"/>
                </a:solidFill>
                <a:latin typeface="Montserrat"/>
                <a:cs typeface="Montserrat"/>
              </a:rPr>
              <a:t>seasons</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(Matches</a:t>
            </a:r>
            <a:r>
              <a:rPr sz="950" spc="65" dirty="0">
                <a:solidFill>
                  <a:srgbClr val="FDE68A"/>
                </a:solidFill>
                <a:latin typeface="DejaVu Sans Mono"/>
                <a:cs typeface="DejaVu Sans Mono"/>
              </a:rPr>
              <a:t> </a:t>
            </a:r>
            <a:r>
              <a:rPr sz="950" dirty="0">
                <a:solidFill>
                  <a:srgbClr val="FDE68A"/>
                </a:solidFill>
                <a:latin typeface="DejaVu Sans Mono"/>
                <a:cs typeface="DejaVu Sans Mono"/>
              </a:rPr>
              <a:t>Won</a:t>
            </a:r>
            <a:r>
              <a:rPr sz="950" spc="65" dirty="0">
                <a:solidFill>
                  <a:srgbClr val="FDE68A"/>
                </a:solidFill>
                <a:latin typeface="DejaVu Sans Mono"/>
                <a:cs typeface="DejaVu Sans Mono"/>
              </a:rPr>
              <a:t> </a:t>
            </a:r>
            <a:r>
              <a:rPr sz="950" dirty="0">
                <a:solidFill>
                  <a:srgbClr val="FDE68A"/>
                </a:solidFill>
                <a:latin typeface="DejaVu Sans Mono"/>
                <a:cs typeface="DejaVu Sans Mono"/>
              </a:rPr>
              <a:t>/</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65" dirty="0">
                <a:solidFill>
                  <a:srgbClr val="FDE68A"/>
                </a:solidFill>
                <a:latin typeface="DejaVu Sans Mono"/>
                <a:cs typeface="DejaVu Sans Mono"/>
              </a:rPr>
              <a:t> </a:t>
            </a:r>
            <a:r>
              <a:rPr sz="950" dirty="0">
                <a:solidFill>
                  <a:srgbClr val="FDE68A"/>
                </a:solidFill>
                <a:latin typeface="DejaVu Sans Mono"/>
                <a:cs typeface="DejaVu Sans Mono"/>
              </a:rPr>
              <a:t>Played)</a:t>
            </a:r>
            <a:r>
              <a:rPr sz="950" spc="65" dirty="0">
                <a:solidFill>
                  <a:srgbClr val="FDE68A"/>
                </a:solidFill>
                <a:latin typeface="DejaVu Sans Mono"/>
                <a:cs typeface="DejaVu Sans Mono"/>
              </a:rPr>
              <a:t> </a:t>
            </a:r>
            <a:r>
              <a:rPr sz="950" dirty="0">
                <a:solidFill>
                  <a:srgbClr val="FDE68A"/>
                </a:solidFill>
                <a:latin typeface="DejaVu Sans Mono"/>
                <a:cs typeface="DejaVu Sans Mono"/>
              </a:rPr>
              <a:t>×</a:t>
            </a:r>
            <a:r>
              <a:rPr sz="950" spc="70" dirty="0">
                <a:solidFill>
                  <a:srgbClr val="FDE68A"/>
                </a:solidFill>
                <a:latin typeface="DejaVu Sans Mono"/>
                <a:cs typeface="DejaVu Sans Mono"/>
              </a:rPr>
              <a:t> </a:t>
            </a:r>
            <a:r>
              <a:rPr sz="950" spc="-25" dirty="0">
                <a:solidFill>
                  <a:srgbClr val="FDE68A"/>
                </a:solidFill>
                <a:latin typeface="DejaVu Sans Mono"/>
                <a:cs typeface="DejaVu Sans Mono"/>
              </a:rPr>
              <a:t>100</a:t>
            </a:r>
            <a:endParaRPr sz="950" dirty="0">
              <a:latin typeface="DejaVu Sans Mono"/>
              <a:cs typeface="DejaVu Sans Mono"/>
            </a:endParaRPr>
          </a:p>
        </p:txBody>
      </p:sp>
      <p:sp>
        <p:nvSpPr>
          <p:cNvPr id="12" name="object 11">
            <a:extLst>
              <a:ext uri="{FF2B5EF4-FFF2-40B4-BE49-F238E27FC236}">
                <a16:creationId xmlns:a16="http://schemas.microsoft.com/office/drawing/2014/main" id="{E6A7915A-B6D5-953A-A867-3A3B814B94E0}"/>
              </a:ext>
            </a:extLst>
          </p:cNvPr>
          <p:cNvSpPr txBox="1"/>
          <p:nvPr/>
        </p:nvSpPr>
        <p:spPr>
          <a:xfrm>
            <a:off x="755265" y="2609233"/>
            <a:ext cx="2669540" cy="177165"/>
          </a:xfrm>
          <a:prstGeom prst="rect">
            <a:avLst/>
          </a:prstGeom>
        </p:spPr>
        <p:txBody>
          <a:bodyPr vert="horz" wrap="square" lIns="0" tIns="11430" rIns="0" bIns="0" rtlCol="0">
            <a:spAutoFit/>
          </a:bodyPr>
          <a:lstStyle/>
          <a:p>
            <a:pPr marL="12700">
              <a:lnSpc>
                <a:spcPct val="100000"/>
              </a:lnSpc>
              <a:spcBef>
                <a:spcPts val="90"/>
              </a:spcBef>
            </a:pPr>
            <a:r>
              <a:rPr sz="1000" spc="-85" dirty="0">
                <a:solidFill>
                  <a:srgbClr val="9CA2AF"/>
                </a:solidFill>
                <a:latin typeface="Montserrat"/>
                <a:cs typeface="Montserrat"/>
              </a:rPr>
              <a:t>RCB</a:t>
            </a:r>
            <a:r>
              <a:rPr sz="1000" spc="-20" dirty="0">
                <a:solidFill>
                  <a:srgbClr val="9CA2AF"/>
                </a:solidFill>
                <a:latin typeface="Montserrat"/>
                <a:cs typeface="Montserrat"/>
              </a:rPr>
              <a:t> </a:t>
            </a:r>
            <a:r>
              <a:rPr sz="1000" spc="-75" dirty="0">
                <a:solidFill>
                  <a:srgbClr val="9CA2AF"/>
                </a:solidFill>
                <a:latin typeface="Montserrat"/>
                <a:cs typeface="Montserrat"/>
              </a:rPr>
              <a:t>home</a:t>
            </a:r>
            <a:r>
              <a:rPr sz="1000" spc="-20" dirty="0">
                <a:solidFill>
                  <a:srgbClr val="9CA2AF"/>
                </a:solidFill>
                <a:latin typeface="Montserrat"/>
                <a:cs typeface="Montserrat"/>
              </a:rPr>
              <a:t> </a:t>
            </a:r>
            <a:r>
              <a:rPr sz="1000" spc="-70" dirty="0">
                <a:solidFill>
                  <a:srgbClr val="9CA2AF"/>
                </a:solidFill>
                <a:latin typeface="Montserrat"/>
                <a:cs typeface="Montserrat"/>
              </a:rPr>
              <a:t>win</a:t>
            </a:r>
            <a:r>
              <a:rPr sz="1000" spc="-20" dirty="0">
                <a:solidFill>
                  <a:srgbClr val="9CA2AF"/>
                </a:solidFill>
                <a:latin typeface="Montserrat"/>
                <a:cs typeface="Montserrat"/>
              </a:rPr>
              <a:t> </a:t>
            </a:r>
            <a:r>
              <a:rPr sz="1000" spc="-55" dirty="0">
                <a:solidFill>
                  <a:srgbClr val="9CA2AF"/>
                </a:solidFill>
                <a:latin typeface="Montserrat"/>
                <a:cs typeface="Montserrat"/>
              </a:rPr>
              <a:t>rate:</a:t>
            </a:r>
            <a:r>
              <a:rPr sz="1000" spc="-20" dirty="0">
                <a:solidFill>
                  <a:srgbClr val="9CA2AF"/>
                </a:solidFill>
                <a:latin typeface="Montserrat"/>
                <a:cs typeface="Montserrat"/>
              </a:rPr>
              <a:t> </a:t>
            </a:r>
            <a:r>
              <a:rPr sz="1000" spc="-60" dirty="0">
                <a:solidFill>
                  <a:srgbClr val="9CA2AF"/>
                </a:solidFill>
                <a:latin typeface="Montserrat"/>
                <a:cs typeface="Montserrat"/>
              </a:rPr>
              <a:t>59.26%</a:t>
            </a:r>
            <a:r>
              <a:rPr sz="1000" spc="-20" dirty="0">
                <a:solidFill>
                  <a:srgbClr val="9CA2AF"/>
                </a:solidFill>
                <a:latin typeface="Montserrat"/>
                <a:cs typeface="Montserrat"/>
              </a:rPr>
              <a:t> </a:t>
            </a:r>
            <a:r>
              <a:rPr sz="1000" spc="-50" dirty="0">
                <a:solidFill>
                  <a:srgbClr val="9CA2AF"/>
                </a:solidFill>
                <a:latin typeface="Montserrat"/>
                <a:cs typeface="Montserrat"/>
              </a:rPr>
              <a:t>at</a:t>
            </a:r>
            <a:r>
              <a:rPr sz="1000" spc="-20" dirty="0">
                <a:solidFill>
                  <a:srgbClr val="9CA2AF"/>
                </a:solidFill>
                <a:latin typeface="Montserrat"/>
                <a:cs typeface="Montserrat"/>
              </a:rPr>
              <a:t> </a:t>
            </a:r>
            <a:r>
              <a:rPr sz="1000" spc="-110" dirty="0">
                <a:solidFill>
                  <a:srgbClr val="9CA2AF"/>
                </a:solidFill>
                <a:latin typeface="Montserrat"/>
                <a:cs typeface="Montserrat"/>
              </a:rPr>
              <a:t>M</a:t>
            </a:r>
            <a:r>
              <a:rPr sz="1000" spc="-20" dirty="0">
                <a:solidFill>
                  <a:srgbClr val="9CA2AF"/>
                </a:solidFill>
                <a:latin typeface="Montserrat"/>
                <a:cs typeface="Montserrat"/>
              </a:rPr>
              <a:t> </a:t>
            </a:r>
            <a:r>
              <a:rPr sz="1000" spc="-65" dirty="0">
                <a:solidFill>
                  <a:srgbClr val="9CA2AF"/>
                </a:solidFill>
                <a:latin typeface="Montserrat"/>
                <a:cs typeface="Montserrat"/>
              </a:rPr>
              <a:t>Chinnaswamy</a:t>
            </a:r>
            <a:endParaRPr sz="1000" dirty="0">
              <a:latin typeface="Montserrat"/>
              <a:cs typeface="Montserrat"/>
            </a:endParaRPr>
          </a:p>
        </p:txBody>
      </p:sp>
      <p:sp>
        <p:nvSpPr>
          <p:cNvPr id="13" name="object 12">
            <a:extLst>
              <a:ext uri="{FF2B5EF4-FFF2-40B4-BE49-F238E27FC236}">
                <a16:creationId xmlns:a16="http://schemas.microsoft.com/office/drawing/2014/main" id="{7B940608-D946-6373-E17C-86AB35A59E52}"/>
              </a:ext>
            </a:extLst>
          </p:cNvPr>
          <p:cNvSpPr txBox="1"/>
          <p:nvPr/>
        </p:nvSpPr>
        <p:spPr>
          <a:xfrm>
            <a:off x="4960238" y="3204577"/>
            <a:ext cx="456565"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55"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Batting</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14" name="object 13">
            <a:extLst>
              <a:ext uri="{FF2B5EF4-FFF2-40B4-BE49-F238E27FC236}">
                <a16:creationId xmlns:a16="http://schemas.microsoft.com/office/drawing/2014/main" id="{389C8AD6-F6A7-A105-B008-844D9369B268}"/>
              </a:ext>
            </a:extLst>
          </p:cNvPr>
          <p:cNvSpPr txBox="1"/>
          <p:nvPr/>
        </p:nvSpPr>
        <p:spPr>
          <a:xfrm>
            <a:off x="755265" y="3024054"/>
            <a:ext cx="3083560"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Montserrat"/>
                <a:cs typeface="Montserrat"/>
              </a:rPr>
              <a:t>2.</a:t>
            </a:r>
            <a:r>
              <a:rPr sz="1350" b="1" spc="-20" dirty="0">
                <a:solidFill>
                  <a:srgbClr val="93C4FD"/>
                </a:solidFill>
                <a:latin typeface="Montserrat"/>
                <a:cs typeface="Montserrat"/>
              </a:rPr>
              <a:t> </a:t>
            </a:r>
            <a:r>
              <a:rPr sz="1350" b="1" spc="-120" dirty="0">
                <a:solidFill>
                  <a:srgbClr val="93C4FD"/>
                </a:solidFill>
                <a:latin typeface="Montserrat"/>
                <a:cs typeface="Montserrat"/>
              </a:rPr>
              <a:t>Average</a:t>
            </a:r>
            <a:r>
              <a:rPr sz="1350" b="1" spc="-20" dirty="0">
                <a:solidFill>
                  <a:srgbClr val="93C4FD"/>
                </a:solidFill>
                <a:latin typeface="Montserrat"/>
                <a:cs typeface="Montserrat"/>
              </a:rPr>
              <a:t> </a:t>
            </a:r>
            <a:r>
              <a:rPr sz="1350" b="1" spc="-110" dirty="0">
                <a:solidFill>
                  <a:srgbClr val="93C4FD"/>
                </a:solidFill>
                <a:latin typeface="Montserrat"/>
                <a:cs typeface="Montserrat"/>
              </a:rPr>
              <a:t>Runs</a:t>
            </a:r>
            <a:r>
              <a:rPr sz="1350" b="1" spc="-15" dirty="0">
                <a:solidFill>
                  <a:srgbClr val="93C4FD"/>
                </a:solidFill>
                <a:latin typeface="Montserrat"/>
                <a:cs typeface="Montserrat"/>
              </a:rPr>
              <a:t> </a:t>
            </a:r>
            <a:r>
              <a:rPr sz="1350" b="1" spc="-95" dirty="0">
                <a:solidFill>
                  <a:srgbClr val="93C4FD"/>
                </a:solidFill>
                <a:latin typeface="Montserrat"/>
                <a:cs typeface="Montserrat"/>
              </a:rPr>
              <a:t>per</a:t>
            </a:r>
            <a:r>
              <a:rPr sz="1350" b="1" spc="-20" dirty="0">
                <a:solidFill>
                  <a:srgbClr val="93C4FD"/>
                </a:solidFill>
                <a:latin typeface="Montserrat"/>
                <a:cs typeface="Montserrat"/>
              </a:rPr>
              <a:t> Match</a:t>
            </a:r>
            <a:endParaRPr sz="1350" dirty="0">
              <a:latin typeface="Montserrat"/>
              <a:cs typeface="Montserrat"/>
            </a:endParaRPr>
          </a:p>
          <a:p>
            <a:pPr marL="12700">
              <a:lnSpc>
                <a:spcPct val="100000"/>
              </a:lnSpc>
              <a:spcBef>
                <a:spcPts val="530"/>
              </a:spcBef>
            </a:pPr>
            <a:r>
              <a:rPr sz="1150" spc="-70" dirty="0">
                <a:solidFill>
                  <a:srgbClr val="D0D5DA"/>
                </a:solidFill>
                <a:latin typeface="Montserrat"/>
                <a:cs typeface="Montserrat"/>
              </a:rPr>
              <a:t>Measures</a:t>
            </a:r>
            <a:r>
              <a:rPr sz="1150" spc="-10" dirty="0">
                <a:solidFill>
                  <a:srgbClr val="D0D5DA"/>
                </a:solidFill>
                <a:latin typeface="Montserrat"/>
                <a:cs typeface="Montserrat"/>
              </a:rPr>
              <a:t> </a:t>
            </a:r>
            <a:r>
              <a:rPr sz="1150" spc="-75" dirty="0">
                <a:solidFill>
                  <a:srgbClr val="D0D5DA"/>
                </a:solidFill>
                <a:latin typeface="Montserrat"/>
                <a:cs typeface="Montserrat"/>
              </a:rPr>
              <a:t>team's</a:t>
            </a:r>
            <a:r>
              <a:rPr sz="1150" spc="-5" dirty="0">
                <a:solidFill>
                  <a:srgbClr val="D0D5DA"/>
                </a:solidFill>
                <a:latin typeface="Montserrat"/>
                <a:cs typeface="Montserrat"/>
              </a:rPr>
              <a:t> </a:t>
            </a:r>
            <a:r>
              <a:rPr sz="1150" spc="-65" dirty="0">
                <a:solidFill>
                  <a:srgbClr val="D0D5DA"/>
                </a:solidFill>
                <a:latin typeface="Montserrat"/>
                <a:cs typeface="Montserrat"/>
              </a:rPr>
              <a:t>scoring</a:t>
            </a:r>
            <a:r>
              <a:rPr sz="1150" spc="-5" dirty="0">
                <a:solidFill>
                  <a:srgbClr val="D0D5DA"/>
                </a:solidFill>
                <a:latin typeface="Montserrat"/>
                <a:cs typeface="Montserrat"/>
              </a:rPr>
              <a:t> </a:t>
            </a:r>
            <a:r>
              <a:rPr sz="1150" spc="-10" dirty="0">
                <a:solidFill>
                  <a:srgbClr val="D0D5DA"/>
                </a:solidFill>
                <a:latin typeface="Montserrat"/>
                <a:cs typeface="Montserrat"/>
              </a:rPr>
              <a:t>consistency</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Total</a:t>
            </a:r>
            <a:r>
              <a:rPr sz="950" spc="65" dirty="0">
                <a:solidFill>
                  <a:srgbClr val="FDE68A"/>
                </a:solidFill>
                <a:latin typeface="DejaVu Sans Mono"/>
                <a:cs typeface="DejaVu Sans Mono"/>
              </a:rPr>
              <a:t> </a:t>
            </a:r>
            <a:r>
              <a:rPr sz="950" dirty="0">
                <a:solidFill>
                  <a:srgbClr val="FDE68A"/>
                </a:solidFill>
                <a:latin typeface="DejaVu Sans Mono"/>
                <a:cs typeface="DejaVu Sans Mono"/>
              </a:rPr>
              <a:t>Runs</a:t>
            </a:r>
            <a:r>
              <a:rPr sz="950" spc="70" dirty="0">
                <a:solidFill>
                  <a:srgbClr val="FDE68A"/>
                </a:solidFill>
                <a:latin typeface="DejaVu Sans Mono"/>
                <a:cs typeface="DejaVu Sans Mono"/>
              </a:rPr>
              <a:t> </a:t>
            </a:r>
            <a:r>
              <a:rPr sz="950" dirty="0">
                <a:solidFill>
                  <a:srgbClr val="FDE68A"/>
                </a:solidFill>
                <a:latin typeface="DejaVu Sans Mono"/>
                <a:cs typeface="DejaVu Sans Mono"/>
              </a:rPr>
              <a:t>Scored</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65" dirty="0">
                <a:solidFill>
                  <a:srgbClr val="FDE68A"/>
                </a:solidFill>
                <a:latin typeface="DejaVu Sans Mono"/>
                <a:cs typeface="DejaVu Sans Mono"/>
              </a:rPr>
              <a:t> </a:t>
            </a:r>
            <a:r>
              <a:rPr sz="950" dirty="0">
                <a:solidFill>
                  <a:srgbClr val="FDE68A"/>
                </a:solidFill>
                <a:latin typeface="DejaVu Sans Mono"/>
                <a:cs typeface="DejaVu Sans Mono"/>
              </a:rPr>
              <a:t>Total</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70" dirty="0">
                <a:solidFill>
                  <a:srgbClr val="FDE68A"/>
                </a:solidFill>
                <a:latin typeface="DejaVu Sans Mono"/>
                <a:cs typeface="DejaVu Sans Mono"/>
              </a:rPr>
              <a:t> </a:t>
            </a:r>
            <a:r>
              <a:rPr sz="950" spc="-10" dirty="0">
                <a:solidFill>
                  <a:srgbClr val="FDE68A"/>
                </a:solidFill>
                <a:latin typeface="DejaVu Sans Mono"/>
                <a:cs typeface="DejaVu Sans Mono"/>
              </a:rPr>
              <a:t>Played</a:t>
            </a:r>
            <a:endParaRPr sz="950" dirty="0">
              <a:latin typeface="DejaVu Sans Mono"/>
              <a:cs typeface="DejaVu Sans Mono"/>
            </a:endParaRPr>
          </a:p>
        </p:txBody>
      </p:sp>
      <p:sp>
        <p:nvSpPr>
          <p:cNvPr id="15" name="object 14">
            <a:extLst>
              <a:ext uri="{FF2B5EF4-FFF2-40B4-BE49-F238E27FC236}">
                <a16:creationId xmlns:a16="http://schemas.microsoft.com/office/drawing/2014/main" id="{C0BE6315-90CD-A889-2F2F-19BB6120CCBC}"/>
              </a:ext>
            </a:extLst>
          </p:cNvPr>
          <p:cNvSpPr txBox="1"/>
          <p:nvPr/>
        </p:nvSpPr>
        <p:spPr>
          <a:xfrm>
            <a:off x="755265" y="3945585"/>
            <a:ext cx="2893695" cy="177165"/>
          </a:xfrm>
          <a:prstGeom prst="rect">
            <a:avLst/>
          </a:prstGeom>
        </p:spPr>
        <p:txBody>
          <a:bodyPr vert="horz" wrap="square" lIns="0" tIns="11430" rIns="0" bIns="0" rtlCol="0">
            <a:spAutoFit/>
          </a:bodyPr>
          <a:lstStyle/>
          <a:p>
            <a:pPr marL="12700">
              <a:lnSpc>
                <a:spcPct val="100000"/>
              </a:lnSpc>
              <a:spcBef>
                <a:spcPts val="90"/>
              </a:spcBef>
            </a:pPr>
            <a:r>
              <a:rPr sz="1000" spc="-90" dirty="0">
                <a:solidFill>
                  <a:srgbClr val="9CA2AF"/>
                </a:solidFill>
                <a:latin typeface="Montserrat"/>
                <a:cs typeface="Montserrat"/>
              </a:rPr>
              <a:t>Top</a:t>
            </a:r>
            <a:r>
              <a:rPr sz="1000" spc="-15" dirty="0">
                <a:solidFill>
                  <a:srgbClr val="9CA2AF"/>
                </a:solidFill>
                <a:latin typeface="Montserrat"/>
                <a:cs typeface="Montserrat"/>
              </a:rPr>
              <a:t> </a:t>
            </a:r>
            <a:r>
              <a:rPr sz="1000" spc="-70" dirty="0">
                <a:solidFill>
                  <a:srgbClr val="9CA2AF"/>
                </a:solidFill>
                <a:latin typeface="Montserrat"/>
                <a:cs typeface="Montserrat"/>
              </a:rPr>
              <a:t>team:</a:t>
            </a:r>
            <a:r>
              <a:rPr sz="1000" spc="-10" dirty="0">
                <a:solidFill>
                  <a:srgbClr val="9CA2AF"/>
                </a:solidFill>
                <a:latin typeface="Montserrat"/>
                <a:cs typeface="Montserrat"/>
              </a:rPr>
              <a:t> </a:t>
            </a:r>
            <a:r>
              <a:rPr sz="1000" spc="-60" dirty="0">
                <a:solidFill>
                  <a:srgbClr val="9CA2AF"/>
                </a:solidFill>
                <a:latin typeface="Montserrat"/>
                <a:cs typeface="Montserrat"/>
              </a:rPr>
              <a:t>Kings</a:t>
            </a:r>
            <a:r>
              <a:rPr sz="1000" spc="-15" dirty="0">
                <a:solidFill>
                  <a:srgbClr val="9CA2AF"/>
                </a:solidFill>
                <a:latin typeface="Montserrat"/>
                <a:cs typeface="Montserrat"/>
              </a:rPr>
              <a:t> </a:t>
            </a:r>
            <a:r>
              <a:rPr sz="1000" spc="-70" dirty="0">
                <a:solidFill>
                  <a:srgbClr val="9CA2AF"/>
                </a:solidFill>
                <a:latin typeface="Montserrat"/>
                <a:cs typeface="Montserrat"/>
              </a:rPr>
              <a:t>XI</a:t>
            </a:r>
            <a:r>
              <a:rPr sz="1000" spc="-10" dirty="0">
                <a:solidFill>
                  <a:srgbClr val="9CA2AF"/>
                </a:solidFill>
                <a:latin typeface="Montserrat"/>
                <a:cs typeface="Montserrat"/>
              </a:rPr>
              <a:t> </a:t>
            </a:r>
            <a:r>
              <a:rPr sz="1000" spc="-65" dirty="0">
                <a:solidFill>
                  <a:srgbClr val="9CA2AF"/>
                </a:solidFill>
                <a:latin typeface="Montserrat"/>
                <a:cs typeface="Montserrat"/>
              </a:rPr>
              <a:t>Punjab</a:t>
            </a:r>
            <a:r>
              <a:rPr sz="1000" spc="-15" dirty="0">
                <a:solidFill>
                  <a:srgbClr val="9CA2AF"/>
                </a:solidFill>
                <a:latin typeface="Montserrat"/>
                <a:cs typeface="Montserrat"/>
              </a:rPr>
              <a:t> </a:t>
            </a:r>
            <a:r>
              <a:rPr sz="1000" spc="-50" dirty="0">
                <a:solidFill>
                  <a:srgbClr val="9CA2AF"/>
                </a:solidFill>
                <a:latin typeface="Montserrat"/>
                <a:cs typeface="Montserrat"/>
              </a:rPr>
              <a:t>(2014):</a:t>
            </a:r>
            <a:r>
              <a:rPr sz="1000" spc="-10" dirty="0">
                <a:solidFill>
                  <a:srgbClr val="9CA2AF"/>
                </a:solidFill>
                <a:latin typeface="Montserrat"/>
                <a:cs typeface="Montserrat"/>
              </a:rPr>
              <a:t> </a:t>
            </a:r>
            <a:r>
              <a:rPr sz="1000" spc="-55" dirty="0">
                <a:solidFill>
                  <a:srgbClr val="9CA2AF"/>
                </a:solidFill>
                <a:latin typeface="Montserrat"/>
                <a:cs typeface="Montserrat"/>
              </a:rPr>
              <a:t>176.5</a:t>
            </a:r>
            <a:r>
              <a:rPr sz="1000" spc="-15" dirty="0">
                <a:solidFill>
                  <a:srgbClr val="9CA2AF"/>
                </a:solidFill>
                <a:latin typeface="Montserrat"/>
                <a:cs typeface="Montserrat"/>
              </a:rPr>
              <a:t> </a:t>
            </a:r>
            <a:r>
              <a:rPr sz="1000" spc="-55" dirty="0">
                <a:solidFill>
                  <a:srgbClr val="9CA2AF"/>
                </a:solidFill>
                <a:latin typeface="Montserrat"/>
                <a:cs typeface="Montserrat"/>
              </a:rPr>
              <a:t>runs/match</a:t>
            </a:r>
            <a:endParaRPr sz="1000" dirty="0">
              <a:latin typeface="Montserrat"/>
              <a:cs typeface="Montserrat"/>
            </a:endParaRPr>
          </a:p>
        </p:txBody>
      </p:sp>
      <p:sp>
        <p:nvSpPr>
          <p:cNvPr id="16" name="object 15">
            <a:extLst>
              <a:ext uri="{FF2B5EF4-FFF2-40B4-BE49-F238E27FC236}">
                <a16:creationId xmlns:a16="http://schemas.microsoft.com/office/drawing/2014/main" id="{4E58F9DE-4D79-7BBB-FC79-5E0F59A42F85}"/>
              </a:ext>
            </a:extLst>
          </p:cNvPr>
          <p:cNvSpPr txBox="1"/>
          <p:nvPr/>
        </p:nvSpPr>
        <p:spPr>
          <a:xfrm>
            <a:off x="4960238" y="4585200"/>
            <a:ext cx="499109"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6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Bowling</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17" name="object 16">
            <a:extLst>
              <a:ext uri="{FF2B5EF4-FFF2-40B4-BE49-F238E27FC236}">
                <a16:creationId xmlns:a16="http://schemas.microsoft.com/office/drawing/2014/main" id="{82E9B3D8-0EF4-65D0-1A82-02B61C02C4A8}"/>
              </a:ext>
            </a:extLst>
          </p:cNvPr>
          <p:cNvSpPr txBox="1"/>
          <p:nvPr/>
        </p:nvSpPr>
        <p:spPr>
          <a:xfrm>
            <a:off x="755265" y="4357553"/>
            <a:ext cx="3232785"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Montserrat"/>
                <a:cs typeface="Montserrat"/>
              </a:rPr>
              <a:t>3.</a:t>
            </a:r>
            <a:r>
              <a:rPr sz="1350" b="1" spc="-15" dirty="0">
                <a:solidFill>
                  <a:srgbClr val="93C4FD"/>
                </a:solidFill>
                <a:latin typeface="Montserrat"/>
                <a:cs typeface="Montserrat"/>
              </a:rPr>
              <a:t> </a:t>
            </a:r>
            <a:r>
              <a:rPr sz="1350" b="1" spc="-120" dirty="0">
                <a:solidFill>
                  <a:srgbClr val="93C4FD"/>
                </a:solidFill>
                <a:latin typeface="Montserrat"/>
                <a:cs typeface="Montserrat"/>
              </a:rPr>
              <a:t>Average</a:t>
            </a:r>
            <a:r>
              <a:rPr sz="1350" b="1" spc="-10" dirty="0">
                <a:solidFill>
                  <a:srgbClr val="93C4FD"/>
                </a:solidFill>
                <a:latin typeface="Montserrat"/>
                <a:cs typeface="Montserrat"/>
              </a:rPr>
              <a:t> </a:t>
            </a:r>
            <a:r>
              <a:rPr sz="1350" b="1" spc="-114" dirty="0">
                <a:solidFill>
                  <a:srgbClr val="93C4FD"/>
                </a:solidFill>
                <a:latin typeface="Montserrat"/>
                <a:cs typeface="Montserrat"/>
              </a:rPr>
              <a:t>Wickets</a:t>
            </a:r>
            <a:r>
              <a:rPr sz="1350" b="1" spc="-10" dirty="0">
                <a:solidFill>
                  <a:srgbClr val="93C4FD"/>
                </a:solidFill>
                <a:latin typeface="Montserrat"/>
                <a:cs typeface="Montserrat"/>
              </a:rPr>
              <a:t> </a:t>
            </a:r>
            <a:r>
              <a:rPr sz="1350" b="1" spc="-95" dirty="0">
                <a:solidFill>
                  <a:srgbClr val="93C4FD"/>
                </a:solidFill>
                <a:latin typeface="Montserrat"/>
                <a:cs typeface="Montserrat"/>
              </a:rPr>
              <a:t>per</a:t>
            </a:r>
            <a:r>
              <a:rPr sz="1350" b="1" spc="-10" dirty="0">
                <a:solidFill>
                  <a:srgbClr val="93C4FD"/>
                </a:solidFill>
                <a:latin typeface="Montserrat"/>
                <a:cs typeface="Montserrat"/>
              </a:rPr>
              <a:t> </a:t>
            </a:r>
            <a:r>
              <a:rPr sz="1350" b="1" spc="-20" dirty="0">
                <a:solidFill>
                  <a:srgbClr val="93C4FD"/>
                </a:solidFill>
                <a:latin typeface="Montserrat"/>
                <a:cs typeface="Montserrat"/>
              </a:rPr>
              <a:t>Match</a:t>
            </a:r>
            <a:endParaRPr sz="1350" dirty="0">
              <a:latin typeface="Montserrat"/>
              <a:cs typeface="Montserrat"/>
            </a:endParaRPr>
          </a:p>
          <a:p>
            <a:pPr marL="12700">
              <a:lnSpc>
                <a:spcPct val="100000"/>
              </a:lnSpc>
              <a:spcBef>
                <a:spcPts val="530"/>
              </a:spcBef>
            </a:pPr>
            <a:r>
              <a:rPr sz="1150" spc="-85" dirty="0">
                <a:solidFill>
                  <a:srgbClr val="D0D5DA"/>
                </a:solidFill>
                <a:latin typeface="Montserrat"/>
                <a:cs typeface="Montserrat"/>
              </a:rPr>
              <a:t>Shows</a:t>
            </a:r>
            <a:r>
              <a:rPr sz="1150" spc="-10" dirty="0">
                <a:solidFill>
                  <a:srgbClr val="D0D5DA"/>
                </a:solidFill>
                <a:latin typeface="Montserrat"/>
                <a:cs typeface="Montserrat"/>
              </a:rPr>
              <a:t> </a:t>
            </a:r>
            <a:r>
              <a:rPr sz="1150" spc="-70" dirty="0">
                <a:solidFill>
                  <a:srgbClr val="D0D5DA"/>
                </a:solidFill>
                <a:latin typeface="Montserrat"/>
                <a:cs typeface="Montserrat"/>
              </a:rPr>
              <a:t>bowling</a:t>
            </a:r>
            <a:r>
              <a:rPr sz="1150" spc="-10" dirty="0">
                <a:solidFill>
                  <a:srgbClr val="D0D5DA"/>
                </a:solidFill>
                <a:latin typeface="Montserrat"/>
                <a:cs typeface="Montserrat"/>
              </a:rPr>
              <a:t> </a:t>
            </a:r>
            <a:r>
              <a:rPr sz="1150" spc="-65" dirty="0">
                <a:solidFill>
                  <a:srgbClr val="D0D5DA"/>
                </a:solidFill>
                <a:latin typeface="Montserrat"/>
                <a:cs typeface="Montserrat"/>
              </a:rPr>
              <a:t>strength</a:t>
            </a:r>
            <a:r>
              <a:rPr sz="1150" spc="-10" dirty="0">
                <a:solidFill>
                  <a:srgbClr val="D0D5DA"/>
                </a:solidFill>
                <a:latin typeface="Montserrat"/>
                <a:cs typeface="Montserrat"/>
              </a:rPr>
              <a:t> </a:t>
            </a:r>
            <a:r>
              <a:rPr sz="1150" spc="-60" dirty="0">
                <a:solidFill>
                  <a:srgbClr val="D0D5DA"/>
                </a:solidFill>
                <a:latin typeface="Montserrat"/>
                <a:cs typeface="Montserrat"/>
              </a:rPr>
              <a:t>of</a:t>
            </a:r>
            <a:r>
              <a:rPr sz="1150" spc="-10" dirty="0">
                <a:solidFill>
                  <a:srgbClr val="D0D5DA"/>
                </a:solidFill>
                <a:latin typeface="Montserrat"/>
                <a:cs typeface="Montserrat"/>
              </a:rPr>
              <a:t> </a:t>
            </a:r>
            <a:r>
              <a:rPr sz="1150" spc="-20" dirty="0">
                <a:solidFill>
                  <a:srgbClr val="D0D5DA"/>
                </a:solidFill>
                <a:latin typeface="Montserrat"/>
                <a:cs typeface="Montserrat"/>
              </a:rPr>
              <a:t>team</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Total</a:t>
            </a:r>
            <a:r>
              <a:rPr sz="950" spc="70" dirty="0">
                <a:solidFill>
                  <a:srgbClr val="FDE68A"/>
                </a:solidFill>
                <a:latin typeface="DejaVu Sans Mono"/>
                <a:cs typeface="DejaVu Sans Mono"/>
              </a:rPr>
              <a:t> </a:t>
            </a:r>
            <a:r>
              <a:rPr sz="950" dirty="0">
                <a:solidFill>
                  <a:srgbClr val="FDE68A"/>
                </a:solidFill>
                <a:latin typeface="DejaVu Sans Mono"/>
                <a:cs typeface="DejaVu Sans Mono"/>
              </a:rPr>
              <a:t>Wickets</a:t>
            </a:r>
            <a:r>
              <a:rPr sz="950" spc="75" dirty="0">
                <a:solidFill>
                  <a:srgbClr val="FDE68A"/>
                </a:solidFill>
                <a:latin typeface="DejaVu Sans Mono"/>
                <a:cs typeface="DejaVu Sans Mono"/>
              </a:rPr>
              <a:t> </a:t>
            </a:r>
            <a:r>
              <a:rPr sz="950" dirty="0">
                <a:solidFill>
                  <a:srgbClr val="FDE68A"/>
                </a:solidFill>
                <a:latin typeface="DejaVu Sans Mono"/>
                <a:cs typeface="DejaVu Sans Mono"/>
              </a:rPr>
              <a:t>Taken</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75" dirty="0">
                <a:solidFill>
                  <a:srgbClr val="FDE68A"/>
                </a:solidFill>
                <a:latin typeface="DejaVu Sans Mono"/>
                <a:cs typeface="DejaVu Sans Mono"/>
              </a:rPr>
              <a:t> </a:t>
            </a:r>
            <a:r>
              <a:rPr sz="950" dirty="0">
                <a:solidFill>
                  <a:srgbClr val="FDE68A"/>
                </a:solidFill>
                <a:latin typeface="DejaVu Sans Mono"/>
                <a:cs typeface="DejaVu Sans Mono"/>
              </a:rPr>
              <a:t>Total</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75" dirty="0">
                <a:solidFill>
                  <a:srgbClr val="FDE68A"/>
                </a:solidFill>
                <a:latin typeface="DejaVu Sans Mono"/>
                <a:cs typeface="DejaVu Sans Mono"/>
              </a:rPr>
              <a:t> </a:t>
            </a:r>
            <a:r>
              <a:rPr sz="950" spc="-10" dirty="0">
                <a:solidFill>
                  <a:srgbClr val="FDE68A"/>
                </a:solidFill>
                <a:latin typeface="DejaVu Sans Mono"/>
                <a:cs typeface="DejaVu Sans Mono"/>
              </a:rPr>
              <a:t>Played</a:t>
            </a:r>
            <a:endParaRPr sz="950" dirty="0">
              <a:latin typeface="DejaVu Sans Mono"/>
              <a:cs typeface="DejaVu Sans Mono"/>
            </a:endParaRPr>
          </a:p>
        </p:txBody>
      </p:sp>
      <p:sp>
        <p:nvSpPr>
          <p:cNvPr id="19" name="object 17">
            <a:extLst>
              <a:ext uri="{FF2B5EF4-FFF2-40B4-BE49-F238E27FC236}">
                <a16:creationId xmlns:a16="http://schemas.microsoft.com/office/drawing/2014/main" id="{2138B6C5-245B-AF0B-E68C-A73D6E8ED220}"/>
              </a:ext>
            </a:extLst>
          </p:cNvPr>
          <p:cNvSpPr txBox="1"/>
          <p:nvPr/>
        </p:nvSpPr>
        <p:spPr>
          <a:xfrm>
            <a:off x="869828" y="5215228"/>
            <a:ext cx="2729865" cy="177165"/>
          </a:xfrm>
          <a:prstGeom prst="rect">
            <a:avLst/>
          </a:prstGeom>
        </p:spPr>
        <p:txBody>
          <a:bodyPr vert="horz" wrap="square" lIns="0" tIns="11430" rIns="0" bIns="0" rtlCol="0">
            <a:spAutoFit/>
          </a:bodyPr>
          <a:lstStyle/>
          <a:p>
            <a:pPr marL="12700">
              <a:lnSpc>
                <a:spcPct val="100000"/>
              </a:lnSpc>
              <a:spcBef>
                <a:spcPts val="90"/>
              </a:spcBef>
            </a:pPr>
            <a:r>
              <a:rPr sz="1000" spc="-65" dirty="0">
                <a:solidFill>
                  <a:srgbClr val="9CA2AF"/>
                </a:solidFill>
                <a:latin typeface="Montserrat"/>
                <a:cs typeface="Montserrat"/>
              </a:rPr>
              <a:t>Chennai</a:t>
            </a:r>
            <a:r>
              <a:rPr sz="1000" spc="-15" dirty="0">
                <a:solidFill>
                  <a:srgbClr val="9CA2AF"/>
                </a:solidFill>
                <a:latin typeface="Montserrat"/>
                <a:cs typeface="Montserrat"/>
              </a:rPr>
              <a:t> </a:t>
            </a:r>
            <a:r>
              <a:rPr sz="1000" spc="-70" dirty="0">
                <a:solidFill>
                  <a:srgbClr val="9CA2AF"/>
                </a:solidFill>
                <a:latin typeface="Montserrat"/>
                <a:cs typeface="Montserrat"/>
              </a:rPr>
              <a:t>Super</a:t>
            </a:r>
            <a:r>
              <a:rPr sz="1000" spc="-10" dirty="0">
                <a:solidFill>
                  <a:srgbClr val="9CA2AF"/>
                </a:solidFill>
                <a:latin typeface="Montserrat"/>
                <a:cs typeface="Montserrat"/>
              </a:rPr>
              <a:t> </a:t>
            </a:r>
            <a:r>
              <a:rPr sz="1000" spc="-60" dirty="0">
                <a:solidFill>
                  <a:srgbClr val="9CA2AF"/>
                </a:solidFill>
                <a:latin typeface="Montserrat"/>
                <a:cs typeface="Montserrat"/>
              </a:rPr>
              <a:t>Kings</a:t>
            </a:r>
            <a:r>
              <a:rPr sz="1000" spc="-15" dirty="0">
                <a:solidFill>
                  <a:srgbClr val="9CA2AF"/>
                </a:solidFill>
                <a:latin typeface="Montserrat"/>
                <a:cs typeface="Montserrat"/>
              </a:rPr>
              <a:t> </a:t>
            </a:r>
            <a:r>
              <a:rPr sz="1000" spc="-50" dirty="0">
                <a:solidFill>
                  <a:srgbClr val="9CA2AF"/>
                </a:solidFill>
                <a:latin typeface="Montserrat"/>
                <a:cs typeface="Montserrat"/>
              </a:rPr>
              <a:t>(2015):</a:t>
            </a:r>
            <a:r>
              <a:rPr sz="1000" spc="-10" dirty="0">
                <a:solidFill>
                  <a:srgbClr val="9CA2AF"/>
                </a:solidFill>
                <a:latin typeface="Montserrat"/>
                <a:cs typeface="Montserrat"/>
              </a:rPr>
              <a:t> </a:t>
            </a:r>
            <a:r>
              <a:rPr sz="1000" spc="-70" dirty="0">
                <a:solidFill>
                  <a:srgbClr val="9CA2AF"/>
                </a:solidFill>
                <a:latin typeface="Montserrat"/>
                <a:cs typeface="Montserrat"/>
              </a:rPr>
              <a:t>7.06</a:t>
            </a:r>
            <a:r>
              <a:rPr sz="1000" spc="-15" dirty="0">
                <a:solidFill>
                  <a:srgbClr val="9CA2AF"/>
                </a:solidFill>
                <a:latin typeface="Montserrat"/>
                <a:cs typeface="Montserrat"/>
              </a:rPr>
              <a:t> </a:t>
            </a:r>
            <a:r>
              <a:rPr sz="1000" spc="-60" dirty="0">
                <a:solidFill>
                  <a:srgbClr val="9CA2AF"/>
                </a:solidFill>
                <a:latin typeface="Montserrat"/>
                <a:cs typeface="Montserrat"/>
              </a:rPr>
              <a:t>wickets/match</a:t>
            </a:r>
            <a:endParaRPr sz="1000" dirty="0">
              <a:latin typeface="Montserrat"/>
              <a:cs typeface="Montserrat"/>
            </a:endParaRPr>
          </a:p>
        </p:txBody>
      </p:sp>
      <p:sp>
        <p:nvSpPr>
          <p:cNvPr id="21" name="object 27">
            <a:extLst>
              <a:ext uri="{FF2B5EF4-FFF2-40B4-BE49-F238E27FC236}">
                <a16:creationId xmlns:a16="http://schemas.microsoft.com/office/drawing/2014/main" id="{F162D424-33E0-34EF-C8E3-21F530E85C91}"/>
              </a:ext>
            </a:extLst>
          </p:cNvPr>
          <p:cNvSpPr txBox="1"/>
          <p:nvPr/>
        </p:nvSpPr>
        <p:spPr>
          <a:xfrm>
            <a:off x="10523834" y="2224208"/>
            <a:ext cx="855344"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65"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Scoring</a:t>
            </a:r>
            <a:r>
              <a:rPr sz="100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 </a:t>
            </a:r>
            <a:r>
              <a:rPr sz="1000" spc="-5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Speed</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22" name="object 28">
            <a:extLst>
              <a:ext uri="{FF2B5EF4-FFF2-40B4-BE49-F238E27FC236}">
                <a16:creationId xmlns:a16="http://schemas.microsoft.com/office/drawing/2014/main" id="{6901D7E9-024C-DD4B-0409-373E2FFA68CF}"/>
              </a:ext>
            </a:extLst>
          </p:cNvPr>
          <p:cNvSpPr txBox="1"/>
          <p:nvPr/>
        </p:nvSpPr>
        <p:spPr>
          <a:xfrm>
            <a:off x="6942670" y="1755060"/>
            <a:ext cx="2860040" cy="809625"/>
          </a:xfrm>
          <a:prstGeom prst="rect">
            <a:avLst/>
          </a:prstGeom>
        </p:spPr>
        <p:txBody>
          <a:bodyPr vert="horz" wrap="square" lIns="0" tIns="95250" rIns="0" bIns="0" rtlCol="0">
            <a:spAutoFit/>
          </a:bodyPr>
          <a:lstStyle/>
          <a:p>
            <a:pPr marL="12700">
              <a:lnSpc>
                <a:spcPct val="100000"/>
              </a:lnSpc>
              <a:spcBef>
                <a:spcPts val="750"/>
              </a:spcBef>
            </a:pPr>
            <a:r>
              <a:rPr sz="1350" b="1" spc="-65" dirty="0">
                <a:solidFill>
                  <a:srgbClr val="93C4FD"/>
                </a:solidFill>
                <a:latin typeface="Montserrat"/>
                <a:cs typeface="Montserrat"/>
              </a:rPr>
              <a:t>4.</a:t>
            </a:r>
            <a:r>
              <a:rPr sz="1350" b="1" spc="-30" dirty="0">
                <a:solidFill>
                  <a:srgbClr val="93C4FD"/>
                </a:solidFill>
                <a:latin typeface="Montserrat"/>
                <a:cs typeface="Montserrat"/>
              </a:rPr>
              <a:t> </a:t>
            </a:r>
            <a:r>
              <a:rPr sz="1350" b="1" spc="-120" dirty="0">
                <a:solidFill>
                  <a:srgbClr val="93C4FD"/>
                </a:solidFill>
                <a:latin typeface="Montserrat"/>
                <a:cs typeface="Montserrat"/>
              </a:rPr>
              <a:t>Run</a:t>
            </a:r>
            <a:r>
              <a:rPr sz="1350" b="1" spc="-25" dirty="0">
                <a:solidFill>
                  <a:srgbClr val="93C4FD"/>
                </a:solidFill>
                <a:latin typeface="Montserrat"/>
                <a:cs typeface="Montserrat"/>
              </a:rPr>
              <a:t> </a:t>
            </a:r>
            <a:r>
              <a:rPr sz="1350" b="1" spc="-20" dirty="0">
                <a:solidFill>
                  <a:srgbClr val="93C4FD"/>
                </a:solidFill>
                <a:latin typeface="Montserrat"/>
                <a:cs typeface="Montserrat"/>
              </a:rPr>
              <a:t>Rate</a:t>
            </a:r>
            <a:endParaRPr sz="1350" dirty="0">
              <a:latin typeface="Montserrat"/>
              <a:cs typeface="Montserrat"/>
            </a:endParaRPr>
          </a:p>
          <a:p>
            <a:pPr marL="12700">
              <a:lnSpc>
                <a:spcPct val="100000"/>
              </a:lnSpc>
              <a:spcBef>
                <a:spcPts val="530"/>
              </a:spcBef>
            </a:pPr>
            <a:r>
              <a:rPr sz="1150" spc="-70" dirty="0">
                <a:solidFill>
                  <a:srgbClr val="D0D5DA"/>
                </a:solidFill>
                <a:latin typeface="Montserrat"/>
                <a:cs typeface="Montserrat"/>
              </a:rPr>
              <a:t>Measures</a:t>
            </a:r>
            <a:r>
              <a:rPr sz="1150" dirty="0">
                <a:solidFill>
                  <a:srgbClr val="D0D5DA"/>
                </a:solidFill>
                <a:latin typeface="Montserrat"/>
                <a:cs typeface="Montserrat"/>
              </a:rPr>
              <a:t> </a:t>
            </a:r>
            <a:r>
              <a:rPr sz="1150" spc="-65" dirty="0">
                <a:solidFill>
                  <a:srgbClr val="D0D5DA"/>
                </a:solidFill>
                <a:latin typeface="Montserrat"/>
                <a:cs typeface="Montserrat"/>
              </a:rPr>
              <a:t>scoring</a:t>
            </a:r>
            <a:r>
              <a:rPr sz="1150" dirty="0">
                <a:solidFill>
                  <a:srgbClr val="D0D5DA"/>
                </a:solidFill>
                <a:latin typeface="Montserrat"/>
                <a:cs typeface="Montserrat"/>
              </a:rPr>
              <a:t> </a:t>
            </a:r>
            <a:r>
              <a:rPr sz="1150" spc="-75" dirty="0">
                <a:solidFill>
                  <a:srgbClr val="D0D5DA"/>
                </a:solidFill>
                <a:latin typeface="Montserrat"/>
                <a:cs typeface="Montserrat"/>
              </a:rPr>
              <a:t>speed</a:t>
            </a:r>
            <a:r>
              <a:rPr sz="1150" spc="5" dirty="0">
                <a:solidFill>
                  <a:srgbClr val="D0D5DA"/>
                </a:solidFill>
                <a:latin typeface="Montserrat"/>
                <a:cs typeface="Montserrat"/>
              </a:rPr>
              <a:t> </a:t>
            </a:r>
            <a:r>
              <a:rPr sz="1150" spc="-70" dirty="0">
                <a:solidFill>
                  <a:srgbClr val="D0D5DA"/>
                </a:solidFill>
                <a:latin typeface="Montserrat"/>
                <a:cs typeface="Montserrat"/>
              </a:rPr>
              <a:t>across</a:t>
            </a:r>
            <a:r>
              <a:rPr sz="1150" dirty="0">
                <a:solidFill>
                  <a:srgbClr val="D0D5DA"/>
                </a:solidFill>
                <a:latin typeface="Montserrat"/>
                <a:cs typeface="Montserrat"/>
              </a:rPr>
              <a:t> </a:t>
            </a:r>
            <a:r>
              <a:rPr sz="1150" spc="-10" dirty="0">
                <a:solidFill>
                  <a:srgbClr val="D0D5DA"/>
                </a:solidFill>
                <a:latin typeface="Montserrat"/>
                <a:cs typeface="Montserrat"/>
              </a:rPr>
              <a:t>matches</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Total</a:t>
            </a:r>
            <a:r>
              <a:rPr sz="950" spc="60" dirty="0">
                <a:solidFill>
                  <a:srgbClr val="FDE68A"/>
                </a:solidFill>
                <a:latin typeface="DejaVu Sans Mono"/>
                <a:cs typeface="DejaVu Sans Mono"/>
              </a:rPr>
              <a:t> </a:t>
            </a:r>
            <a:r>
              <a:rPr sz="950" dirty="0">
                <a:solidFill>
                  <a:srgbClr val="FDE68A"/>
                </a:solidFill>
                <a:latin typeface="DejaVu Sans Mono"/>
                <a:cs typeface="DejaVu Sans Mono"/>
              </a:rPr>
              <a:t>Runs</a:t>
            </a:r>
            <a:r>
              <a:rPr sz="950" spc="65" dirty="0">
                <a:solidFill>
                  <a:srgbClr val="FDE68A"/>
                </a:solidFill>
                <a:latin typeface="DejaVu Sans Mono"/>
                <a:cs typeface="DejaVu Sans Mono"/>
              </a:rPr>
              <a:t> </a:t>
            </a:r>
            <a:r>
              <a:rPr sz="950" dirty="0">
                <a:solidFill>
                  <a:srgbClr val="FDE68A"/>
                </a:solidFill>
                <a:latin typeface="DejaVu Sans Mono"/>
                <a:cs typeface="DejaVu Sans Mono"/>
              </a:rPr>
              <a:t>Scored</a:t>
            </a:r>
            <a:r>
              <a:rPr sz="950" spc="65" dirty="0">
                <a:solidFill>
                  <a:srgbClr val="FDE68A"/>
                </a:solidFill>
                <a:latin typeface="DejaVu Sans Mono"/>
                <a:cs typeface="DejaVu Sans Mono"/>
              </a:rPr>
              <a:t> </a:t>
            </a:r>
            <a:r>
              <a:rPr sz="950" dirty="0">
                <a:solidFill>
                  <a:srgbClr val="FDE68A"/>
                </a:solidFill>
                <a:latin typeface="DejaVu Sans Mono"/>
                <a:cs typeface="DejaVu Sans Mono"/>
              </a:rPr>
              <a:t>/</a:t>
            </a:r>
            <a:r>
              <a:rPr sz="950" spc="65" dirty="0">
                <a:solidFill>
                  <a:srgbClr val="FDE68A"/>
                </a:solidFill>
                <a:latin typeface="DejaVu Sans Mono"/>
                <a:cs typeface="DejaVu Sans Mono"/>
              </a:rPr>
              <a:t> </a:t>
            </a:r>
            <a:r>
              <a:rPr sz="950" dirty="0">
                <a:solidFill>
                  <a:srgbClr val="FDE68A"/>
                </a:solidFill>
                <a:latin typeface="DejaVu Sans Mono"/>
                <a:cs typeface="DejaVu Sans Mono"/>
              </a:rPr>
              <a:t>Total</a:t>
            </a:r>
            <a:r>
              <a:rPr sz="950" spc="65" dirty="0">
                <a:solidFill>
                  <a:srgbClr val="FDE68A"/>
                </a:solidFill>
                <a:latin typeface="DejaVu Sans Mono"/>
                <a:cs typeface="DejaVu Sans Mono"/>
              </a:rPr>
              <a:t> </a:t>
            </a:r>
            <a:r>
              <a:rPr sz="950" dirty="0">
                <a:solidFill>
                  <a:srgbClr val="FDE68A"/>
                </a:solidFill>
                <a:latin typeface="DejaVu Sans Mono"/>
                <a:cs typeface="DejaVu Sans Mono"/>
              </a:rPr>
              <a:t>Overs</a:t>
            </a:r>
            <a:r>
              <a:rPr sz="950" spc="65" dirty="0">
                <a:solidFill>
                  <a:srgbClr val="FDE68A"/>
                </a:solidFill>
                <a:latin typeface="DejaVu Sans Mono"/>
                <a:cs typeface="DejaVu Sans Mono"/>
              </a:rPr>
              <a:t> </a:t>
            </a:r>
            <a:r>
              <a:rPr sz="950" spc="-10" dirty="0">
                <a:solidFill>
                  <a:srgbClr val="FDE68A"/>
                </a:solidFill>
                <a:latin typeface="DejaVu Sans Mono"/>
                <a:cs typeface="DejaVu Sans Mono"/>
              </a:rPr>
              <a:t>Faced</a:t>
            </a:r>
            <a:endParaRPr sz="950" dirty="0">
              <a:latin typeface="DejaVu Sans Mono"/>
              <a:cs typeface="DejaVu Sans Mono"/>
            </a:endParaRPr>
          </a:p>
        </p:txBody>
      </p:sp>
      <p:pic>
        <p:nvPicPr>
          <p:cNvPr id="24" name="object 30">
            <a:extLst>
              <a:ext uri="{FF2B5EF4-FFF2-40B4-BE49-F238E27FC236}">
                <a16:creationId xmlns:a16="http://schemas.microsoft.com/office/drawing/2014/main" id="{E3659797-42C2-1156-18FB-9C04F81360A2}"/>
              </a:ext>
            </a:extLst>
          </p:cNvPr>
          <p:cNvPicPr/>
          <p:nvPr/>
        </p:nvPicPr>
        <p:blipFill>
          <a:blip r:embed="rId3" cstate="print"/>
          <a:stretch>
            <a:fillRect/>
          </a:stretch>
        </p:blipFill>
        <p:spPr>
          <a:xfrm>
            <a:off x="6891801" y="3057394"/>
            <a:ext cx="4838699" cy="380999"/>
          </a:xfrm>
          <a:prstGeom prst="rect">
            <a:avLst/>
          </a:prstGeom>
        </p:spPr>
      </p:pic>
      <p:sp>
        <p:nvSpPr>
          <p:cNvPr id="26" name="object 32">
            <a:extLst>
              <a:ext uri="{FF2B5EF4-FFF2-40B4-BE49-F238E27FC236}">
                <a16:creationId xmlns:a16="http://schemas.microsoft.com/office/drawing/2014/main" id="{81FE0EA5-6FD3-84E1-F6C1-9A7479B302D1}"/>
              </a:ext>
            </a:extLst>
          </p:cNvPr>
          <p:cNvSpPr txBox="1"/>
          <p:nvPr/>
        </p:nvSpPr>
        <p:spPr>
          <a:xfrm>
            <a:off x="10954139" y="4075111"/>
            <a:ext cx="573728"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lang="en-IN" sz="1000" spc="-6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S</a:t>
            </a:r>
            <a:r>
              <a:rPr sz="1000" spc="-60" dirty="0" err="1">
                <a:ln>
                  <a:solidFill>
                    <a:schemeClr val="accent2"/>
                  </a:solidFill>
                </a:ln>
                <a:solidFill>
                  <a:srgbClr val="FFFFFF"/>
                </a:solidFill>
                <a:effectLst>
                  <a:outerShdw blurRad="38100" dist="38100" dir="2700000" algn="tl">
                    <a:srgbClr val="000000">
                      <a:alpha val="43137"/>
                    </a:srgbClr>
                  </a:outerShdw>
                </a:effectLst>
                <a:latin typeface="Montserrat"/>
                <a:cs typeface="Montserrat"/>
              </a:rPr>
              <a:t>trategy</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27" name="object 33">
            <a:extLst>
              <a:ext uri="{FF2B5EF4-FFF2-40B4-BE49-F238E27FC236}">
                <a16:creationId xmlns:a16="http://schemas.microsoft.com/office/drawing/2014/main" id="{707A01DF-903B-5D54-E610-B8A43D21518D}"/>
              </a:ext>
            </a:extLst>
          </p:cNvPr>
          <p:cNvSpPr txBox="1"/>
          <p:nvPr/>
        </p:nvSpPr>
        <p:spPr>
          <a:xfrm>
            <a:off x="6942670" y="3952740"/>
            <a:ext cx="4276725"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Montserrat"/>
                <a:cs typeface="Montserrat"/>
              </a:rPr>
              <a:t>5.</a:t>
            </a:r>
            <a:r>
              <a:rPr sz="1350" b="1" spc="-20" dirty="0">
                <a:solidFill>
                  <a:srgbClr val="93C4FD"/>
                </a:solidFill>
                <a:latin typeface="Montserrat"/>
                <a:cs typeface="Montserrat"/>
              </a:rPr>
              <a:t> </a:t>
            </a:r>
            <a:r>
              <a:rPr sz="1350" b="1" spc="-114" dirty="0">
                <a:solidFill>
                  <a:srgbClr val="93C4FD"/>
                </a:solidFill>
                <a:latin typeface="Montserrat"/>
                <a:cs typeface="Montserrat"/>
              </a:rPr>
              <a:t>Toss</a:t>
            </a:r>
            <a:r>
              <a:rPr sz="1350" b="1" spc="-20" dirty="0">
                <a:solidFill>
                  <a:srgbClr val="93C4FD"/>
                </a:solidFill>
                <a:latin typeface="Montserrat"/>
                <a:cs typeface="Montserrat"/>
              </a:rPr>
              <a:t> </a:t>
            </a:r>
            <a:r>
              <a:rPr sz="1350" b="1" spc="-105" dirty="0">
                <a:solidFill>
                  <a:srgbClr val="93C4FD"/>
                </a:solidFill>
                <a:latin typeface="Montserrat"/>
                <a:cs typeface="Montserrat"/>
              </a:rPr>
              <a:t>Impact</a:t>
            </a:r>
            <a:r>
              <a:rPr sz="1350" b="1" spc="-20" dirty="0">
                <a:solidFill>
                  <a:srgbClr val="93C4FD"/>
                </a:solidFill>
                <a:latin typeface="Montserrat"/>
                <a:cs typeface="Montserrat"/>
              </a:rPr>
              <a:t> </a:t>
            </a:r>
            <a:r>
              <a:rPr sz="1350" b="1" spc="-25" dirty="0">
                <a:solidFill>
                  <a:srgbClr val="93C4FD"/>
                </a:solidFill>
                <a:latin typeface="Montserrat"/>
                <a:cs typeface="Montserrat"/>
              </a:rPr>
              <a:t>KPI</a:t>
            </a:r>
            <a:endParaRPr sz="1350" dirty="0">
              <a:latin typeface="Montserrat"/>
              <a:cs typeface="Montserrat"/>
            </a:endParaRPr>
          </a:p>
          <a:p>
            <a:pPr marL="12700">
              <a:lnSpc>
                <a:spcPct val="100000"/>
              </a:lnSpc>
              <a:spcBef>
                <a:spcPts val="530"/>
              </a:spcBef>
            </a:pPr>
            <a:r>
              <a:rPr sz="1150" spc="-90" dirty="0">
                <a:solidFill>
                  <a:srgbClr val="D0D5DA"/>
                </a:solidFill>
                <a:latin typeface="Montserrat"/>
                <a:cs typeface="Montserrat"/>
              </a:rPr>
              <a:t>Win</a:t>
            </a:r>
            <a:r>
              <a:rPr sz="1150" spc="-15" dirty="0">
                <a:solidFill>
                  <a:srgbClr val="D0D5DA"/>
                </a:solidFill>
                <a:latin typeface="Montserrat"/>
                <a:cs typeface="Montserrat"/>
              </a:rPr>
              <a:t> </a:t>
            </a:r>
            <a:r>
              <a:rPr sz="1150" spc="-95" dirty="0">
                <a:solidFill>
                  <a:srgbClr val="D0D5DA"/>
                </a:solidFill>
                <a:latin typeface="Montserrat"/>
                <a:cs typeface="Montserrat"/>
              </a:rPr>
              <a:t>%</a:t>
            </a:r>
            <a:r>
              <a:rPr sz="1150" spc="-10" dirty="0">
                <a:solidFill>
                  <a:srgbClr val="D0D5DA"/>
                </a:solidFill>
                <a:latin typeface="Montserrat"/>
                <a:cs typeface="Montserrat"/>
              </a:rPr>
              <a:t> </a:t>
            </a:r>
            <a:r>
              <a:rPr sz="1150" spc="-65" dirty="0">
                <a:solidFill>
                  <a:srgbClr val="D0D5DA"/>
                </a:solidFill>
                <a:latin typeface="Montserrat"/>
                <a:cs typeface="Montserrat"/>
              </a:rPr>
              <a:t>after</a:t>
            </a:r>
            <a:r>
              <a:rPr sz="1150" spc="-10" dirty="0">
                <a:solidFill>
                  <a:srgbClr val="D0D5DA"/>
                </a:solidFill>
                <a:latin typeface="Montserrat"/>
                <a:cs typeface="Montserrat"/>
              </a:rPr>
              <a:t> </a:t>
            </a:r>
            <a:r>
              <a:rPr sz="1150" spc="-65" dirty="0">
                <a:solidFill>
                  <a:srgbClr val="D0D5DA"/>
                </a:solidFill>
                <a:latin typeface="Montserrat"/>
                <a:cs typeface="Montserrat"/>
              </a:rPr>
              <a:t>toss</a:t>
            </a:r>
            <a:r>
              <a:rPr sz="1150" spc="-10" dirty="0">
                <a:solidFill>
                  <a:srgbClr val="D0D5DA"/>
                </a:solidFill>
                <a:latin typeface="Montserrat"/>
                <a:cs typeface="Montserrat"/>
              </a:rPr>
              <a:t> </a:t>
            </a:r>
            <a:r>
              <a:rPr sz="1150" spc="-60" dirty="0">
                <a:solidFill>
                  <a:srgbClr val="D0D5DA"/>
                </a:solidFill>
                <a:latin typeface="Montserrat"/>
                <a:cs typeface="Montserrat"/>
              </a:rPr>
              <a:t>decision</a:t>
            </a:r>
            <a:r>
              <a:rPr sz="1150" spc="-10" dirty="0">
                <a:solidFill>
                  <a:srgbClr val="D0D5DA"/>
                </a:solidFill>
                <a:latin typeface="Montserrat"/>
                <a:cs typeface="Montserrat"/>
              </a:rPr>
              <a:t> (bat/field)</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(Wins</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After</a:t>
            </a:r>
            <a:r>
              <a:rPr sz="950" spc="70" dirty="0">
                <a:solidFill>
                  <a:srgbClr val="FDE68A"/>
                </a:solidFill>
                <a:latin typeface="DejaVu Sans Mono"/>
                <a:cs typeface="DejaVu Sans Mono"/>
              </a:rPr>
              <a:t> </a:t>
            </a:r>
            <a:r>
              <a:rPr sz="950" dirty="0">
                <a:solidFill>
                  <a:srgbClr val="FDE68A"/>
                </a:solidFill>
                <a:latin typeface="DejaVu Sans Mono"/>
                <a:cs typeface="DejaVu Sans Mono"/>
              </a:rPr>
              <a:t>Decision</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75" dirty="0">
                <a:solidFill>
                  <a:srgbClr val="FDE68A"/>
                </a:solidFill>
                <a:latin typeface="DejaVu Sans Mono"/>
                <a:cs typeface="DejaVu Sans Mono"/>
              </a:rPr>
              <a:t> </a:t>
            </a:r>
            <a:r>
              <a:rPr sz="950" dirty="0">
                <a:solidFill>
                  <a:srgbClr val="FDE68A"/>
                </a:solidFill>
                <a:latin typeface="DejaVu Sans Mono"/>
                <a:cs typeface="DejaVu Sans Mono"/>
              </a:rPr>
              <a:t>with</a:t>
            </a:r>
            <a:r>
              <a:rPr sz="950" spc="70" dirty="0">
                <a:solidFill>
                  <a:srgbClr val="FDE68A"/>
                </a:solidFill>
                <a:latin typeface="DejaVu Sans Mono"/>
                <a:cs typeface="DejaVu Sans Mono"/>
              </a:rPr>
              <a:t> </a:t>
            </a:r>
            <a:r>
              <a:rPr sz="950" dirty="0">
                <a:solidFill>
                  <a:srgbClr val="FDE68A"/>
                </a:solidFill>
                <a:latin typeface="DejaVu Sans Mono"/>
                <a:cs typeface="DejaVu Sans Mono"/>
              </a:rPr>
              <a:t>That</a:t>
            </a:r>
            <a:r>
              <a:rPr sz="950" spc="70" dirty="0">
                <a:solidFill>
                  <a:srgbClr val="FDE68A"/>
                </a:solidFill>
                <a:latin typeface="DejaVu Sans Mono"/>
                <a:cs typeface="DejaVu Sans Mono"/>
              </a:rPr>
              <a:t> </a:t>
            </a:r>
            <a:r>
              <a:rPr sz="950" dirty="0">
                <a:solidFill>
                  <a:srgbClr val="FDE68A"/>
                </a:solidFill>
                <a:latin typeface="DejaVu Sans Mono"/>
                <a:cs typeface="DejaVu Sans Mono"/>
              </a:rPr>
              <a:t>Decision)</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75" dirty="0">
                <a:solidFill>
                  <a:srgbClr val="FDE68A"/>
                </a:solidFill>
                <a:latin typeface="DejaVu Sans Mono"/>
                <a:cs typeface="DejaVu Sans Mono"/>
              </a:rPr>
              <a:t> </a:t>
            </a:r>
            <a:r>
              <a:rPr sz="950" spc="-25" dirty="0">
                <a:solidFill>
                  <a:srgbClr val="FDE68A"/>
                </a:solidFill>
                <a:latin typeface="DejaVu Sans Mono"/>
                <a:cs typeface="DejaVu Sans Mono"/>
              </a:rPr>
              <a:t>100</a:t>
            </a:r>
            <a:endParaRPr sz="950" dirty="0">
              <a:latin typeface="DejaVu Sans Mono"/>
              <a:cs typeface="DejaVu Sans Mono"/>
            </a:endParaRPr>
          </a:p>
        </p:txBody>
      </p:sp>
      <p:sp>
        <p:nvSpPr>
          <p:cNvPr id="28" name="object 34">
            <a:extLst>
              <a:ext uri="{FF2B5EF4-FFF2-40B4-BE49-F238E27FC236}">
                <a16:creationId xmlns:a16="http://schemas.microsoft.com/office/drawing/2014/main" id="{1164C617-2E4D-5F7B-DF5B-D2DD907E169F}"/>
              </a:ext>
            </a:extLst>
          </p:cNvPr>
          <p:cNvSpPr txBox="1"/>
          <p:nvPr/>
        </p:nvSpPr>
        <p:spPr>
          <a:xfrm>
            <a:off x="6942670" y="4871420"/>
            <a:ext cx="2183765" cy="329565"/>
          </a:xfrm>
          <a:prstGeom prst="rect">
            <a:avLst/>
          </a:prstGeom>
        </p:spPr>
        <p:txBody>
          <a:bodyPr vert="horz" wrap="square" lIns="0" tIns="11430" rIns="0" bIns="0" rtlCol="0">
            <a:spAutoFit/>
          </a:bodyPr>
          <a:lstStyle/>
          <a:p>
            <a:pPr marL="12700" marR="5080">
              <a:lnSpc>
                <a:spcPct val="100000"/>
              </a:lnSpc>
              <a:spcBef>
                <a:spcPts val="90"/>
              </a:spcBef>
            </a:pPr>
            <a:r>
              <a:rPr sz="1000" spc="-100" dirty="0">
                <a:solidFill>
                  <a:srgbClr val="D0D5DA"/>
                </a:solidFill>
                <a:latin typeface="Montserrat"/>
                <a:cs typeface="Montserrat"/>
              </a:rPr>
              <a:t>MA</a:t>
            </a:r>
            <a:r>
              <a:rPr sz="1000" spc="-10" dirty="0">
                <a:solidFill>
                  <a:srgbClr val="D0D5DA"/>
                </a:solidFill>
                <a:latin typeface="Montserrat"/>
                <a:cs typeface="Montserrat"/>
              </a:rPr>
              <a:t> </a:t>
            </a:r>
            <a:r>
              <a:rPr sz="1000" spc="-70" dirty="0">
                <a:solidFill>
                  <a:srgbClr val="D0D5DA"/>
                </a:solidFill>
                <a:latin typeface="Montserrat"/>
                <a:cs typeface="Montserrat"/>
              </a:rPr>
              <a:t>Chidambaram:</a:t>
            </a:r>
            <a:r>
              <a:rPr sz="1000" spc="-5" dirty="0">
                <a:solidFill>
                  <a:srgbClr val="D0D5DA"/>
                </a:solidFill>
                <a:latin typeface="Montserrat"/>
                <a:cs typeface="Montserrat"/>
              </a:rPr>
              <a:t> </a:t>
            </a:r>
            <a:r>
              <a:rPr sz="950" b="1" spc="-45" dirty="0">
                <a:solidFill>
                  <a:srgbClr val="33D399"/>
                </a:solidFill>
                <a:latin typeface="Montserrat"/>
                <a:cs typeface="Montserrat"/>
              </a:rPr>
              <a:t>72.73%</a:t>
            </a:r>
            <a:r>
              <a:rPr sz="950" b="1" spc="-10" dirty="0">
                <a:solidFill>
                  <a:srgbClr val="33D399"/>
                </a:solidFill>
                <a:latin typeface="Montserrat"/>
                <a:cs typeface="Montserrat"/>
              </a:rPr>
              <a:t> </a:t>
            </a:r>
            <a:r>
              <a:rPr sz="1000" spc="-65" dirty="0">
                <a:solidFill>
                  <a:srgbClr val="D0D5DA"/>
                </a:solidFill>
                <a:latin typeface="Montserrat"/>
                <a:cs typeface="Montserrat"/>
              </a:rPr>
              <a:t>wins</a:t>
            </a:r>
            <a:r>
              <a:rPr sz="1000" spc="-10" dirty="0">
                <a:solidFill>
                  <a:srgbClr val="D0D5DA"/>
                </a:solidFill>
                <a:latin typeface="Montserrat"/>
                <a:cs typeface="Montserrat"/>
              </a:rPr>
              <a:t> </a:t>
            </a:r>
            <a:r>
              <a:rPr sz="1000" spc="-60" dirty="0">
                <a:solidFill>
                  <a:srgbClr val="D0D5DA"/>
                </a:solidFill>
                <a:latin typeface="Montserrat"/>
                <a:cs typeface="Montserrat"/>
              </a:rPr>
              <a:t>when batting</a:t>
            </a:r>
            <a:r>
              <a:rPr sz="1000" spc="-5" dirty="0">
                <a:solidFill>
                  <a:srgbClr val="D0D5DA"/>
                </a:solidFill>
                <a:latin typeface="Montserrat"/>
                <a:cs typeface="Montserrat"/>
              </a:rPr>
              <a:t> </a:t>
            </a:r>
            <a:r>
              <a:rPr sz="1000" spc="-10" dirty="0">
                <a:solidFill>
                  <a:srgbClr val="D0D5DA"/>
                </a:solidFill>
                <a:latin typeface="Montserrat"/>
                <a:cs typeface="Montserrat"/>
              </a:rPr>
              <a:t>first</a:t>
            </a:r>
            <a:endParaRPr sz="1000">
              <a:latin typeface="Montserrat"/>
              <a:cs typeface="Montserrat"/>
            </a:endParaRPr>
          </a:p>
        </p:txBody>
      </p:sp>
      <p:sp>
        <p:nvSpPr>
          <p:cNvPr id="29" name="object 35">
            <a:extLst>
              <a:ext uri="{FF2B5EF4-FFF2-40B4-BE49-F238E27FC236}">
                <a16:creationId xmlns:a16="http://schemas.microsoft.com/office/drawing/2014/main" id="{1D89067E-4463-D83D-1BB5-57F28A45EC0C}"/>
              </a:ext>
            </a:extLst>
          </p:cNvPr>
          <p:cNvSpPr txBox="1"/>
          <p:nvPr/>
        </p:nvSpPr>
        <p:spPr>
          <a:xfrm>
            <a:off x="9371694" y="4871420"/>
            <a:ext cx="2149475" cy="329565"/>
          </a:xfrm>
          <a:prstGeom prst="rect">
            <a:avLst/>
          </a:prstGeom>
        </p:spPr>
        <p:txBody>
          <a:bodyPr vert="horz" wrap="square" lIns="0" tIns="11430" rIns="0" bIns="0" rtlCol="0">
            <a:spAutoFit/>
          </a:bodyPr>
          <a:lstStyle/>
          <a:p>
            <a:pPr marL="12700" marR="5080">
              <a:lnSpc>
                <a:spcPct val="100000"/>
              </a:lnSpc>
              <a:spcBef>
                <a:spcPts val="90"/>
              </a:spcBef>
            </a:pPr>
            <a:r>
              <a:rPr sz="1000" spc="-60" dirty="0">
                <a:solidFill>
                  <a:srgbClr val="D0D5DA"/>
                </a:solidFill>
                <a:latin typeface="Montserrat"/>
                <a:cs typeface="Montserrat"/>
              </a:rPr>
              <a:t>Barabati</a:t>
            </a:r>
            <a:r>
              <a:rPr sz="1000" spc="-15" dirty="0">
                <a:solidFill>
                  <a:srgbClr val="D0D5DA"/>
                </a:solidFill>
                <a:latin typeface="Montserrat"/>
                <a:cs typeface="Montserrat"/>
              </a:rPr>
              <a:t> </a:t>
            </a:r>
            <a:r>
              <a:rPr sz="1000" spc="-60" dirty="0">
                <a:solidFill>
                  <a:srgbClr val="D0D5DA"/>
                </a:solidFill>
                <a:latin typeface="Montserrat"/>
                <a:cs typeface="Montserrat"/>
              </a:rPr>
              <a:t>Stadium:</a:t>
            </a:r>
            <a:r>
              <a:rPr sz="1000" spc="-15" dirty="0">
                <a:solidFill>
                  <a:srgbClr val="D0D5DA"/>
                </a:solidFill>
                <a:latin typeface="Montserrat"/>
                <a:cs typeface="Montserrat"/>
              </a:rPr>
              <a:t> </a:t>
            </a:r>
            <a:r>
              <a:rPr sz="950" b="1" spc="-40" dirty="0">
                <a:solidFill>
                  <a:srgbClr val="33D399"/>
                </a:solidFill>
                <a:latin typeface="Montserrat"/>
                <a:cs typeface="Montserrat"/>
              </a:rPr>
              <a:t>66.67%</a:t>
            </a:r>
            <a:r>
              <a:rPr sz="950" b="1" spc="-15" dirty="0">
                <a:solidFill>
                  <a:srgbClr val="33D399"/>
                </a:solidFill>
                <a:latin typeface="Montserrat"/>
                <a:cs typeface="Montserrat"/>
              </a:rPr>
              <a:t> </a:t>
            </a:r>
            <a:r>
              <a:rPr sz="1000" spc="-65" dirty="0">
                <a:solidFill>
                  <a:srgbClr val="D0D5DA"/>
                </a:solidFill>
                <a:latin typeface="Montserrat"/>
                <a:cs typeface="Montserrat"/>
              </a:rPr>
              <a:t>wins</a:t>
            </a:r>
            <a:r>
              <a:rPr sz="1000" spc="-15" dirty="0">
                <a:solidFill>
                  <a:srgbClr val="D0D5DA"/>
                </a:solidFill>
                <a:latin typeface="Montserrat"/>
                <a:cs typeface="Montserrat"/>
              </a:rPr>
              <a:t> </a:t>
            </a:r>
            <a:r>
              <a:rPr sz="1000" spc="-65" dirty="0">
                <a:solidFill>
                  <a:srgbClr val="D0D5DA"/>
                </a:solidFill>
                <a:latin typeface="Montserrat"/>
                <a:cs typeface="Montserrat"/>
              </a:rPr>
              <a:t>when</a:t>
            </a:r>
            <a:r>
              <a:rPr sz="1000" spc="-50" dirty="0">
                <a:solidFill>
                  <a:srgbClr val="D0D5DA"/>
                </a:solidFill>
                <a:latin typeface="Montserrat"/>
                <a:cs typeface="Montserrat"/>
              </a:rPr>
              <a:t> fielding</a:t>
            </a:r>
            <a:r>
              <a:rPr sz="1000" spc="-10" dirty="0">
                <a:solidFill>
                  <a:srgbClr val="D0D5DA"/>
                </a:solidFill>
                <a:latin typeface="Montserrat"/>
                <a:cs typeface="Montserrat"/>
              </a:rPr>
              <a:t> first</a:t>
            </a:r>
            <a:endParaRPr sz="1000" dirty="0">
              <a:latin typeface="Montserrat"/>
              <a:cs typeface="Montserrat"/>
            </a:endParaRPr>
          </a:p>
        </p:txBody>
      </p:sp>
      <p:pic>
        <p:nvPicPr>
          <p:cNvPr id="32" name="object 24">
            <a:extLst>
              <a:ext uri="{FF2B5EF4-FFF2-40B4-BE49-F238E27FC236}">
                <a16:creationId xmlns:a16="http://schemas.microsoft.com/office/drawing/2014/main" id="{113E1043-AD62-5A32-9D48-BFD6A12395AC}"/>
              </a:ext>
            </a:extLst>
          </p:cNvPr>
          <p:cNvPicPr/>
          <p:nvPr/>
        </p:nvPicPr>
        <p:blipFill>
          <a:blip r:embed="rId4" cstate="print"/>
          <a:stretch>
            <a:fillRect/>
          </a:stretch>
        </p:blipFill>
        <p:spPr>
          <a:xfrm>
            <a:off x="4923154" y="1148878"/>
            <a:ext cx="171449" cy="171449"/>
          </a:xfrm>
          <a:prstGeom prst="rect">
            <a:avLst/>
          </a:prstGeom>
        </p:spPr>
      </p:pic>
      <p:sp>
        <p:nvSpPr>
          <p:cNvPr id="37" name="TextBox 36">
            <a:extLst>
              <a:ext uri="{FF2B5EF4-FFF2-40B4-BE49-F238E27FC236}">
                <a16:creationId xmlns:a16="http://schemas.microsoft.com/office/drawing/2014/main" id="{074C7284-F0B3-E104-E1C4-F13DAE630815}"/>
              </a:ext>
            </a:extLst>
          </p:cNvPr>
          <p:cNvSpPr txBox="1"/>
          <p:nvPr/>
        </p:nvSpPr>
        <p:spPr>
          <a:xfrm>
            <a:off x="228601" y="5439742"/>
            <a:ext cx="11845212" cy="1477328"/>
          </a:xfrm>
          <a:prstGeom prst="rect">
            <a:avLst/>
          </a:prstGeom>
          <a:noFill/>
          <a:ln>
            <a:noFill/>
          </a:ln>
          <a:effectLst/>
        </p:spPr>
        <p:txBody>
          <a:bodyPr wrap="square">
            <a:spAutoFit/>
          </a:bodyPr>
          <a:lstStyle/>
          <a:p>
            <a:pPr algn="ctr"/>
            <a:r>
              <a:rPr lang="en-US" u="sng" dirty="0">
                <a:solidFill>
                  <a:schemeClr val="bg1"/>
                </a:solidFill>
                <a:effectLst>
                  <a:outerShdw blurRad="38100" dist="38100" dir="2700000" algn="tl">
                    <a:srgbClr val="000000">
                      <a:alpha val="43137"/>
                    </a:srgbClr>
                  </a:outerShdw>
                </a:effectLst>
              </a:rPr>
              <a:t>Translating KPIs into Winning Strategies:</a:t>
            </a:r>
            <a:br>
              <a:rPr lang="en-US" u="sng" dirty="0">
                <a:solidFill>
                  <a:schemeClr val="bg1"/>
                </a:solidFill>
                <a:effectLst>
                  <a:outerShdw blurRad="38100" dist="38100" dir="2700000" algn="tl">
                    <a:srgbClr val="000000">
                      <a:alpha val="43137"/>
                    </a:srgbClr>
                  </a:outerShdw>
                </a:effectLst>
              </a:rPr>
            </a:br>
            <a:r>
              <a:rPr lang="en-US" dirty="0">
                <a:solidFill>
                  <a:schemeClr val="bg1"/>
                </a:solidFill>
              </a:rPr>
              <a:t>RCB has demonstrated strong batting capabilities with a high run rate and powerful top-order performances. By strengthening bowling depth, reinforcing the middle order, and optimizing toss-time decisions, the team can convert its potential into consistent victories. These KPIs offer a clear roadmap to build a more balanced and competitive squad for future success.</a:t>
            </a:r>
            <a:endParaRPr lang="en-IN" dirty="0">
              <a:solidFill>
                <a:schemeClr val="bg1"/>
              </a:solidFill>
            </a:endParaRPr>
          </a:p>
        </p:txBody>
      </p:sp>
    </p:spTree>
    <p:extLst>
      <p:ext uri="{BB962C8B-B14F-4D97-AF65-F5344CB8AC3E}">
        <p14:creationId xmlns:p14="http://schemas.microsoft.com/office/powerpoint/2010/main" val="2169547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40B35EF9-6C5E-E0B0-487E-0D4FD2F428F3}"/>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9D9A65E8-5A9E-5EE5-62DB-A886172BC0B9}"/>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4" name="TextBox 3">
            <a:extLst>
              <a:ext uri="{FF2B5EF4-FFF2-40B4-BE49-F238E27FC236}">
                <a16:creationId xmlns:a16="http://schemas.microsoft.com/office/drawing/2014/main" id="{54A6F9E1-CB93-D1C4-CF57-00E6C1E72EDC}"/>
              </a:ext>
            </a:extLst>
          </p:cNvPr>
          <p:cNvSpPr txBox="1"/>
          <p:nvPr/>
        </p:nvSpPr>
        <p:spPr>
          <a:xfrm>
            <a:off x="1042308" y="99851"/>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5" name="object 6">
            <a:extLst>
              <a:ext uri="{FF2B5EF4-FFF2-40B4-BE49-F238E27FC236}">
                <a16:creationId xmlns:a16="http://schemas.microsoft.com/office/drawing/2014/main" id="{ADFAB204-81C8-016C-D281-03D38D53EA95}"/>
              </a:ext>
            </a:extLst>
          </p:cNvPr>
          <p:cNvSpPr txBox="1"/>
          <p:nvPr/>
        </p:nvSpPr>
        <p:spPr>
          <a:xfrm>
            <a:off x="2314881" y="560231"/>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sp>
        <p:nvSpPr>
          <p:cNvPr id="9" name="object 41">
            <a:extLst>
              <a:ext uri="{FF2B5EF4-FFF2-40B4-BE49-F238E27FC236}">
                <a16:creationId xmlns:a16="http://schemas.microsoft.com/office/drawing/2014/main" id="{506E2FC3-2376-CFDF-F241-CA2963B2EBA7}"/>
              </a:ext>
            </a:extLst>
          </p:cNvPr>
          <p:cNvSpPr txBox="1"/>
          <p:nvPr/>
        </p:nvSpPr>
        <p:spPr>
          <a:xfrm>
            <a:off x="733432" y="1542666"/>
            <a:ext cx="450925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High Impact Players (Highest Total in all Seasons)</a:t>
            </a:r>
            <a:endParaRPr sz="1550" dirty="0">
              <a:latin typeface="Montserrat"/>
              <a:cs typeface="Montserrat"/>
            </a:endParaRPr>
          </a:p>
        </p:txBody>
      </p:sp>
      <p:sp>
        <p:nvSpPr>
          <p:cNvPr id="14" name="object 41">
            <a:extLst>
              <a:ext uri="{FF2B5EF4-FFF2-40B4-BE49-F238E27FC236}">
                <a16:creationId xmlns:a16="http://schemas.microsoft.com/office/drawing/2014/main" id="{E17BAFE2-910A-62D7-00BE-D7E0135A04F4}"/>
              </a:ext>
            </a:extLst>
          </p:cNvPr>
          <p:cNvSpPr txBox="1"/>
          <p:nvPr/>
        </p:nvSpPr>
        <p:spPr>
          <a:xfrm>
            <a:off x="8580619" y="1727790"/>
            <a:ext cx="2301008"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Top 5 High Impact Players</a:t>
            </a:r>
            <a:endParaRPr sz="1550" dirty="0">
              <a:latin typeface="Montserrat"/>
              <a:cs typeface="Montserrat"/>
            </a:endParaRPr>
          </a:p>
        </p:txBody>
      </p:sp>
      <p:sp>
        <p:nvSpPr>
          <p:cNvPr id="17" name="TextBox 16">
            <a:extLst>
              <a:ext uri="{FF2B5EF4-FFF2-40B4-BE49-F238E27FC236}">
                <a16:creationId xmlns:a16="http://schemas.microsoft.com/office/drawing/2014/main" id="{E4E6BF57-7253-25DC-1FE9-CDF1FE9F5E62}"/>
              </a:ext>
            </a:extLst>
          </p:cNvPr>
          <p:cNvSpPr txBox="1"/>
          <p:nvPr/>
        </p:nvSpPr>
        <p:spPr>
          <a:xfrm>
            <a:off x="1519" y="1991032"/>
            <a:ext cx="5555219" cy="3139321"/>
          </a:xfrm>
          <a:prstGeom prst="rect">
            <a:avLst/>
          </a:prstGeom>
          <a:noFill/>
        </p:spPr>
        <p:txBody>
          <a:bodyPr wrap="square">
            <a:spAutoFit/>
          </a:bodyPr>
          <a:lstStyle/>
          <a:p>
            <a:pPr algn="ctr">
              <a:buNone/>
            </a:pPr>
            <a:r>
              <a:rPr lang="en-US" b="1" u="sng" dirty="0">
                <a:solidFill>
                  <a:schemeClr val="bg1"/>
                </a:solidFill>
              </a:rPr>
              <a:t>Player-wise Seasonal Batting Trends:</a:t>
            </a:r>
          </a:p>
          <a:p>
            <a:pPr>
              <a:buNone/>
            </a:pPr>
            <a:r>
              <a:rPr lang="en-US" dirty="0">
                <a:solidFill>
                  <a:schemeClr val="bg1"/>
                </a:solidFill>
              </a:rPr>
              <a:t>The season-wise batting performance highlights Chris Gayle as the top run-scorer with 910 runs, showcasing his explosive impact at the top of the order. Close behind, DR Smith (872 runs) and SR Watson (781 runs) also delivered strong, reliable form. RA Jadeja (320 runs) and JP Faulkner (180 runs), while lower on the list, added valuable finishing depth. These trends not only spotlight key performers but also help identify stable batting pillars for future team planning and auction strategies.</a:t>
            </a:r>
          </a:p>
        </p:txBody>
      </p:sp>
      <p:graphicFrame>
        <p:nvGraphicFramePr>
          <p:cNvPr id="6" name="Chart 5">
            <a:extLst>
              <a:ext uri="{FF2B5EF4-FFF2-40B4-BE49-F238E27FC236}">
                <a16:creationId xmlns:a16="http://schemas.microsoft.com/office/drawing/2014/main" id="{CE469659-1614-7D2B-FD1E-56568BE89A49}"/>
              </a:ext>
            </a:extLst>
          </p:cNvPr>
          <p:cNvGraphicFramePr>
            <a:graphicFrameLocks/>
          </p:cNvGraphicFramePr>
          <p:nvPr>
            <p:extLst>
              <p:ext uri="{D42A27DB-BD31-4B8C-83A1-F6EECF244321}">
                <p14:modId xmlns:p14="http://schemas.microsoft.com/office/powerpoint/2010/main" val="1628043542"/>
              </p:ext>
            </p:extLst>
          </p:nvPr>
        </p:nvGraphicFramePr>
        <p:xfrm>
          <a:off x="7445123" y="2144719"/>
          <a:ext cx="4572000" cy="46134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16222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CC16E00C-24FC-4526-B84D-2E4AB37809FA}"/>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E5E0E349-FFD2-2AA7-7173-9EB9593883B8}"/>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4" name="object 41">
            <a:extLst>
              <a:ext uri="{FF2B5EF4-FFF2-40B4-BE49-F238E27FC236}">
                <a16:creationId xmlns:a16="http://schemas.microsoft.com/office/drawing/2014/main" id="{677B8158-404E-DE4A-A61A-DF0C05E95C05}"/>
              </a:ext>
            </a:extLst>
          </p:cNvPr>
          <p:cNvSpPr txBox="1"/>
          <p:nvPr/>
        </p:nvSpPr>
        <p:spPr>
          <a:xfrm>
            <a:off x="438004" y="1563494"/>
            <a:ext cx="463641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High Impact Players (Highest Wickets in all Seasons)</a:t>
            </a:r>
            <a:endParaRPr sz="1550" dirty="0">
              <a:latin typeface="Montserrat"/>
              <a:cs typeface="Montserrat"/>
            </a:endParaRPr>
          </a:p>
        </p:txBody>
      </p:sp>
      <p:sp>
        <p:nvSpPr>
          <p:cNvPr id="6" name="object 41">
            <a:extLst>
              <a:ext uri="{FF2B5EF4-FFF2-40B4-BE49-F238E27FC236}">
                <a16:creationId xmlns:a16="http://schemas.microsoft.com/office/drawing/2014/main" id="{562EB5A6-FC18-CB2C-12DD-5A6E25F03ADD}"/>
              </a:ext>
            </a:extLst>
          </p:cNvPr>
          <p:cNvSpPr txBox="1"/>
          <p:nvPr/>
        </p:nvSpPr>
        <p:spPr>
          <a:xfrm>
            <a:off x="8516523" y="1561816"/>
            <a:ext cx="2301008"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Top 5 High Impact Players</a:t>
            </a:r>
            <a:endParaRPr sz="1550" dirty="0">
              <a:latin typeface="Montserrat"/>
              <a:cs typeface="Montserrat"/>
            </a:endParaRPr>
          </a:p>
        </p:txBody>
      </p:sp>
      <p:sp>
        <p:nvSpPr>
          <p:cNvPr id="8" name="TextBox 7">
            <a:extLst>
              <a:ext uri="{FF2B5EF4-FFF2-40B4-BE49-F238E27FC236}">
                <a16:creationId xmlns:a16="http://schemas.microsoft.com/office/drawing/2014/main" id="{9F2E7F34-8304-B68B-B637-F4E98139411B}"/>
              </a:ext>
            </a:extLst>
          </p:cNvPr>
          <p:cNvSpPr txBox="1"/>
          <p:nvPr/>
        </p:nvSpPr>
        <p:spPr>
          <a:xfrm>
            <a:off x="1042308" y="99851"/>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9" name="object 6">
            <a:extLst>
              <a:ext uri="{FF2B5EF4-FFF2-40B4-BE49-F238E27FC236}">
                <a16:creationId xmlns:a16="http://schemas.microsoft.com/office/drawing/2014/main" id="{EF2DF84C-DD24-EC71-1CBB-948064EAEE35}"/>
              </a:ext>
            </a:extLst>
          </p:cNvPr>
          <p:cNvSpPr txBox="1"/>
          <p:nvPr/>
        </p:nvSpPr>
        <p:spPr>
          <a:xfrm>
            <a:off x="2314881" y="560231"/>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sp>
        <p:nvSpPr>
          <p:cNvPr id="12" name="TextBox 11">
            <a:extLst>
              <a:ext uri="{FF2B5EF4-FFF2-40B4-BE49-F238E27FC236}">
                <a16:creationId xmlns:a16="http://schemas.microsoft.com/office/drawing/2014/main" id="{88A2C57E-6342-471A-9C7F-9D1072B7B362}"/>
              </a:ext>
            </a:extLst>
          </p:cNvPr>
          <p:cNvSpPr txBox="1"/>
          <p:nvPr/>
        </p:nvSpPr>
        <p:spPr>
          <a:xfrm>
            <a:off x="227464" y="2025939"/>
            <a:ext cx="5572835" cy="2862322"/>
          </a:xfrm>
          <a:prstGeom prst="rect">
            <a:avLst/>
          </a:prstGeom>
          <a:noFill/>
        </p:spPr>
        <p:txBody>
          <a:bodyPr wrap="square">
            <a:spAutoFit/>
          </a:bodyPr>
          <a:lstStyle/>
          <a:p>
            <a:pPr algn="ctr">
              <a:buNone/>
            </a:pPr>
            <a:r>
              <a:rPr lang="en-US" b="1" u="sng" dirty="0">
                <a:solidFill>
                  <a:schemeClr val="bg1"/>
                </a:solidFill>
              </a:rPr>
              <a:t>Bowling Performance Insights Across Seasons:</a:t>
            </a:r>
          </a:p>
          <a:p>
            <a:pPr>
              <a:buNone/>
            </a:pPr>
            <a:r>
              <a:rPr lang="en-US" dirty="0">
                <a:solidFill>
                  <a:schemeClr val="bg1"/>
                </a:solidFill>
              </a:rPr>
              <a:t>The multi-season wicket trends reveal JP Faulkner as the most impactful bowler with 48 wickets, well ahead of the rest of this group. RA Jadeja (31) and SR Watson (23) follow, showcasing valuable all-round bowling contributions. DR Smith (6) and CH Gayle (3) chipped in with occasional breakthroughs alongside their primary role as batsmen. The visual progression highlights players like Faulkner and Jadeja as the most reliable bowling assets for any team's strategy.</a:t>
            </a:r>
          </a:p>
        </p:txBody>
      </p:sp>
      <p:graphicFrame>
        <p:nvGraphicFramePr>
          <p:cNvPr id="10" name="Chart 9">
            <a:extLst>
              <a:ext uri="{FF2B5EF4-FFF2-40B4-BE49-F238E27FC236}">
                <a16:creationId xmlns:a16="http://schemas.microsoft.com/office/drawing/2014/main" id="{A34D86BD-003D-45F8-2454-B60A8A07348E}"/>
              </a:ext>
            </a:extLst>
          </p:cNvPr>
          <p:cNvGraphicFramePr>
            <a:graphicFrameLocks/>
          </p:cNvGraphicFramePr>
          <p:nvPr>
            <p:extLst>
              <p:ext uri="{D42A27DB-BD31-4B8C-83A1-F6EECF244321}">
                <p14:modId xmlns:p14="http://schemas.microsoft.com/office/powerpoint/2010/main" val="1002839984"/>
              </p:ext>
            </p:extLst>
          </p:nvPr>
        </p:nvGraphicFramePr>
        <p:xfrm>
          <a:off x="7157062" y="2471471"/>
          <a:ext cx="4572000" cy="428667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12228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1800E228-F85C-49BF-B437-7A566091A370}"/>
            </a:ext>
          </a:extLst>
        </p:cNvPr>
        <p:cNvGrpSpPr/>
        <p:nvPr/>
      </p:nvGrpSpPr>
      <p:grpSpPr>
        <a:xfrm>
          <a:off x="0" y="0"/>
          <a:ext cx="0" cy="0"/>
          <a:chOff x="0" y="0"/>
          <a:chExt cx="0" cy="0"/>
        </a:xfrm>
      </p:grpSpPr>
      <p:pic>
        <p:nvPicPr>
          <p:cNvPr id="3627" name="Picture 3626" descr="A colorful lines on a black background&#10;&#10;Description automatically generated">
            <a:extLst>
              <a:ext uri="{FF2B5EF4-FFF2-40B4-BE49-F238E27FC236}">
                <a16:creationId xmlns:a16="http://schemas.microsoft.com/office/drawing/2014/main" id="{F135596E-6D44-AD91-AE5D-482D3D4616D1}"/>
              </a:ext>
            </a:extLst>
          </p:cNvPr>
          <p:cNvPicPr>
            <a:picLocks noChangeAspect="1"/>
          </p:cNvPicPr>
          <p:nvPr/>
        </p:nvPicPr>
        <p:blipFill>
          <a:blip r:embed="rId2"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3" name="TextBox 2">
            <a:extLst>
              <a:ext uri="{FF2B5EF4-FFF2-40B4-BE49-F238E27FC236}">
                <a16:creationId xmlns:a16="http://schemas.microsoft.com/office/drawing/2014/main" id="{F42415A5-A729-A40E-700F-FD8F5A4642AD}"/>
              </a:ext>
            </a:extLst>
          </p:cNvPr>
          <p:cNvSpPr txBox="1"/>
          <p:nvPr/>
        </p:nvSpPr>
        <p:spPr>
          <a:xfrm>
            <a:off x="1042308" y="99851"/>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4" name="object 6">
            <a:extLst>
              <a:ext uri="{FF2B5EF4-FFF2-40B4-BE49-F238E27FC236}">
                <a16:creationId xmlns:a16="http://schemas.microsoft.com/office/drawing/2014/main" id="{1DE35049-E465-3672-4A90-D6C2DFF5E79D}"/>
              </a:ext>
            </a:extLst>
          </p:cNvPr>
          <p:cNvSpPr txBox="1"/>
          <p:nvPr/>
        </p:nvSpPr>
        <p:spPr>
          <a:xfrm>
            <a:off x="2314881" y="560231"/>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sp>
        <p:nvSpPr>
          <p:cNvPr id="5" name="object 41">
            <a:extLst>
              <a:ext uri="{FF2B5EF4-FFF2-40B4-BE49-F238E27FC236}">
                <a16:creationId xmlns:a16="http://schemas.microsoft.com/office/drawing/2014/main" id="{ACBC35E1-CB64-C3CC-1E58-6E72CBB9086F}"/>
              </a:ext>
            </a:extLst>
          </p:cNvPr>
          <p:cNvSpPr txBox="1"/>
          <p:nvPr/>
        </p:nvSpPr>
        <p:spPr>
          <a:xfrm>
            <a:off x="4647230" y="1083451"/>
            <a:ext cx="463641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RCB players with High Average Runs</a:t>
            </a:r>
            <a:endParaRPr sz="1550" dirty="0">
              <a:latin typeface="Montserrat"/>
              <a:cs typeface="Montserrat"/>
            </a:endParaRPr>
          </a:p>
        </p:txBody>
      </p:sp>
      <p:sp>
        <p:nvSpPr>
          <p:cNvPr id="10" name="TextBox 9">
            <a:extLst>
              <a:ext uri="{FF2B5EF4-FFF2-40B4-BE49-F238E27FC236}">
                <a16:creationId xmlns:a16="http://schemas.microsoft.com/office/drawing/2014/main" id="{F9E78A71-5335-296D-88AF-F65EC8BF6FE1}"/>
              </a:ext>
            </a:extLst>
          </p:cNvPr>
          <p:cNvSpPr txBox="1"/>
          <p:nvPr/>
        </p:nvSpPr>
        <p:spPr>
          <a:xfrm>
            <a:off x="142875" y="5257562"/>
            <a:ext cx="12049125" cy="1600438"/>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lgn="ctr">
              <a:buNone/>
            </a:pPr>
            <a:r>
              <a:rPr lang="en-US" b="1" u="sng" dirty="0">
                <a:solidFill>
                  <a:schemeClr val="bg1"/>
                </a:solidFill>
                <a:effectLst>
                  <a:outerShdw blurRad="38100" dist="38100" dir="2700000" algn="tl">
                    <a:srgbClr val="000000">
                      <a:alpha val="43137"/>
                    </a:srgbClr>
                  </a:outerShdw>
                </a:effectLst>
              </a:rPr>
              <a:t>Consistent Run-Scorers and Key Contributors:</a:t>
            </a:r>
          </a:p>
          <a:p>
            <a:pPr>
              <a:buNone/>
            </a:pPr>
            <a:r>
              <a:rPr lang="en-US" sz="1600" dirty="0">
                <a:solidFill>
                  <a:schemeClr val="bg1"/>
                </a:solidFill>
              </a:rPr>
              <a:t>Chris Gayle leads the batting performance with a remarkable average of 35.00, reinforcing his reputation as one of the most consistent run-scorers in this group. V Kohli (30.59) and AB de Villiers (28.65) follow closely, underlining their impact in the top order. Yuvraj Singh (27.42) and CA Pujara (23.00) also contribute meaningfully further down the list. This trend underscores a strong core of top-order performers, while several middle and lower-order players add moderate value. These averages provide clear guidance for identifying dependable batting options and evaluating player potential for future match strategies.</a:t>
            </a:r>
          </a:p>
        </p:txBody>
      </p:sp>
      <p:graphicFrame>
        <p:nvGraphicFramePr>
          <p:cNvPr id="7" name="Chart 6">
            <a:extLst>
              <a:ext uri="{FF2B5EF4-FFF2-40B4-BE49-F238E27FC236}">
                <a16:creationId xmlns:a16="http://schemas.microsoft.com/office/drawing/2014/main" id="{DD27A480-4252-4AF4-E92A-99D48A85451E}"/>
              </a:ext>
            </a:extLst>
          </p:cNvPr>
          <p:cNvGraphicFramePr>
            <a:graphicFrameLocks/>
          </p:cNvGraphicFramePr>
          <p:nvPr>
            <p:extLst>
              <p:ext uri="{D42A27DB-BD31-4B8C-83A1-F6EECF244321}">
                <p14:modId xmlns:p14="http://schemas.microsoft.com/office/powerpoint/2010/main" val="2258080843"/>
              </p:ext>
            </p:extLst>
          </p:nvPr>
        </p:nvGraphicFramePr>
        <p:xfrm>
          <a:off x="506436" y="1359932"/>
          <a:ext cx="11211951" cy="373314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92913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7B1169C9-1049-9342-6D4F-FEC87064AC2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3E4A5DE-E566-A78E-6912-006253BED0C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14BA7EAC-5181-B21B-BC60-98958908453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22150" y="0"/>
            <a:ext cx="2269849" cy="129100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6EE4DA9A-3EDC-CB29-ABEA-009C98D2A659}"/>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656304"/>
            <a:ext cx="2112824" cy="1201696"/>
          </a:xfrm>
          <a:prstGeom prst="rect">
            <a:avLst/>
          </a:prstGeom>
        </p:spPr>
      </p:pic>
      <p:sp>
        <p:nvSpPr>
          <p:cNvPr id="6" name="TextBox 5">
            <a:extLst>
              <a:ext uri="{FF2B5EF4-FFF2-40B4-BE49-F238E27FC236}">
                <a16:creationId xmlns:a16="http://schemas.microsoft.com/office/drawing/2014/main" id="{0BE17079-02DC-4920-2C59-760FB54289B1}"/>
              </a:ext>
            </a:extLst>
          </p:cNvPr>
          <p:cNvSpPr txBox="1"/>
          <p:nvPr/>
        </p:nvSpPr>
        <p:spPr>
          <a:xfrm>
            <a:off x="77755" y="1291006"/>
            <a:ext cx="6018245" cy="5493812"/>
          </a:xfrm>
          <a:prstGeom prst="rect">
            <a:avLst/>
          </a:prstGeom>
          <a:noFill/>
          <a:ln>
            <a:solidFill>
              <a:schemeClr val="bg1"/>
            </a:solidFill>
          </a:ln>
          <a:effectLst>
            <a:glow rad="63500">
              <a:schemeClr val="accent1">
                <a:satMod val="175000"/>
                <a:alpha val="40000"/>
              </a:schemeClr>
            </a:glow>
          </a:effectLst>
        </p:spPr>
        <p:txBody>
          <a:bodyPr wrap="square">
            <a:spAutoFit/>
          </a:bodyPr>
          <a:lstStyle/>
          <a:p>
            <a:pPr marL="231140" algn="ctr">
              <a:lnSpc>
                <a:spcPct val="100000"/>
              </a:lnSpc>
              <a:spcBef>
                <a:spcPts val="5"/>
              </a:spcBef>
            </a:pPr>
            <a:r>
              <a:rPr lang="en-IN" b="1" spc="-160" dirty="0">
                <a:solidFill>
                  <a:schemeClr val="bg2"/>
                </a:solidFill>
                <a:latin typeface="Montserrat"/>
                <a:cs typeface="Montserrat"/>
              </a:rPr>
              <a:t>Key</a:t>
            </a:r>
            <a:r>
              <a:rPr lang="en-IN" b="1" spc="-40" dirty="0">
                <a:solidFill>
                  <a:schemeClr val="bg2"/>
                </a:solidFill>
                <a:latin typeface="Montserrat"/>
                <a:cs typeface="Montserrat"/>
              </a:rPr>
              <a:t> </a:t>
            </a:r>
            <a:r>
              <a:rPr lang="en-IN" b="1" spc="-140" dirty="0">
                <a:solidFill>
                  <a:schemeClr val="bg2"/>
                </a:solidFill>
                <a:latin typeface="Montserrat"/>
                <a:cs typeface="Montserrat"/>
              </a:rPr>
              <a:t>Data</a:t>
            </a:r>
            <a:r>
              <a:rPr lang="en-IN" b="1" spc="-40" dirty="0">
                <a:solidFill>
                  <a:schemeClr val="bg2"/>
                </a:solidFill>
                <a:latin typeface="Montserrat"/>
                <a:cs typeface="Montserrat"/>
              </a:rPr>
              <a:t> </a:t>
            </a:r>
            <a:r>
              <a:rPr lang="en-IN" b="1" spc="-10" dirty="0">
                <a:solidFill>
                  <a:schemeClr val="bg2"/>
                </a:solidFill>
                <a:latin typeface="Montserrat"/>
                <a:cs typeface="Montserrat"/>
              </a:rPr>
              <a:t>Insights</a:t>
            </a:r>
          </a:p>
          <a:p>
            <a:pPr marL="231140">
              <a:lnSpc>
                <a:spcPct val="100000"/>
              </a:lnSpc>
              <a:spcBef>
                <a:spcPts val="5"/>
              </a:spcBef>
            </a:pPr>
            <a:endParaRPr lang="en-IN" sz="1400" dirty="0">
              <a:solidFill>
                <a:schemeClr val="bg1"/>
              </a:solidFill>
              <a:latin typeface="Montserrat"/>
              <a:cs typeface="Montserrat"/>
            </a:endParaRPr>
          </a:p>
          <a:p>
            <a:r>
              <a:rPr lang="en-US" sz="1400" b="1" dirty="0">
                <a:solidFill>
                  <a:schemeClr val="bg1"/>
                </a:solidFill>
              </a:rPr>
              <a:t>  </a:t>
            </a:r>
            <a:r>
              <a:rPr lang="en-US" sz="1400" b="1" dirty="0">
                <a:solidFill>
                  <a:schemeClr val="bg2">
                    <a:lumMod val="40000"/>
                    <a:lumOff val="60000"/>
                  </a:schemeClr>
                </a:solidFill>
              </a:rPr>
              <a:t>Top Batting Performers</a:t>
            </a:r>
            <a:br>
              <a:rPr lang="en-US" sz="1400" dirty="0">
                <a:solidFill>
                  <a:schemeClr val="bg1"/>
                </a:solidFill>
              </a:rPr>
            </a:br>
            <a:r>
              <a:rPr lang="en-US" sz="1400" dirty="0">
                <a:solidFill>
                  <a:schemeClr val="bg1"/>
                </a:solidFill>
              </a:rPr>
              <a:t>LMP Simmons (</a:t>
            </a:r>
            <a:r>
              <a:rPr lang="en-US" sz="1400" b="1" dirty="0">
                <a:solidFill>
                  <a:schemeClr val="bg1"/>
                </a:solidFill>
              </a:rPr>
              <a:t>42.82 avg runs/match</a:t>
            </a:r>
            <a:r>
              <a:rPr lang="en-US" sz="1400" dirty="0">
                <a:solidFill>
                  <a:schemeClr val="bg1"/>
                </a:solidFill>
              </a:rPr>
              <a:t>), V Kohli (</a:t>
            </a:r>
            <a:r>
              <a:rPr lang="en-US" sz="1400" b="1" dirty="0">
                <a:solidFill>
                  <a:schemeClr val="bg1"/>
                </a:solidFill>
              </a:rPr>
              <a:t>39.87</a:t>
            </a:r>
            <a:r>
              <a:rPr lang="en-US" sz="1400" dirty="0">
                <a:solidFill>
                  <a:schemeClr val="bg1"/>
                </a:solidFill>
              </a:rPr>
              <a:t>), and DA Warner (</a:t>
            </a:r>
            <a:r>
              <a:rPr lang="en-US" sz="1400" b="1" dirty="0">
                <a:solidFill>
                  <a:schemeClr val="bg1"/>
                </a:solidFill>
              </a:rPr>
              <a:t>38.49</a:t>
            </a:r>
            <a:r>
              <a:rPr lang="en-US" sz="1400" dirty="0">
                <a:solidFill>
                  <a:schemeClr val="bg1"/>
                </a:solidFill>
              </a:rPr>
              <a:t>) emerged as the leading run contributors in the analysis.</a:t>
            </a:r>
          </a:p>
          <a:p>
            <a:endParaRPr lang="en-US" sz="1400" dirty="0">
              <a:solidFill>
                <a:schemeClr val="bg1"/>
              </a:solidFill>
            </a:endParaRPr>
          </a:p>
          <a:p>
            <a:r>
              <a:rPr lang="en-US" sz="1400" b="1" dirty="0">
                <a:solidFill>
                  <a:schemeClr val="bg1"/>
                </a:solidFill>
              </a:rPr>
              <a:t>• </a:t>
            </a:r>
            <a:r>
              <a:rPr lang="en-US" sz="1400" b="1" dirty="0">
                <a:solidFill>
                  <a:schemeClr val="bg2">
                    <a:lumMod val="40000"/>
                    <a:lumOff val="60000"/>
                  </a:schemeClr>
                </a:solidFill>
              </a:rPr>
              <a:t>Strong Bowling Performers</a:t>
            </a:r>
            <a:br>
              <a:rPr lang="en-US" sz="1400" dirty="0">
                <a:solidFill>
                  <a:schemeClr val="bg1"/>
                </a:solidFill>
              </a:rPr>
            </a:br>
            <a:r>
              <a:rPr lang="en-US" sz="1400" dirty="0">
                <a:solidFill>
                  <a:schemeClr val="bg1"/>
                </a:solidFill>
              </a:rPr>
              <a:t>DJ Bravo (</a:t>
            </a:r>
            <a:r>
              <a:rPr lang="en-US" sz="1400" b="1" dirty="0">
                <a:solidFill>
                  <a:schemeClr val="bg1"/>
                </a:solidFill>
              </a:rPr>
              <a:t>81 wickets</a:t>
            </a:r>
            <a:r>
              <a:rPr lang="en-US" sz="1400" dirty="0">
                <a:solidFill>
                  <a:schemeClr val="bg1"/>
                </a:solidFill>
              </a:rPr>
              <a:t>), MM Sharma (</a:t>
            </a:r>
            <a:r>
              <a:rPr lang="en-US" sz="1400" b="1" dirty="0">
                <a:solidFill>
                  <a:schemeClr val="bg1"/>
                </a:solidFill>
              </a:rPr>
              <a:t>78 wickets</a:t>
            </a:r>
            <a:r>
              <a:rPr lang="en-US" sz="1400" dirty="0">
                <a:solidFill>
                  <a:schemeClr val="bg1"/>
                </a:solidFill>
              </a:rPr>
              <a:t>), and B Kumar (</a:t>
            </a:r>
            <a:r>
              <a:rPr lang="en-US" sz="1400" b="1" dirty="0">
                <a:solidFill>
                  <a:schemeClr val="bg1"/>
                </a:solidFill>
              </a:rPr>
              <a:t>77 wickets</a:t>
            </a:r>
            <a:r>
              <a:rPr lang="en-US" sz="1400" dirty="0">
                <a:solidFill>
                  <a:schemeClr val="bg1"/>
                </a:solidFill>
              </a:rPr>
              <a:t>) stood out as the leading wicket-takers.</a:t>
            </a:r>
          </a:p>
          <a:p>
            <a:endParaRPr lang="en-US" sz="1400" dirty="0">
              <a:solidFill>
                <a:schemeClr val="bg1"/>
              </a:solidFill>
            </a:endParaRPr>
          </a:p>
          <a:p>
            <a:r>
              <a:rPr lang="en-US" sz="1400" b="1" dirty="0">
                <a:solidFill>
                  <a:schemeClr val="accent2"/>
                </a:solidFill>
              </a:rPr>
              <a:t>All-Rounder Impact Identified</a:t>
            </a:r>
          </a:p>
          <a:p>
            <a:r>
              <a:rPr lang="en-US" sz="1400" dirty="0">
                <a:solidFill>
                  <a:schemeClr val="bg1"/>
                </a:solidFill>
              </a:rPr>
              <a:t>KH Pandya (</a:t>
            </a:r>
            <a:r>
              <a:rPr lang="en-US" sz="1400" b="1" dirty="0">
                <a:solidFill>
                  <a:schemeClr val="bg1"/>
                </a:solidFill>
              </a:rPr>
              <a:t>186.61 SR, 1.16 economy</a:t>
            </a:r>
            <a:r>
              <a:rPr lang="en-US" sz="1400" dirty="0">
                <a:solidFill>
                  <a:schemeClr val="bg1"/>
                </a:solidFill>
              </a:rPr>
              <a:t>), AD Russell (</a:t>
            </a:r>
            <a:r>
              <a:rPr lang="en-US" sz="1400" b="1" dirty="0">
                <a:solidFill>
                  <a:schemeClr val="bg1"/>
                </a:solidFill>
              </a:rPr>
              <a:t>163.16 SR, 1.29 economy</a:t>
            </a:r>
            <a:r>
              <a:rPr lang="en-US" sz="1400" dirty="0">
                <a:solidFill>
                  <a:schemeClr val="bg1"/>
                </a:solidFill>
              </a:rPr>
              <a:t>) and GJ Maxwell (</a:t>
            </a:r>
            <a:r>
              <a:rPr lang="en-US" sz="1400" b="1" dirty="0">
                <a:solidFill>
                  <a:schemeClr val="bg1"/>
                </a:solidFill>
              </a:rPr>
              <a:t>156.60 SR, 1.60 economy</a:t>
            </a:r>
            <a:r>
              <a:rPr lang="en-US" sz="1400" dirty="0">
                <a:solidFill>
                  <a:schemeClr val="bg1"/>
                </a:solidFill>
              </a:rPr>
              <a:t>) showed strong dual-role impact with both batting and bowling contributions.</a:t>
            </a:r>
          </a:p>
          <a:p>
            <a:br>
              <a:rPr lang="en-US" sz="1400" dirty="0">
                <a:solidFill>
                  <a:schemeClr val="bg1"/>
                </a:solidFill>
              </a:rPr>
            </a:br>
            <a:r>
              <a:rPr lang="en-US" sz="1400" b="1" dirty="0">
                <a:solidFill>
                  <a:schemeClr val="accent2"/>
                </a:solidFill>
              </a:rPr>
              <a:t>Venue-Specific Trends Matter</a:t>
            </a:r>
          </a:p>
          <a:p>
            <a:r>
              <a:rPr lang="en-US" sz="1400" dirty="0">
                <a:solidFill>
                  <a:schemeClr val="bg1"/>
                </a:solidFill>
              </a:rPr>
              <a:t>Brabourne Stadium (</a:t>
            </a:r>
            <a:r>
              <a:rPr lang="en-US" sz="1400" b="1" dirty="0">
                <a:solidFill>
                  <a:schemeClr val="bg1"/>
                </a:solidFill>
              </a:rPr>
              <a:t>1.41 runs/ball</a:t>
            </a:r>
            <a:r>
              <a:rPr lang="en-US" sz="1400" dirty="0">
                <a:solidFill>
                  <a:schemeClr val="bg1"/>
                </a:solidFill>
              </a:rPr>
              <a:t>) and M </a:t>
            </a:r>
            <a:r>
              <a:rPr lang="en-US" sz="1400" dirty="0" err="1">
                <a:solidFill>
                  <a:schemeClr val="bg1"/>
                </a:solidFill>
              </a:rPr>
              <a:t>Chinnaswamy</a:t>
            </a:r>
            <a:r>
              <a:rPr lang="en-US" sz="1400" dirty="0">
                <a:solidFill>
                  <a:schemeClr val="bg1"/>
                </a:solidFill>
              </a:rPr>
              <a:t> Stadium (</a:t>
            </a:r>
            <a:r>
              <a:rPr lang="en-US" sz="1400" b="1" dirty="0">
                <a:solidFill>
                  <a:schemeClr val="bg1"/>
                </a:solidFill>
              </a:rPr>
              <a:t>1.38</a:t>
            </a:r>
            <a:r>
              <a:rPr lang="en-US" sz="1400" dirty="0">
                <a:solidFill>
                  <a:schemeClr val="bg1"/>
                </a:solidFill>
              </a:rPr>
              <a:t>) emerge as high-scoring venues, highlighting the importance of venue-specific batting strategy.</a:t>
            </a:r>
          </a:p>
          <a:p>
            <a:br>
              <a:rPr lang="en-US" sz="1400" dirty="0">
                <a:solidFill>
                  <a:schemeClr val="bg1"/>
                </a:solidFill>
              </a:rPr>
            </a:br>
            <a:r>
              <a:rPr lang="en-US" sz="1400" b="1" dirty="0">
                <a:solidFill>
                  <a:schemeClr val="accent2"/>
                </a:solidFill>
              </a:rPr>
              <a:t>Toss Decisions Drive </a:t>
            </a:r>
            <a:r>
              <a:rPr lang="en-US" sz="1400" b="1" dirty="0" err="1">
                <a:solidFill>
                  <a:schemeClr val="accent2"/>
                </a:solidFill>
              </a:rPr>
              <a:t>Outcomes</a:t>
            </a:r>
            <a:r>
              <a:rPr lang="en-US" sz="1400" dirty="0" err="1">
                <a:solidFill>
                  <a:schemeClr val="bg1"/>
                </a:solidFill>
              </a:rPr>
              <a:t>MA</a:t>
            </a:r>
            <a:r>
              <a:rPr lang="en-US" sz="1400" dirty="0">
                <a:solidFill>
                  <a:schemeClr val="bg1"/>
                </a:solidFill>
              </a:rPr>
              <a:t> Chidambaram Stadium showed the strongest toss impact, with </a:t>
            </a:r>
            <a:r>
              <a:rPr lang="en-US" sz="1400" b="1" dirty="0">
                <a:solidFill>
                  <a:schemeClr val="bg1"/>
                </a:solidFill>
              </a:rPr>
              <a:t>72.73%</a:t>
            </a:r>
            <a:r>
              <a:rPr lang="en-US" sz="1400" dirty="0">
                <a:solidFill>
                  <a:schemeClr val="bg1"/>
                </a:solidFill>
              </a:rPr>
              <a:t> of toss winners going on to win the match when choosing to bat.</a:t>
            </a:r>
            <a:br>
              <a:rPr lang="en-US" sz="1400" dirty="0">
                <a:solidFill>
                  <a:schemeClr val="bg1"/>
                </a:solidFill>
              </a:rPr>
            </a:br>
            <a:endParaRPr lang="en-IN" sz="1400" dirty="0">
              <a:solidFill>
                <a:schemeClr val="bg1"/>
              </a:solidFill>
              <a:latin typeface="Montserrat"/>
              <a:cs typeface="Montserrat"/>
            </a:endParaRPr>
          </a:p>
          <a:p>
            <a:pPr marL="278765">
              <a:lnSpc>
                <a:spcPct val="100000"/>
              </a:lnSpc>
              <a:spcBef>
                <a:spcPts val="5"/>
              </a:spcBef>
            </a:pPr>
            <a:endParaRPr lang="en-IN" sz="1100" dirty="0">
              <a:latin typeface="Montserrat"/>
              <a:cs typeface="Montserrat"/>
            </a:endParaRPr>
          </a:p>
        </p:txBody>
      </p:sp>
      <p:sp>
        <p:nvSpPr>
          <p:cNvPr id="9" name="TextBox 8">
            <a:extLst>
              <a:ext uri="{FF2B5EF4-FFF2-40B4-BE49-F238E27FC236}">
                <a16:creationId xmlns:a16="http://schemas.microsoft.com/office/drawing/2014/main" id="{FB9CF9C7-A375-289B-6E37-A26F873420FF}"/>
              </a:ext>
            </a:extLst>
          </p:cNvPr>
          <p:cNvSpPr txBox="1"/>
          <p:nvPr/>
        </p:nvSpPr>
        <p:spPr>
          <a:xfrm>
            <a:off x="6694258" y="1291006"/>
            <a:ext cx="4644301" cy="4524315"/>
          </a:xfrm>
          <a:prstGeom prst="rect">
            <a:avLst/>
          </a:prstGeom>
          <a:noFill/>
          <a:ln>
            <a:solidFill>
              <a:schemeClr val="bg1"/>
            </a:solidFill>
          </a:ln>
          <a:effectLst>
            <a:glow rad="63500">
              <a:schemeClr val="accent1">
                <a:satMod val="175000"/>
                <a:alpha val="40000"/>
              </a:schemeClr>
            </a:glow>
          </a:effectLst>
        </p:spPr>
        <p:txBody>
          <a:bodyPr wrap="square">
            <a:spAutoFit/>
          </a:bodyPr>
          <a:lstStyle/>
          <a:p>
            <a:pPr marL="231140" algn="ctr">
              <a:lnSpc>
                <a:spcPct val="100000"/>
              </a:lnSpc>
              <a:spcBef>
                <a:spcPts val="5"/>
              </a:spcBef>
            </a:pPr>
            <a:r>
              <a:rPr lang="en-IN" sz="1600" b="1" dirty="0">
                <a:solidFill>
                  <a:schemeClr val="bg2"/>
                </a:solidFill>
                <a:latin typeface="Montserrat" panose="00000500000000000000" pitchFamily="2" charset="0"/>
              </a:rPr>
              <a:t>Future-Ready Strategy Recommendations</a:t>
            </a:r>
          </a:p>
          <a:p>
            <a:pPr marL="231140">
              <a:lnSpc>
                <a:spcPct val="100000"/>
              </a:lnSpc>
              <a:spcBef>
                <a:spcPts val="5"/>
              </a:spcBef>
            </a:pPr>
            <a:r>
              <a:rPr lang="en-US" sz="1600" b="1" dirty="0">
                <a:solidFill>
                  <a:schemeClr val="bg1"/>
                </a:solidFill>
              </a:rPr>
              <a:t>• </a:t>
            </a:r>
            <a:r>
              <a:rPr lang="en-US" sz="1600" b="1" dirty="0">
                <a:solidFill>
                  <a:schemeClr val="bg2">
                    <a:lumMod val="40000"/>
                    <a:lumOff val="60000"/>
                  </a:schemeClr>
                </a:solidFill>
              </a:rPr>
              <a:t>Prioritize All-Rounders in Auctions</a:t>
            </a:r>
            <a:r>
              <a:rPr lang="en-US" sz="1600" dirty="0">
                <a:solidFill>
                  <a:schemeClr val="bg2">
                    <a:lumMod val="40000"/>
                    <a:lumOff val="60000"/>
                  </a:schemeClr>
                </a:solidFill>
              </a:rPr>
              <a:t> </a:t>
            </a:r>
            <a:r>
              <a:rPr lang="en-US" sz="1600" dirty="0">
                <a:solidFill>
                  <a:schemeClr val="bg1"/>
                </a:solidFill>
              </a:rPr>
              <a:t>— Build squad flexibility with proven dual-role players.</a:t>
            </a:r>
          </a:p>
          <a:p>
            <a:pPr marL="231140">
              <a:lnSpc>
                <a:spcPct val="100000"/>
              </a:lnSpc>
              <a:spcBef>
                <a:spcPts val="5"/>
              </a:spcBef>
            </a:pPr>
            <a:br>
              <a:rPr lang="en-US" sz="1600" dirty="0">
                <a:solidFill>
                  <a:schemeClr val="bg1"/>
                </a:solidFill>
              </a:rPr>
            </a:br>
            <a:r>
              <a:rPr lang="en-US" sz="1600" b="1" dirty="0">
                <a:solidFill>
                  <a:schemeClr val="bg1"/>
                </a:solidFill>
              </a:rPr>
              <a:t>• </a:t>
            </a:r>
            <a:r>
              <a:rPr lang="en-US" sz="1600" b="1" dirty="0">
                <a:solidFill>
                  <a:schemeClr val="bg2">
                    <a:lumMod val="40000"/>
                    <a:lumOff val="60000"/>
                  </a:schemeClr>
                </a:solidFill>
              </a:rPr>
              <a:t>Strengthen Bowling Attack</a:t>
            </a:r>
            <a:r>
              <a:rPr lang="en-US" sz="1600" dirty="0">
                <a:solidFill>
                  <a:schemeClr val="bg2">
                    <a:lumMod val="40000"/>
                    <a:lumOff val="60000"/>
                  </a:schemeClr>
                </a:solidFill>
              </a:rPr>
              <a:t> </a:t>
            </a:r>
            <a:r>
              <a:rPr lang="en-US" sz="1600" dirty="0">
                <a:solidFill>
                  <a:schemeClr val="bg1"/>
                </a:solidFill>
              </a:rPr>
              <a:t>— Focus on wicket-taking ability and bowling consistency.</a:t>
            </a:r>
          </a:p>
          <a:p>
            <a:pPr marL="231140">
              <a:lnSpc>
                <a:spcPct val="100000"/>
              </a:lnSpc>
              <a:spcBef>
                <a:spcPts val="5"/>
              </a:spcBef>
            </a:pPr>
            <a:br>
              <a:rPr lang="en-US" sz="1600" dirty="0">
                <a:solidFill>
                  <a:schemeClr val="bg1"/>
                </a:solidFill>
              </a:rPr>
            </a:br>
            <a:r>
              <a:rPr lang="en-US" sz="1600" b="1" dirty="0">
                <a:solidFill>
                  <a:schemeClr val="bg1"/>
                </a:solidFill>
              </a:rPr>
              <a:t>• Adopt Venue-Based Squad Rotation</a:t>
            </a:r>
            <a:r>
              <a:rPr lang="en-US" sz="1600" dirty="0">
                <a:solidFill>
                  <a:schemeClr val="bg1"/>
                </a:solidFill>
              </a:rPr>
              <a:t> — Select combinations based on venue-specific trends.</a:t>
            </a:r>
          </a:p>
          <a:p>
            <a:pPr marL="231140">
              <a:lnSpc>
                <a:spcPct val="100000"/>
              </a:lnSpc>
              <a:spcBef>
                <a:spcPts val="5"/>
              </a:spcBef>
            </a:pPr>
            <a:br>
              <a:rPr lang="en-US" sz="1600" dirty="0">
                <a:solidFill>
                  <a:schemeClr val="bg1"/>
                </a:solidFill>
              </a:rPr>
            </a:br>
            <a:r>
              <a:rPr lang="en-US" sz="1600" b="1" dirty="0">
                <a:solidFill>
                  <a:schemeClr val="bg1"/>
                </a:solidFill>
              </a:rPr>
              <a:t>• </a:t>
            </a:r>
            <a:r>
              <a:rPr lang="en-US" sz="1600" b="1" dirty="0">
                <a:solidFill>
                  <a:schemeClr val="bg2">
                    <a:lumMod val="40000"/>
                    <a:lumOff val="60000"/>
                  </a:schemeClr>
                </a:solidFill>
              </a:rPr>
              <a:t>Enhance Tactical Decisions Using Data</a:t>
            </a:r>
            <a:r>
              <a:rPr lang="en-US" sz="1600" dirty="0">
                <a:solidFill>
                  <a:schemeClr val="bg2">
                    <a:lumMod val="40000"/>
                    <a:lumOff val="60000"/>
                  </a:schemeClr>
                </a:solidFill>
              </a:rPr>
              <a:t> </a:t>
            </a:r>
            <a:r>
              <a:rPr lang="en-US" sz="1600" dirty="0">
                <a:solidFill>
                  <a:schemeClr val="bg1"/>
                </a:solidFill>
              </a:rPr>
              <a:t>— Use toss, win % and historical outcomes.</a:t>
            </a:r>
          </a:p>
          <a:p>
            <a:pPr marL="231140">
              <a:lnSpc>
                <a:spcPct val="100000"/>
              </a:lnSpc>
              <a:spcBef>
                <a:spcPts val="5"/>
              </a:spcBef>
            </a:pPr>
            <a:br>
              <a:rPr lang="en-US" sz="1600" dirty="0">
                <a:solidFill>
                  <a:schemeClr val="bg1"/>
                </a:solidFill>
              </a:rPr>
            </a:br>
            <a:r>
              <a:rPr lang="en-US" sz="1600" b="1" dirty="0">
                <a:solidFill>
                  <a:schemeClr val="bg1"/>
                </a:solidFill>
              </a:rPr>
              <a:t>• </a:t>
            </a:r>
            <a:r>
              <a:rPr lang="en-US" sz="1600" b="1" dirty="0">
                <a:solidFill>
                  <a:schemeClr val="bg2">
                    <a:lumMod val="40000"/>
                    <a:lumOff val="60000"/>
                  </a:schemeClr>
                </a:solidFill>
              </a:rPr>
              <a:t>Integrate Advanced Analytics in Planning</a:t>
            </a:r>
            <a:r>
              <a:rPr lang="en-US" sz="1600" dirty="0">
                <a:solidFill>
                  <a:schemeClr val="bg2">
                    <a:lumMod val="40000"/>
                    <a:lumOff val="60000"/>
                  </a:schemeClr>
                </a:solidFill>
              </a:rPr>
              <a:t> </a:t>
            </a:r>
            <a:r>
              <a:rPr lang="en-US" sz="1600" dirty="0">
                <a:solidFill>
                  <a:schemeClr val="bg1"/>
                </a:solidFill>
              </a:rPr>
              <a:t>— Combine player, venue and season trends for smarter decisions.</a:t>
            </a:r>
            <a:endParaRPr lang="en-IN" sz="1600" b="1" dirty="0">
              <a:solidFill>
                <a:schemeClr val="bg1"/>
              </a:solidFill>
              <a:latin typeface="Montserrat"/>
              <a:cs typeface="Montserrat"/>
            </a:endParaRPr>
          </a:p>
        </p:txBody>
      </p:sp>
      <p:sp>
        <p:nvSpPr>
          <p:cNvPr id="11" name="TextBox 10">
            <a:extLst>
              <a:ext uri="{FF2B5EF4-FFF2-40B4-BE49-F238E27FC236}">
                <a16:creationId xmlns:a16="http://schemas.microsoft.com/office/drawing/2014/main" id="{C1C6096F-AA57-8D2A-D1DD-A3AA7489DA8E}"/>
              </a:ext>
            </a:extLst>
          </p:cNvPr>
          <p:cNvSpPr txBox="1"/>
          <p:nvPr/>
        </p:nvSpPr>
        <p:spPr>
          <a:xfrm>
            <a:off x="3047223" y="0"/>
            <a:ext cx="609755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Key Findings &amp; Conclusion</a:t>
            </a:r>
          </a:p>
        </p:txBody>
      </p:sp>
    </p:spTree>
    <p:extLst>
      <p:ext uri="{BB962C8B-B14F-4D97-AF65-F5344CB8AC3E}">
        <p14:creationId xmlns:p14="http://schemas.microsoft.com/office/powerpoint/2010/main" val="913483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accent3"/>
        </a:solidFill>
        <a:effectLst/>
      </p:bgPr>
    </p:bg>
    <p:spTree>
      <p:nvGrpSpPr>
        <p:cNvPr id="1" name="">
          <a:extLst>
            <a:ext uri="{FF2B5EF4-FFF2-40B4-BE49-F238E27FC236}">
              <a16:creationId xmlns:a16="http://schemas.microsoft.com/office/drawing/2014/main" id="{242CBAFE-7450-7ACC-9C45-CD350D8F332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BC1A1149-60A6-5485-BD37-D9703E78DA8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47572" y="5118458"/>
            <a:ext cx="3479081" cy="1739542"/>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BCF66718-C1F3-359C-B424-FB729EA1B387}"/>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22150" y="0"/>
            <a:ext cx="2269849" cy="129100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A45CE96-BB69-202F-68A9-460A3A05B0A1}"/>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656304"/>
            <a:ext cx="2112824" cy="1201696"/>
          </a:xfrm>
          <a:prstGeom prst="rect">
            <a:avLst/>
          </a:prstGeom>
        </p:spPr>
      </p:pic>
      <p:sp>
        <p:nvSpPr>
          <p:cNvPr id="3" name="TextBox 2">
            <a:extLst>
              <a:ext uri="{FF2B5EF4-FFF2-40B4-BE49-F238E27FC236}">
                <a16:creationId xmlns:a16="http://schemas.microsoft.com/office/drawing/2014/main" id="{1A262EE9-4F97-072E-306C-0A9AD4D3E814}"/>
              </a:ext>
            </a:extLst>
          </p:cNvPr>
          <p:cNvSpPr txBox="1"/>
          <p:nvPr/>
        </p:nvSpPr>
        <p:spPr>
          <a:xfrm>
            <a:off x="9401645" y="5988229"/>
            <a:ext cx="2236764" cy="584775"/>
          </a:xfrm>
          <a:prstGeom prst="rect">
            <a:avLst/>
          </a:prstGeom>
          <a:noFill/>
        </p:spPr>
        <p:txBody>
          <a:bodyPr wrap="square" rtlCol="0">
            <a:spAutoFit/>
            <a:scene3d>
              <a:camera prst="obliqueBottomRight"/>
              <a:lightRig rig="threePt" dir="t"/>
            </a:scene3d>
            <a:sp3d extrusionH="57150">
              <a:bevelT w="57150" h="38100" prst="artDeco"/>
            </a:sp3d>
          </a:bodyPr>
          <a:lstStyle/>
          <a:p>
            <a:pPr algn="ctr"/>
            <a:r>
              <a:rPr lang="en-US" sz="3200" dirty="0">
                <a:ln w="0"/>
                <a:solidFill>
                  <a:schemeClr val="bg2">
                    <a:lumMod val="40000"/>
                    <a:lumOff val="60000"/>
                  </a:schemeClr>
                </a:solidFill>
                <a:effectLst>
                  <a:glow rad="139700">
                    <a:schemeClr val="accent3">
                      <a:satMod val="175000"/>
                      <a:alpha val="40000"/>
                    </a:schemeClr>
                  </a:glow>
                </a:effectLst>
                <a:latin typeface="Bernard MT Condensed" panose="02050806060905020404" pitchFamily="18" charset="0"/>
              </a:rPr>
              <a:t>Thank You</a:t>
            </a:r>
            <a:endParaRPr lang="en-IN" sz="3200" dirty="0">
              <a:ln w="0"/>
              <a:solidFill>
                <a:schemeClr val="bg2">
                  <a:lumMod val="40000"/>
                  <a:lumOff val="60000"/>
                </a:schemeClr>
              </a:solidFill>
              <a:effectLst>
                <a:glow rad="139700">
                  <a:schemeClr val="accent3">
                    <a:satMod val="175000"/>
                    <a:alpha val="40000"/>
                  </a:schemeClr>
                </a:glow>
              </a:effectLst>
              <a:latin typeface="Bernard MT Condensed" panose="02050806060905020404" pitchFamily="18" charset="0"/>
            </a:endParaRPr>
          </a:p>
        </p:txBody>
      </p:sp>
      <p:sp>
        <p:nvSpPr>
          <p:cNvPr id="5" name="TextBox 4">
            <a:extLst>
              <a:ext uri="{FF2B5EF4-FFF2-40B4-BE49-F238E27FC236}">
                <a16:creationId xmlns:a16="http://schemas.microsoft.com/office/drawing/2014/main" id="{4A7AD259-4F57-079E-1FA5-E28FC4C536D2}"/>
              </a:ext>
            </a:extLst>
          </p:cNvPr>
          <p:cNvSpPr txBox="1"/>
          <p:nvPr/>
        </p:nvSpPr>
        <p:spPr>
          <a:xfrm>
            <a:off x="1603717" y="198370"/>
            <a:ext cx="7990449" cy="584775"/>
          </a:xfrm>
          <a:prstGeom prst="rect">
            <a:avLst/>
          </a:prstGeom>
          <a:noFill/>
        </p:spPr>
        <p:txBody>
          <a:bodyPr wrap="square" rtlCol="0">
            <a:spAutoFit/>
            <a:scene3d>
              <a:camera prst="obliqueBottomRight"/>
              <a:lightRig rig="threePt" dir="t"/>
            </a:scene3d>
            <a:sp3d extrusionH="57150">
              <a:bevelT w="57150" h="38100" prst="artDeco"/>
            </a:sp3d>
          </a:bodyPr>
          <a:lstStyle/>
          <a:p>
            <a:pPr algn="ctr"/>
            <a:r>
              <a:rPr lang="en-US" sz="3200" dirty="0">
                <a:solidFill>
                  <a:schemeClr val="bg2">
                    <a:lumMod val="40000"/>
                    <a:lumOff val="60000"/>
                  </a:schemeClr>
                </a:solidFill>
              </a:rPr>
              <a:t>Acknowledgements &amp; References</a:t>
            </a:r>
            <a:endParaRPr lang="en-IN" sz="3200" dirty="0">
              <a:ln w="0"/>
              <a:solidFill>
                <a:schemeClr val="bg2">
                  <a:lumMod val="40000"/>
                  <a:lumOff val="60000"/>
                </a:schemeClr>
              </a:solidFill>
              <a:effectLst>
                <a:glow rad="139700">
                  <a:schemeClr val="accent3">
                    <a:satMod val="175000"/>
                    <a:alpha val="40000"/>
                  </a:schemeClr>
                </a:glow>
              </a:effectLst>
              <a:latin typeface="Bernard MT Condensed" panose="02050806060905020404" pitchFamily="18" charset="0"/>
            </a:endParaRPr>
          </a:p>
        </p:txBody>
      </p:sp>
      <p:sp>
        <p:nvSpPr>
          <p:cNvPr id="8" name="TextBox 7">
            <a:extLst>
              <a:ext uri="{FF2B5EF4-FFF2-40B4-BE49-F238E27FC236}">
                <a16:creationId xmlns:a16="http://schemas.microsoft.com/office/drawing/2014/main" id="{8FECDF4D-7BE4-2C19-F713-9A7673BE24A6}"/>
              </a:ext>
            </a:extLst>
          </p:cNvPr>
          <p:cNvSpPr txBox="1"/>
          <p:nvPr/>
        </p:nvSpPr>
        <p:spPr>
          <a:xfrm>
            <a:off x="1934690" y="1055727"/>
            <a:ext cx="9460141" cy="4247317"/>
          </a:xfrm>
          <a:prstGeom prst="rect">
            <a:avLst/>
          </a:prstGeom>
          <a:noFill/>
          <a:ln>
            <a:solidFill>
              <a:schemeClr val="bg1"/>
            </a:solidFill>
          </a:ln>
          <a:effectLst>
            <a:glow rad="63500">
              <a:schemeClr val="accent1">
                <a:satMod val="175000"/>
                <a:alpha val="40000"/>
              </a:schemeClr>
            </a:glow>
          </a:effectLst>
        </p:spPr>
        <p:txBody>
          <a:bodyPr wrap="square">
            <a:spAutoFit/>
          </a:bodyPr>
          <a:lstStyle/>
          <a:p>
            <a:r>
              <a:rPr lang="en-US" b="1" dirty="0">
                <a:solidFill>
                  <a:schemeClr val="bg2">
                    <a:lumMod val="40000"/>
                    <a:lumOff val="60000"/>
                  </a:schemeClr>
                </a:solidFill>
              </a:rPr>
              <a:t>References</a:t>
            </a:r>
            <a:endParaRPr lang="en-US" dirty="0">
              <a:solidFill>
                <a:schemeClr val="bg2">
                  <a:lumMod val="40000"/>
                  <a:lumOff val="60000"/>
                </a:schemeClr>
              </a:solidFill>
            </a:endParaRPr>
          </a:p>
          <a:p>
            <a:pPr>
              <a:buFont typeface="Arial" panose="020B0604020202020204" pitchFamily="34" charset="0"/>
              <a:buChar char="•"/>
            </a:pPr>
            <a:r>
              <a:rPr lang="en-US" dirty="0">
                <a:solidFill>
                  <a:schemeClr val="bg1"/>
                </a:solidFill>
              </a:rPr>
              <a:t>IPL Dataset </a:t>
            </a:r>
          </a:p>
          <a:p>
            <a:pPr>
              <a:buFont typeface="Arial" panose="020B0604020202020204" pitchFamily="34" charset="0"/>
              <a:buChar char="•"/>
            </a:pPr>
            <a:r>
              <a:rPr lang="en-US" dirty="0">
                <a:solidFill>
                  <a:schemeClr val="bg1"/>
                </a:solidFill>
              </a:rPr>
              <a:t>SQL Database Schema </a:t>
            </a:r>
          </a:p>
          <a:p>
            <a:pPr>
              <a:buFont typeface="Arial" panose="020B0604020202020204" pitchFamily="34" charset="0"/>
              <a:buChar char="•"/>
            </a:pPr>
            <a:r>
              <a:rPr lang="en-US" dirty="0">
                <a:solidFill>
                  <a:schemeClr val="bg1"/>
                </a:solidFill>
              </a:rPr>
              <a:t>SQL Queries &amp; Joins </a:t>
            </a:r>
          </a:p>
          <a:p>
            <a:pPr>
              <a:buFont typeface="Arial" panose="020B0604020202020204" pitchFamily="34" charset="0"/>
              <a:buChar char="•"/>
            </a:pPr>
            <a:r>
              <a:rPr lang="en-US" dirty="0">
                <a:solidFill>
                  <a:schemeClr val="bg1"/>
                </a:solidFill>
              </a:rPr>
              <a:t>Aggregation &amp; Filtering Techniques </a:t>
            </a:r>
          </a:p>
          <a:p>
            <a:pPr>
              <a:buFont typeface="Arial" panose="020B0604020202020204" pitchFamily="34" charset="0"/>
              <a:buChar char="•"/>
            </a:pPr>
            <a:r>
              <a:rPr lang="en-US" dirty="0">
                <a:solidFill>
                  <a:schemeClr val="bg1"/>
                </a:solidFill>
              </a:rPr>
              <a:t>Player &amp; Match Performance Data </a:t>
            </a:r>
          </a:p>
          <a:p>
            <a:pPr>
              <a:buFont typeface="Arial" panose="020B0604020202020204" pitchFamily="34" charset="0"/>
              <a:buChar char="•"/>
            </a:pPr>
            <a:r>
              <a:rPr lang="en-US" dirty="0">
                <a:solidFill>
                  <a:schemeClr val="bg1"/>
                </a:solidFill>
              </a:rPr>
              <a:t>RCB Strategic Analysis </a:t>
            </a:r>
          </a:p>
          <a:p>
            <a:pPr>
              <a:buFont typeface="Arial" panose="020B0604020202020204" pitchFamily="34" charset="0"/>
              <a:buChar char="•"/>
            </a:pPr>
            <a:endParaRPr lang="en-US" dirty="0">
              <a:solidFill>
                <a:schemeClr val="bg2">
                  <a:lumMod val="40000"/>
                  <a:lumOff val="60000"/>
                </a:schemeClr>
              </a:solidFill>
            </a:endParaRPr>
          </a:p>
          <a:p>
            <a:r>
              <a:rPr lang="en-US" b="1" dirty="0">
                <a:solidFill>
                  <a:schemeClr val="bg2">
                    <a:lumMod val="40000"/>
                    <a:lumOff val="60000"/>
                  </a:schemeClr>
                </a:solidFill>
              </a:rPr>
              <a:t>Acknowledgements</a:t>
            </a:r>
            <a:br>
              <a:rPr lang="en-US" dirty="0">
                <a:solidFill>
                  <a:schemeClr val="bg2">
                    <a:lumMod val="40000"/>
                    <a:lumOff val="60000"/>
                  </a:schemeClr>
                </a:solidFill>
              </a:rPr>
            </a:br>
            <a:r>
              <a:rPr lang="en-US" dirty="0">
                <a:solidFill>
                  <a:schemeClr val="bg1"/>
                </a:solidFill>
              </a:rPr>
              <a:t>Special thanks to the project creators and mentors for providing the dataset, project framework, and analytical guidance used in this SQL project.</a:t>
            </a:r>
          </a:p>
          <a:p>
            <a:pPr marL="231140">
              <a:lnSpc>
                <a:spcPct val="100000"/>
              </a:lnSpc>
              <a:spcBef>
                <a:spcPts val="5"/>
              </a:spcBef>
            </a:pPr>
            <a:endParaRPr lang="en-IN" dirty="0">
              <a:solidFill>
                <a:schemeClr val="bg2">
                  <a:lumMod val="40000"/>
                  <a:lumOff val="60000"/>
                </a:schemeClr>
              </a:solidFill>
              <a:latin typeface="Montserrat"/>
              <a:cs typeface="Montserrat"/>
            </a:endParaRPr>
          </a:p>
          <a:p>
            <a:r>
              <a:rPr lang="en-US" b="1" dirty="0">
                <a:solidFill>
                  <a:schemeClr val="bg2">
                    <a:lumMod val="40000"/>
                    <a:lumOff val="60000"/>
                  </a:schemeClr>
                </a:solidFill>
              </a:rPr>
              <a:t>  </a:t>
            </a:r>
            <a:br>
              <a:rPr lang="en-US" dirty="0">
                <a:solidFill>
                  <a:schemeClr val="bg2">
                    <a:lumMod val="40000"/>
                    <a:lumOff val="60000"/>
                  </a:schemeClr>
                </a:solidFill>
              </a:rPr>
            </a:br>
            <a:endParaRPr lang="en-IN" dirty="0">
              <a:solidFill>
                <a:schemeClr val="bg2">
                  <a:lumMod val="40000"/>
                  <a:lumOff val="60000"/>
                </a:schemeClr>
              </a:solidFill>
              <a:latin typeface="Montserrat"/>
              <a:cs typeface="Montserrat"/>
            </a:endParaRPr>
          </a:p>
          <a:p>
            <a:pPr marL="278765">
              <a:lnSpc>
                <a:spcPct val="100000"/>
              </a:lnSpc>
              <a:spcBef>
                <a:spcPts val="5"/>
              </a:spcBef>
            </a:pPr>
            <a:endParaRPr lang="en-IN" dirty="0">
              <a:solidFill>
                <a:schemeClr val="bg2">
                  <a:lumMod val="40000"/>
                  <a:lumOff val="60000"/>
                </a:schemeClr>
              </a:solidFill>
              <a:latin typeface="Montserrat"/>
              <a:cs typeface="Montserrat"/>
            </a:endParaRPr>
          </a:p>
        </p:txBody>
      </p:sp>
    </p:spTree>
    <p:extLst>
      <p:ext uri="{BB962C8B-B14F-4D97-AF65-F5344CB8AC3E}">
        <p14:creationId xmlns:p14="http://schemas.microsoft.com/office/powerpoint/2010/main" val="3713402817"/>
      </p:ext>
    </p:extLst>
  </p:cSld>
  <p:clrMapOvr>
    <a:masterClrMapping/>
  </p:clrMapOvr>
</p:sld>
</file>

<file path=ppt/theme/theme1.xml><?xml version="1.0" encoding="utf-8"?>
<a:theme xmlns:a="http://schemas.openxmlformats.org/drawingml/2006/main" name="Office Theme">
  <a:themeElements>
    <a:clrScheme name="Custom 988">
      <a:dk1>
        <a:sysClr val="windowText" lastClr="000000"/>
      </a:dk1>
      <a:lt1>
        <a:sysClr val="window" lastClr="FFFFFF"/>
      </a:lt1>
      <a:dk2>
        <a:srgbClr val="2B0A0A"/>
      </a:dk2>
      <a:lt2>
        <a:srgbClr val="FDB913"/>
      </a:lt2>
      <a:accent1>
        <a:srgbClr val="D71A21"/>
      </a:accent1>
      <a:accent2>
        <a:srgbClr val="F5D273"/>
      </a:accent2>
      <a:accent3>
        <a:srgbClr val="1B0000"/>
      </a:accent3>
      <a:accent4>
        <a:srgbClr val="A61C24"/>
      </a:accent4>
      <a:accent5>
        <a:srgbClr val="E8871E"/>
      </a:accent5>
      <a:accent6>
        <a:srgbClr val="D9A441"/>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1328</TotalTime>
  <Words>2944</Words>
  <Application>Microsoft Office PowerPoint</Application>
  <PresentationFormat>Widescreen</PresentationFormat>
  <Paragraphs>285</Paragraphs>
  <Slides>22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Aptos</vt:lpstr>
      <vt:lpstr>Aptos Display</vt:lpstr>
      <vt:lpstr>Arial</vt:lpstr>
      <vt:lpstr>Arial,Sans-Serif</vt:lpstr>
      <vt:lpstr>Bernard MT Condensed</vt:lpstr>
      <vt:lpstr>Calibri</vt:lpstr>
      <vt:lpstr>DejaVu Sans Mono</vt:lpstr>
      <vt:lpstr>Montserrat</vt:lpstr>
      <vt:lpstr>Montserrat SemiBold</vt:lpstr>
      <vt:lpstr>Trade Gothic Next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Santhiya K</dc:creator>
  <cp:lastModifiedBy>Rajiv Kumar</cp:lastModifiedBy>
  <cp:revision>287</cp:revision>
  <dcterms:created xsi:type="dcterms:W3CDTF">2024-03-26T09:25:57Z</dcterms:created>
  <dcterms:modified xsi:type="dcterms:W3CDTF">2026-09-14T05:11:04Z</dcterms:modified>
</cp:coreProperties>
</file>